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 Business services. Ready for AI.
QUICK CUE
A .NET framework that runs business actions and supplies the information needed to continue.
PACE
Standard: 1:00. Full deck: 19 minutes planned. 15-minute route and extended discussion route in the presenter guide.
ON-SCREEN CUE
Open with the definition, not the technology diagram. Pause after 'the service remains the source of truth.'
SAY
Kaleido is a .NET framework for building business services as reusable queries and executable steps. It runs the business code, records process progress, and returns what can happen next.
A query might find a member. A step might capture that member against a request. Applications can use those capabilities through HTTP. A compatible AI agent can connect through MCP, the Model Context Protocol, and receive the product-specific tools and guidance from Kaleido.
The important point is that we are not putting a second business workflow inside the agent. The service remains the source of truth. I will show why I started the project, where that guidance comes from, and why it changes how teams can deliver conversational AI. This is a pre-1.0 project preview.
TRANSITION
First, why build this rather than explain the idea one more time?
PRESENTER REMINDER - NOT SPOKEN
AI-native describes the implemented agent-facing interface, not built-in model inference. This presentation does not certify release readiness.
SOURCE BASIS - REFERENCE ONLY
User presentation working notes, sections 01-03 and 06.
Kaleido v4 deck, slides 01-02.
cleanup-chatgpt.md, section 3: Processor, discovery/client and MCP paths; section 15: scope of AI-native functionality.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02 - Make the process visible. Stop rebuilding it.
QUICK CUE
A working example made the step concept tangible; a shared service model addresses duplicated process ownership.
PACE
Standard: 2:00. Full deck: 19 minutes planned. 15-minute route and extended discussion route in the presenter guide.
ON-SCREEN CUE
Start with the personal story on the left. Then trace the service-team and agent-team dependency on the right.
SAY
For several years, I had been trying to explain the step concept. I could describe it, but when the discussion moved into real scenarios, the explanation was not making it clear how the pieces would work together.
What I wanted people to see was the behavior: what an action needs, when it can run, what changes after it completes, and what happens when more information is needed. Kaleido began as a working implementation we could run, inspect, and discuss, rather than another abstract explanation.
There is also a delivery problem that this explicit model addresses. When the service owns one version of the process and the agent owns another, a business change becomes a two-team project. The product team can finish the service and still be waiting for the conversational-AI team to update its workflow, prompts, mappings, testing, and release.
The goal is not to remove the agent team or eliminate testing. It is to avoid making that team maintain a duplicate product workflow. The product team owns the business behavior and publishes the information needed to interact with it. The same investment can support a website, an integration, or an AI assistant without redefining the action for each one.
AI was not the original reason I started the project. It has become an important use of the same explicit model.
TRANSITION
To make that concrete, there are only three framework concepts we need for this overview.
PRESENTER REMINDER - NOT SPOKEN
The origin is a paraphrase of the user's account. Reduced coordination and duplication are architectural benefits to demonstrate, not measured savings or a claim about every existing system.
SOURCE BASIS - REFERENCE ONLY
User account of the project origin and service-team/agent-team dependency.
Kaleido_Presentation_Working_Notes.md, sections 02, 06, and Earlier framing to retain.
Kaleido v4 deck, slides 03-04.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03 - Information. Actions. Discovery.
QUICK CUE
Queryable reads; Process acts; Registry describes. A step is a business action, not a screen.
PACE
Standard: 2:00. Full deck: 19 minutes planned. 15-minute route and extended discussion route in the presenter guide.
ON-SCREEN CUE
Move across the three columns. Then point to Capture Member and the result-plus-next line.
SAY
Queryable is the information side: the sources and views the business exposes for search and retrieval. In our example, that is how we find a member and the associated enrollment information.
Process is the action side. Capture Member is a named action with inputs, process relationships, and a business handler that performs the work. Registry is the catalog describing those capabilities so consumers can find them and understand how to call them.
A step is not a screen, a button, or a chat turn. A web page may help a person select a member. An AI assistant may help the person find the same record in conversation. Those are different interactions around the same business action.
The action runs against current process progress. The result is more than success or failure: it also describes how work may continue. There may be a particular required step, several available choices, or specific questions that need answers.
That does not mean every step is interchangeable or that the model decides the order. Declared relationships, recorded progress, and direction from the business handler constrain what is permitted. The person supplies choices and facts; the application retains the business meaning. We are making that behavior explicit enough for different consumers to use.
TRANSITION
The natural question is: where do those descriptions and rules actually come from? Here is a real piece of the service.
PRESENTER REMINDER - NOT SPOKEN
The three continuation categories are explanatory, not every process state. A required step and an available choice are different. Registry discovery does not replace execution-time checks.
SOURCE BASIS - REFERENCE ONLY
Kaleido v4 deck, slides 02 and 05.
cleanup-chatgpt.md, section 3: Queryable, Processor, and discovery/client paths.
User-supplied CaptureMemberStep declaration.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04 - This is service code - not agent code.
QUICK CUE
The product team declares the interaction contract. The handler does the work; Kaleido runs the process around it.
PACE
Standard: 3:00. Full deck: 19 minutes planned. 15-minute route and extended discussion route in the presenter guide.
ON-SCREEN CUE
Highlight ProcessStep, AvailableAfter, Display, and Lookup in that order. Spend 60-90 seconds on the code, then trace the runtime strip.
SAY
This is an excerpt from CaptureMemberStep, not the full class. You do not need to read the C# syntax in detail. I want to point out four places where the product team describes the action.
ProcessStep names the business action and carries its description. AvailableAfter says member validation must have completed before this action can become available. That is an availability condition; it does not automatically execute the step or, by itself, make it the required next action.
Display provides a readable label and prompt for an input. In the full declaration there are also descriptions explaining what the inputs mean. Lookup identifies the business query and result field that supply a value. Here it points to member search rather than expecting a person or model to invent an internal member identifier.
That information is owned by the product service. Once the declarations are registered and the adapters configured, Kaleido publishes the model to consumers. The AI receives tool descriptions, input schemas, and guidance through MCP. It is not expected to read this source file, and we do not separately code a Capture Member workflow inside Devin.
The declaration is not the implementation. The associated business handler still performs the action and checks its business meaning. The framework loads the process state, checks the request and process rules, invokes the handler, saves progress, and returns the result and next work. That is the strip along the bottom.
So the important separation is: the product team describes and implements the business action; Kaleido supplies the shared execution and discovery mechanisms. The same declaration supports a callable action without a second, agent-specific definition of that action.
TRANSITION
Now follow the information from that service definition to a generic AI agent.
PRESENTER REMINDER - NOT SPOKEN
Selected source fragments are reflowed; ellipses mark omitted code. This is not a compilable complete class. Display prompts are input metadata, not runtime InformationRequest questions. Lookup descriptions do not prove same-row or previously-validated-value checks; the handler owns business validation. The runtime strip is a conceptual normal-completion path, not a guarantee that arbitrary business effects and framework state share a transaction. The handler was not supplied here.
SOURCE BASIS - REFERENCE ONLY
User-supplied CaptureMemberStep, preserved in Kaleido_Presentation_Working_Notes.md, section 07.
User correction: do NOT show the whole class; highlight selected attributes for IT management.
cleanup-chatgpt.md, section 3: Processor and MCP paths; section 9: retry/completion limitations.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 Connect the agent. Kaleido supplies the guidance.
QUICK CUE
No product-specific workflow in the agent. Tools and continuation details arrive through MCP, including on demand.
PACE
Standard: 2:30. Full deck: 19 minutes planned. 15-minute route and extended discussion route in the presenter guide.
ON-SCREEN CUE
Trace the outbound calls across the diagram, then the return arrows. Use the three short callouts as the meaning of that loop.
SAY
The agent needs the generic ability to connect to MCP and use tools. It does not need a separately implemented model of this product's workflow before it connects.
The adapter derives the agent-facing tools and input schemas from the caller-visible registry. The product supplies the descriptions and lookup relationships. The runtime supplies process state, outcomes, and continuation information. The model uses that information as it interacts with the person.
The information does not all have to arrive in one enormous tool list. In the FrontDoor mode shown in my Devin session, the agent begins with entry points and generic helpers. Later responses can describe additional capabilities when the process needs them, including what arguments they accept and how to invoke them.
Follow the arrows. The agent calls a query or step through the adapter. The business service executes the request and returns the result and current next work. The adapter makes that usable to the agent, including required actions, available choices, lookup details, or questions to ask the person. The consumer continues from the returned guidance.
The agent still interprets the person's intent and uses its general tool-use ability. What we avoid is teaching and maintaining a second product-specific step sequence inside it. And the process state lives in the service, not only in the chat transcript.
That is what AI-native means in this presentation: an interface that supplies the operational information an agent needs to use the business, not a language model embedded inside the framework.
TRANSITION
Once that workflow no longer has to be duplicated in the agent, the delivery model changes too.
PRESENTER REMINDER - NOT SPOKEN
The agent must support the relevant MCP/tool behavior and consume refreshed discovery and current responses. Instructions are not proof of correct model behavior or consent. FrontDoor details are evidenced by the supplied October 15 session, not independently re-executed here. The diagram intentionally omits credential topology and packet-level details.
SOURCE BASIS - REFERENCE ONLY
Kaleido_Presentation_Working_Notes.md, sections 01 and 05.
cleanup-chatgpt.md, section 3: discovery/client and MCP; section 15.
Kaleido_Devin_PriorAuth_Session_2026-10-15.md, sections 0, 2, and 3.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06 - Change the service. Add products, not agent integrations.
QUICK CUE
Remove duplicate workflow ownership, not the product implementation or the need to validate it.
PACE
Standard: 2:30. Full deck: 19 minutes planned. 15-minute route and extended discussion route in the presenter guide.
ON-SCREEN CUE
Start with an existing-process change. Then use Product 1 today and Product 2 next month to explain expansion through the same connection.
SAY
There are two different benefits here. The first is changing a product we already expose. Suppose the service needs an additional question or a different required next step. When that change is expressed through the supported contract, the updated service supplies the new question or continuation. We do not need a second implementation change just to teach the agent the new workflow.
That removes a particular delivery dependency. The service team is not automatically waiting for the team that owns conversational AI to modify and release its matching process definition. The service change still needs testing, but duplicated agent development is not inherently part of the work.
The second benefit is adding a product. Imagine a company with five products that starts by bringing only Product 1 onto conversational AI. Next month, it wants to add Product 2. The team builds the new Kaleido service, configures the router and MCP adapter to reach and expose it, configures access, and validates the integration.
The existing agent receives the new capabilities through discovery. It does not require a newly authored Product 2 workflow, tool mapping, or prompt sequence. The same agent and MCP connection now have access to another product, within the contracts the integration already supports. The other three products can follow as their services are ready.
This is not zero work. The product team still builds the product, and deployment and access have owners. What disappears is the need to reproduce that product's workflow inside the conversational agent. The agent finds out through discovery, not through a development ticket.
TRANSITION
Here is a session I ran that makes the runtime-guidance mechanism visible.
PRESENTER REMINDER - NOT SPOKEN
The five-product rollout is the user's illustrative deployment scenario, not a deployment experiment performed by this presentation. Independence applies within supported contracts and assumes registry/tool refresh; new client features, access changes, or hard-coded consumers can require coordination. No matched agent workflow release does not mean no testing, no configuration, or instantaneous discovery.
SOURCE BASIS - REFERENCE ONLY
User's service-change and five-product deployment examples.
Kaleido_Presentation_Working_Notes.md, sections 02-03 and qualifications.
cleanup-chatgpt.md, section 3: downstream registry aggregation, revalidation, and generated MCP tools.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07 - The next step arrived in the response.
QUICK CUE
Capture Member was not initially listed. The previous response supplied its details, and Devin used call_tool to run it.
PACE
Standard: 3:00. Full deck: 19 minutes planned. 15-minute route and extended discussion route in the presenter guide.
ON-SCREEN CUE
Use the three beats from left to right. Pause on 'not on the starting list.' End on submission plus the returned history status, not on clinical details.
SAY
This is based on the PriorAuth session I ran with Devin on October 15. The slide summarizes the transcript and leaves out the member, provider, and process identifiers. We are not replaying a live demo here.
The starting tool list had eleven tools: entry points, searches, and helpers. It did not enumerate all the downstream actions. In particular, Capture Member was not on that starting list.
After the agent called Validate Member, the response named Capture Member as the required next step. It supplied the input details, lookup information, process context, and how to run the action through call_tool. Devin then used that information to invoke the action, and the result was completed.
That is the same named business action whose declaration we just examined. The code example shows where the service-owned descriptions begin; the session shows an agent receiving the instructions needed to continue.
The interaction went on through the Radiology handoff, provider selection, and service-supplied question sets. Before one provider action, the agent explained that the choice would close earlier member and service changes. That is more informative than just returning the name of another function.
Across the supplied session, six unlisted capabilities were invoked through call_tool. After review and the user's attestation answer, the service reported submission. A final history query returned a submitted record. The outcome was submitted for review, not approved.
The takeaway is not merely that an assistant had a convincing conversation. It used details supplied in the preceding service responses to perform the work and obtain a recorded outcome. That is the architectural point I want you to see.
TRANSITION
The AI interaction is useful, but the business service still owns execution and authority.
PRESENTER REMINDER - NOT SPOKEN
User-reported session, not independently replayed. Three-beat panel is a labeled paraphrase, not a verbatim raw response or UI screenshot. No claims of a zero-prior-context experiment, universal agent behavior, resolved release findings, or a tested new-product deployment. Unlisted does not mean unauthorized. Source contains sensitive identifiers; none are reproduced in the deck or guide. The reported six-of-six query denominator is not used because the condensed transcript visibly contains five query calls.
SOURCE BASIS - REFERENCE ONLY
Kaleido_Devin_PriorAuth_Session_2026-10-15.md: section 0 for 11 tools; section 2 for the unlisted Capture Member details and successful call; sections 3-7 for subsequent capabilities; section 8 for submission and history; Summary for six call_tool capabilities.
Kaleido_Presentation_Working_Notes.md, sections 04-05 and evidence qualifications.
User-supplied CaptureMemberStep declaration: same named action, not a verified build-to-trace match.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08 - Different interfaces. The same business execution.
QUICK CUE
Applications and AI use the same capabilities; the service and host retain business authority.
PACE
Standard: 2:00. Full deck: 19 minutes planned. 15-minute route and extended discussion route in the presenter guide.
ON-SCREEN CUE
Trace the two consumer lanes into the service. Then use the responsibility panel to distinguish guidance from enforcement.
SAY
The shared business model is useful beyond the AI channel. Applications can call it through HTTP; the AI agent uses the MCP adapter. The action and its implementation remain in the business service.
That means an existing workflow or case-management platform can keep assignments, human tasks, and service-level management. Web, voice, and assisted channels keep their presentation responsibilities. External standards and partner adapters keep their exchange boundaries. These are places the architecture can fit, not a claim that Kaleido ships every connector.
The process has its own identity and current state. With the appropriate durable storage and access controls, a later authorized consumer can read that state rather than reconstructing the business process from a chat transcript. That is an architectural pattern, not proof that every channel transfer has been tested.
The authority boundary is equally important. The host establishes identity and access. The application owns business validation, record-level access, approvals, and the meaning of the action. Tool descriptions and instructions help the interaction; they do not independently prove permission or human consent.
This remains a pre-1.0 preview. The earlier reviews identify hardening work around credentials, retries and completion, and real-client behavior. We are not treating the successful session as closure of those concerns. The story is an implemented framework and a reusable interface, with production responsibilities kept explicit.
TRANSITION
That brings the original idea and the AI delivery benefit together.
PRESENTER REMINDER - NOT SPOKEN
No delivered Pega, voice, or standards connector or certification is claimed. ProcessId is not automatic ownership or case-level authorization. Keep production-readiness details available in Q&amp;A: the earlier review findings need validation against the candidate code; this deck does not establish their current closure.
SOURCE BASIS - REFERENCE ONLY
Kaleido v4 deck, slides 08 and 11-13.
cleanup-chatgpt.md, sections 3, 5, 15, and OQ-07.
cleanup-devin.md, KAL-REL-001 and KAL-SEC-001.
User working notes: supported-contract scope and no-testing misconception.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09 - Connect once. Let the business evolve.
QUICK CUE
Connect without a bespoke workflow. Evolve without duplicating the change. Add products without another agent project.
PACE
Standard: 1:00. Full deck: 19 minutes planned. 15-minute route and extended discussion route in the presenter guide.
ON-SCREEN CUE
Read the three takeaways slowly. Finish, pause, and invite questions rather than adding more architecture detail.
SAY
I started Kaleido to make the step concept something people could see working. The same explicit business model now gives a compatible AI agent the tools and guidance it needs without a second product workflow being maintained inside the agent.
There are three things I want you to remember. Connect without teaching the agent your product's step sequence. Evolve the workflow without duplicating the same change in an agent implementation. Add products through the existing router and MCP integration rather than creating another agent-development project.
The product service remains the source of truth for the business action, current process state, and how the work may continue. The interface can change, and the product portfolio can grow, without moving that ownership into the conversation.
TRANSITION
Pause, then invite questions about one concrete product process or adoption path.
PRESENTER REMINDER - NOT SPOKEN
These are supported-contract positioning claims, not universal compatibility, zero-testing, instantaneous refresh, or measured productivity claims. Retain the pre-1.0 status.
SOURCE BASIS - REFERENCE ONLY
Kaleido_Presentation_Working_Notes.md, central message and sections 01-03, 06-07.
Founder account and five-product example in the conversation.
DECK STATUS
Pre-1.0 preview. No code or live agent run was executed to produce this presentation. This deck distinguishes implementation descriptions, user-reported session evidence, and intended delivery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1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Shape 1"/>
          <p:cNvSpPr/>
          <p:nvPr/>
        </p:nvSpPr>
        <p:spPr>
          <a:xfrm>
            <a:off x="7900416" y="32004"/>
            <a:ext cx="4288536" cy="6428232"/>
          </a:xfrm>
          <a:prstGeom prst="rect">
            <a:avLst/>
          </a:prstGeom>
          <a:solidFill>
            <a:srgbClr val="121634"/>
          </a:solidFill>
          <a:ln w="7620">
            <a:solidFill>
              <a:srgbClr val="121634"/>
            </a:solidFill>
            <a:prstDash val="solid"/>
          </a:ln>
        </p:spPr>
      </p:sp>
      <p:sp>
        <p:nvSpPr>
          <p:cNvPr id="4" name="Shape 2"/>
          <p:cNvSpPr/>
          <p:nvPr/>
        </p:nvSpPr>
        <p:spPr>
          <a:xfrm>
            <a:off x="8001000" y="1463040"/>
            <a:ext cx="3694176" cy="3694176"/>
          </a:xfrm>
          <a:prstGeom prst="ellipse">
            <a:avLst/>
          </a:prstGeom>
          <a:solidFill>
            <a:srgbClr val="121634">
              <a:alpha val="0"/>
            </a:srgbClr>
          </a:solidFill>
          <a:ln w="12700">
            <a:solidFill>
              <a:srgbClr val="302A63"/>
            </a:solidFill>
            <a:prstDash val="solid"/>
          </a:ln>
        </p:spPr>
      </p:sp>
      <p:sp>
        <p:nvSpPr>
          <p:cNvPr id="5" name="Shape 3"/>
          <p:cNvSpPr/>
          <p:nvPr/>
        </p:nvSpPr>
        <p:spPr>
          <a:xfrm>
            <a:off x="8215884" y="1677924"/>
            <a:ext cx="3264408" cy="3264408"/>
          </a:xfrm>
          <a:prstGeom prst="ellipse">
            <a:avLst/>
          </a:prstGeom>
          <a:solidFill>
            <a:srgbClr val="121634">
              <a:alpha val="0"/>
            </a:srgbClr>
          </a:solidFill>
          <a:ln w="12700">
            <a:solidFill>
              <a:srgbClr val="302A63"/>
            </a:solidFill>
            <a:prstDash val="solid"/>
          </a:ln>
        </p:spPr>
      </p:sp>
      <p:sp>
        <p:nvSpPr>
          <p:cNvPr id="6" name="Shape 4"/>
          <p:cNvSpPr/>
          <p:nvPr/>
        </p:nvSpPr>
        <p:spPr>
          <a:xfrm>
            <a:off x="8426196" y="1888236"/>
            <a:ext cx="2843784" cy="2843784"/>
          </a:xfrm>
          <a:prstGeom prst="ellipse">
            <a:avLst/>
          </a:prstGeom>
          <a:solidFill>
            <a:srgbClr val="121634">
              <a:alpha val="0"/>
            </a:srgbClr>
          </a:solidFill>
          <a:ln w="12700">
            <a:solidFill>
              <a:srgbClr val="302A63"/>
            </a:solidFill>
            <a:prstDash val="solid"/>
          </a:ln>
        </p:spPr>
      </p:sp>
      <p:pic>
        <p:nvPicPr>
          <p:cNvPr id="7" name="Image 0" descr="/mnt/data/kaleido_v5_work/assets/s1_5.png">    </p:cNvPr>
          <p:cNvPicPr>
            <a:picLocks noChangeAspect="1"/>
          </p:cNvPicPr>
          <p:nvPr/>
        </p:nvPicPr>
        <p:blipFill>
          <a:blip r:embed="rId1"/>
          <a:stretch>
            <a:fillRect/>
          </a:stretch>
        </p:blipFill>
        <p:spPr>
          <a:xfrm>
            <a:off x="8357616" y="1728216"/>
            <a:ext cx="2971800" cy="2971800"/>
          </a:xfrm>
          <a:prstGeom prst="rect">
            <a:avLst/>
          </a:prstGeom>
        </p:spPr>
      </p:pic>
      <p:pic>
        <p:nvPicPr>
          <p:cNvPr id="8" name="Image 1" descr="/mnt/data/kaleido_v5_work/assets/s1_5.png">    </p:cNvPr>
          <p:cNvPicPr>
            <a:picLocks noChangeAspect="1"/>
          </p:cNvPicPr>
          <p:nvPr/>
        </p:nvPicPr>
        <p:blipFill>
          <a:blip r:embed="rId2"/>
          <a:stretch>
            <a:fillRect/>
          </a:stretch>
        </p:blipFill>
        <p:spPr>
          <a:xfrm>
            <a:off x="603504" y="448056"/>
            <a:ext cx="402336" cy="402336"/>
          </a:xfrm>
          <a:prstGeom prst="rect">
            <a:avLst/>
          </a:prstGeom>
        </p:spPr>
      </p:pic>
      <p:sp>
        <p:nvSpPr>
          <p:cNvPr id="9" name="Text 5"/>
          <p:cNvSpPr/>
          <p:nvPr/>
        </p:nvSpPr>
        <p:spPr>
          <a:xfrm>
            <a:off x="1115568" y="484632"/>
            <a:ext cx="3657600" cy="356616"/>
          </a:xfrm>
          <a:prstGeom prst="rect">
            <a:avLst/>
          </a:prstGeom>
          <a:noFill/>
          <a:ln/>
        </p:spPr>
        <p:txBody>
          <a:bodyPr wrap="square" lIns="0" tIns="0" rIns="0" bIns="0" rtlCol="0" anchor="ctr">
            <a:spAutoFit/>
          </a:bodyPr>
          <a:lstStyle/>
          <a:p>
            <a:pPr indent="0" marL="0">
              <a:buNone/>
            </a:pPr>
            <a:r>
              <a:rPr lang="en-US" sz="2400" b="1" dirty="0">
                <a:solidFill>
                  <a:srgbClr val="FFFFFF"/>
                </a:solidFill>
                <a:latin typeface="Inter" pitchFamily="34" charset="0"/>
                <a:ea typeface="Inter" pitchFamily="34" charset="-122"/>
                <a:cs typeface="Inter" pitchFamily="34" charset="-120"/>
              </a:rPr>
              <a:t>Kaleido</a:t>
            </a:r>
            <a:endParaRPr lang="en-US" sz="2400" dirty="0"/>
          </a:p>
        </p:txBody>
      </p:sp>
      <p:sp>
        <p:nvSpPr>
          <p:cNvPr id="10" name="Text 6"/>
          <p:cNvSpPr/>
          <p:nvPr/>
        </p:nvSpPr>
        <p:spPr>
          <a:xfrm>
            <a:off x="621792" y="1298448"/>
            <a:ext cx="713232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.NET QUERY + PROCESS FRAMEWORK</a:t>
            </a:r>
            <a:endParaRPr lang="en-US" sz="1050" dirty="0"/>
          </a:p>
        </p:txBody>
      </p:sp>
      <p:sp>
        <p:nvSpPr>
          <p:cNvPr id="11" name="Text 7"/>
          <p:cNvSpPr/>
          <p:nvPr/>
        </p:nvSpPr>
        <p:spPr>
          <a:xfrm>
            <a:off x="594360" y="1746504"/>
            <a:ext cx="7168896" cy="1426464"/>
          </a:xfrm>
          <a:prstGeom prst="rect">
            <a:avLst/>
          </a:prstGeom>
          <a:noFill/>
          <a:ln/>
        </p:spPr>
        <p:txBody>
          <a:bodyPr wrap="square" lIns="0" tIns="0" rIns="0" bIns="0" rtlCol="0" anchor="t">
            <a:spAutoFit/>
          </a:bodyPr>
          <a:lstStyle/>
          <a:p>
            <a:pPr indent="0" marL="0">
              <a:buNone/>
            </a:pPr>
            <a:r>
              <a:rPr lang="en-US" sz="4600" b="1" dirty="0">
                <a:solidFill>
                  <a:srgbClr val="FFFFFF"/>
                </a:solidFill>
                <a:latin typeface="Inter" pitchFamily="34" charset="0"/>
                <a:ea typeface="Inter" pitchFamily="34" charset="-122"/>
                <a:cs typeface="Inter" pitchFamily="34" charset="-120"/>
              </a:rPr>
              <a:t>Business services.</a:t>
            </a:r>
            <a:endParaRPr lang="en-US" sz="4600" dirty="0"/>
          </a:p>
          <a:p>
            <a:pPr indent="0" marL="0">
              <a:buNone/>
            </a:pPr>
            <a:r>
              <a:rPr lang="en-US" sz="4600" b="1" dirty="0">
                <a:solidFill>
                  <a:srgbClr val="FFFFFF"/>
                </a:solidFill>
                <a:latin typeface="Inter" pitchFamily="34" charset="0"/>
                <a:ea typeface="Inter" pitchFamily="34" charset="-122"/>
                <a:cs typeface="Inter" pitchFamily="34" charset="-120"/>
              </a:rPr>
              <a:t>Ready for AI.</a:t>
            </a:r>
            <a:endParaRPr lang="en-US" sz="4600" dirty="0"/>
          </a:p>
        </p:txBody>
      </p:sp>
      <p:sp>
        <p:nvSpPr>
          <p:cNvPr id="12" name="Text 8"/>
          <p:cNvSpPr/>
          <p:nvPr/>
        </p:nvSpPr>
        <p:spPr>
          <a:xfrm>
            <a:off x="630936" y="3547872"/>
            <a:ext cx="6675120" cy="841248"/>
          </a:xfrm>
          <a:prstGeom prst="rect">
            <a:avLst/>
          </a:prstGeom>
          <a:noFill/>
          <a:ln/>
        </p:spPr>
        <p:txBody>
          <a:bodyPr wrap="square" lIns="0" tIns="0" rIns="0" bIns="0" rtlCol="0" anchor="t">
            <a:spAutoFit/>
          </a:bodyPr>
          <a:lstStyle/>
          <a:p>
            <a:pPr indent="0" marL="0">
              <a:buNone/>
            </a:pPr>
            <a:r>
              <a:rPr lang="en-US" sz="2500" dirty="0">
                <a:solidFill>
                  <a:srgbClr val="FFFFFF"/>
                </a:solidFill>
                <a:latin typeface="Inter" pitchFamily="34" charset="0"/>
                <a:ea typeface="Inter" pitchFamily="34" charset="-122"/>
                <a:cs typeface="Inter" pitchFamily="34" charset="-120"/>
              </a:rPr>
              <a:t>Build reusable business queries</a:t>
            </a:r>
            <a:endParaRPr lang="en-US" sz="2500" dirty="0"/>
          </a:p>
          <a:p>
            <a:pPr indent="0" marL="0">
              <a:buNone/>
            </a:pPr>
            <a:r>
              <a:rPr lang="en-US" sz="2500" dirty="0">
                <a:solidFill>
                  <a:srgbClr val="FFFFFF"/>
                </a:solidFill>
                <a:latin typeface="Inter" pitchFamily="34" charset="0"/>
                <a:ea typeface="Inter" pitchFamily="34" charset="-122"/>
                <a:cs typeface="Inter" pitchFamily="34" charset="-120"/>
              </a:rPr>
              <a:t>and executable process steps.</a:t>
            </a:r>
            <a:endParaRPr lang="en-US" sz="2500" dirty="0"/>
          </a:p>
        </p:txBody>
      </p:sp>
      <p:sp>
        <p:nvSpPr>
          <p:cNvPr id="13" name="Text 9"/>
          <p:cNvSpPr/>
          <p:nvPr/>
        </p:nvSpPr>
        <p:spPr>
          <a:xfrm>
            <a:off x="640080" y="4681728"/>
            <a:ext cx="6583680" cy="667512"/>
          </a:xfrm>
          <a:prstGeom prst="rect">
            <a:avLst/>
          </a:prstGeom>
          <a:noFill/>
          <a:ln/>
        </p:spPr>
        <p:txBody>
          <a:bodyPr wrap="square" lIns="0" tIns="0" rIns="0" bIns="0" rtlCol="0" anchor="t">
            <a:spAutoFit/>
          </a:bodyPr>
          <a:lstStyle/>
          <a:p>
            <a:pPr indent="0" marL="0">
              <a:buNone/>
            </a:pPr>
            <a:r>
              <a:rPr lang="en-US" sz="2000" dirty="0">
                <a:solidFill>
                  <a:srgbClr val="B7C2D8"/>
                </a:solidFill>
                <a:latin typeface="Inter" pitchFamily="34" charset="0"/>
                <a:ea typeface="Inter" pitchFamily="34" charset="-122"/>
                <a:cs typeface="Inter" pitchFamily="34" charset="-120"/>
              </a:rPr>
              <a:t>Run the business code. Record progress.</a:t>
            </a:r>
            <a:endParaRPr lang="en-US" sz="2000" dirty="0"/>
          </a:p>
          <a:p>
            <a:pPr indent="0" marL="0">
              <a:buNone/>
            </a:pPr>
            <a:r>
              <a:rPr lang="en-US" sz="2000" dirty="0">
                <a:solidFill>
                  <a:srgbClr val="B7C2D8"/>
                </a:solidFill>
                <a:latin typeface="Inter" pitchFamily="34" charset="0"/>
                <a:ea typeface="Inter" pitchFamily="34" charset="-122"/>
                <a:cs typeface="Inter" pitchFamily="34" charset="-120"/>
              </a:rPr>
              <a:t>Return what can happen next.</a:t>
            </a:r>
            <a:endParaRPr lang="en-US" sz="2000" dirty="0"/>
          </a:p>
        </p:txBody>
      </p:sp>
      <p:sp>
        <p:nvSpPr>
          <p:cNvPr id="14" name="Shape 10"/>
          <p:cNvSpPr/>
          <p:nvPr/>
        </p:nvSpPr>
        <p:spPr>
          <a:xfrm>
            <a:off x="594360" y="5806440"/>
            <a:ext cx="11000232" cy="420624"/>
          </a:xfrm>
          <a:prstGeom prst="rect">
            <a:avLst/>
          </a:prstGeom>
          <a:solidFill>
            <a:srgbClr val="17223D"/>
          </a:solidFill>
          <a:ln w="7620">
            <a:solidFill>
              <a:srgbClr val="17223D"/>
            </a:solidFill>
            <a:prstDash val="solid"/>
          </a:ln>
        </p:spPr>
      </p:sp>
      <p:sp>
        <p:nvSpPr>
          <p:cNvPr id="15" name="Text 11"/>
          <p:cNvSpPr/>
          <p:nvPr/>
        </p:nvSpPr>
        <p:spPr>
          <a:xfrm>
            <a:off x="768096" y="5888736"/>
            <a:ext cx="10652760" cy="219456"/>
          </a:xfrm>
          <a:prstGeom prst="rect">
            <a:avLst/>
          </a:prstGeom>
          <a:noFill/>
          <a:ln/>
        </p:spPr>
        <p:txBody>
          <a:bodyPr wrap="square" lIns="0" tIns="0" rIns="0" bIns="0" rtlCol="0" anchor="ctr">
            <a:spAutoFit/>
          </a:bodyPr>
          <a:lstStyle/>
          <a:p>
            <a:pPr indent="0" marL="0">
              <a:buNone/>
            </a:pPr>
            <a:r>
              <a:rPr lang="en-US" sz="1560" dirty="0">
                <a:solidFill>
                  <a:srgbClr val="FFFFFF"/>
                </a:solidFill>
                <a:latin typeface="Inter" pitchFamily="34" charset="0"/>
                <a:ea typeface="Inter" pitchFamily="34" charset="-122"/>
                <a:cs typeface="Inter" pitchFamily="34" charset="-120"/>
              </a:rPr>
              <a:t>HTTP for applications.  MCP for AI agents.  One service-owned business model.</a:t>
            </a:r>
            <a:endParaRPr lang="en-US" sz="1560" dirty="0"/>
          </a:p>
        </p:txBody>
      </p:sp>
      <p:sp>
        <p:nvSpPr>
          <p:cNvPr id="16" name="Shape 12"/>
          <p:cNvSpPr/>
          <p:nvPr/>
        </p:nvSpPr>
        <p:spPr>
          <a:xfrm>
            <a:off x="594360" y="6483096"/>
            <a:ext cx="11000232" cy="0"/>
          </a:xfrm>
          <a:prstGeom prst="line">
            <a:avLst/>
          </a:prstGeom>
          <a:noFill/>
          <a:ln w="6985">
            <a:solidFill>
              <a:srgbClr val="2D3652"/>
            </a:solidFill>
            <a:prstDash val="solid"/>
            <a:headEnd type="none"/>
            <a:tailEnd type="none"/>
          </a:ln>
        </p:spPr>
      </p:sp>
      <p:pic>
        <p:nvPicPr>
          <p:cNvPr id="17" name="Image 2" descr="/mnt/data/kaleido_v5_work/assets/s1_5.png">    </p:cNvPr>
          <p:cNvPicPr>
            <a:picLocks noChangeAspect="1"/>
          </p:cNvPicPr>
          <p:nvPr/>
        </p:nvPicPr>
        <p:blipFill>
          <a:blip r:embed="rId3"/>
          <a:stretch>
            <a:fillRect/>
          </a:stretch>
        </p:blipFill>
        <p:spPr>
          <a:xfrm>
            <a:off x="594360" y="6583680"/>
            <a:ext cx="164592" cy="164592"/>
          </a:xfrm>
          <a:prstGeom prst="rect">
            <a:avLst/>
          </a:prstGeom>
        </p:spPr>
      </p:pic>
      <p:sp>
        <p:nvSpPr>
          <p:cNvPr id="18" name="Text 13"/>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B7C2D8"/>
                </a:solidFill>
                <a:latin typeface="Inter" pitchFamily="34" charset="0"/>
                <a:ea typeface="Inter" pitchFamily="34" charset="-122"/>
                <a:cs typeface="Inter" pitchFamily="34" charset="-120"/>
              </a:rPr>
              <a:t>Kaleido  |  Executive overview</a:t>
            </a:r>
            <a:endParaRPr lang="en-US" sz="830" dirty="0"/>
          </a:p>
        </p:txBody>
      </p:sp>
      <p:sp>
        <p:nvSpPr>
          <p:cNvPr id="19" name="Text 14"/>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B7C2D8"/>
                </a:solidFill>
                <a:latin typeface="Inter" pitchFamily="34" charset="0"/>
                <a:ea typeface="Inter" pitchFamily="34" charset="-122"/>
                <a:cs typeface="Inter" pitchFamily="34" charset="-120"/>
              </a:rPr>
              <a:t>PRE-1.0 PROJECT PREVIEW  |  01</a:t>
            </a:r>
            <a:endParaRPr lang="en-US" sz="8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WHY THIS PROJECT</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500" b="1" dirty="0">
                <a:solidFill>
                  <a:srgbClr val="151B30"/>
                </a:solidFill>
                <a:latin typeface="Inter" pitchFamily="34" charset="0"/>
                <a:ea typeface="Inter" pitchFamily="34" charset="-122"/>
                <a:cs typeface="Inter" pitchFamily="34" charset="-120"/>
              </a:rPr>
              <a:t>Make the process visible.</a:t>
            </a:r>
            <a:endParaRPr lang="en-US" sz="3500" dirty="0"/>
          </a:p>
          <a:p>
            <a:pPr indent="0" marL="0">
              <a:buNone/>
            </a:pPr>
            <a:r>
              <a:rPr lang="en-US" sz="3500" b="1" dirty="0">
                <a:solidFill>
                  <a:srgbClr val="151B30"/>
                </a:solidFill>
                <a:latin typeface="Inter" pitchFamily="34" charset="0"/>
                <a:ea typeface="Inter" pitchFamily="34" charset="-122"/>
                <a:cs typeface="Inter" pitchFamily="34" charset="-120"/>
              </a:rPr>
              <a:t>Stop rebuilding it.</a:t>
            </a:r>
            <a:endParaRPr lang="en-US" sz="3500" dirty="0"/>
          </a:p>
        </p:txBody>
      </p:sp>
      <p:sp>
        <p:nvSpPr>
          <p:cNvPr id="5" name="Shape 3"/>
          <p:cNvSpPr/>
          <p:nvPr/>
        </p:nvSpPr>
        <p:spPr>
          <a:xfrm>
            <a:off x="594360" y="6483096"/>
            <a:ext cx="11000232" cy="0"/>
          </a:xfrm>
          <a:prstGeom prst="line">
            <a:avLst/>
          </a:prstGeom>
          <a:noFill/>
          <a:ln w="6985">
            <a:solidFill>
              <a:srgbClr val="DCE2F0"/>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536079"/>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536079"/>
                </a:solidFill>
                <a:latin typeface="Inter" pitchFamily="34" charset="0"/>
                <a:ea typeface="Inter" pitchFamily="34" charset="-122"/>
                <a:cs typeface="Inter" pitchFamily="34" charset="-120"/>
              </a:rPr>
              <a:t>PRE-1.0 PROJECT PREVIEW  |  02</a:t>
            </a:r>
            <a:endParaRPr lang="en-US" sz="830" dirty="0"/>
          </a:p>
        </p:txBody>
      </p:sp>
      <p:sp>
        <p:nvSpPr>
          <p:cNvPr id="9" name="Shape 6"/>
          <p:cNvSpPr/>
          <p:nvPr/>
        </p:nvSpPr>
        <p:spPr>
          <a:xfrm>
            <a:off x="603504" y="2148840"/>
            <a:ext cx="4279392" cy="3593592"/>
          </a:xfrm>
          <a:prstGeom prst="roundRect">
            <a:avLst>
              <a:gd name="adj" fmla="val 3053"/>
            </a:avLst>
          </a:prstGeom>
          <a:solidFill>
            <a:srgbClr val="080C1E"/>
          </a:solidFill>
          <a:ln w="7620">
            <a:solidFill>
              <a:srgbClr val="080C1E"/>
            </a:solidFill>
            <a:prstDash val="solid"/>
          </a:ln>
        </p:spPr>
      </p:sp>
      <p:sp>
        <p:nvSpPr>
          <p:cNvPr id="10" name="Text 7"/>
          <p:cNvSpPr/>
          <p:nvPr/>
        </p:nvSpPr>
        <p:spPr>
          <a:xfrm>
            <a:off x="850392" y="2423160"/>
            <a:ext cx="35661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WHY I STARTED</a:t>
            </a:r>
            <a:endParaRPr lang="en-US" sz="1050" dirty="0"/>
          </a:p>
        </p:txBody>
      </p:sp>
      <p:sp>
        <p:nvSpPr>
          <p:cNvPr id="11" name="Text 8"/>
          <p:cNvSpPr/>
          <p:nvPr/>
        </p:nvSpPr>
        <p:spPr>
          <a:xfrm>
            <a:off x="850392" y="2825496"/>
            <a:ext cx="3657600" cy="1042416"/>
          </a:xfrm>
          <a:prstGeom prst="rect">
            <a:avLst/>
          </a:prstGeom>
          <a:noFill/>
          <a:ln/>
        </p:spPr>
        <p:txBody>
          <a:bodyPr wrap="square" lIns="0" tIns="0" rIns="0" bIns="0" rtlCol="0" anchor="t">
            <a:spAutoFit/>
          </a:bodyPr>
          <a:lstStyle/>
          <a:p>
            <a:pPr indent="0" marL="0">
              <a:buNone/>
            </a:pPr>
            <a:r>
              <a:rPr lang="en-US" sz="2800" b="1" dirty="0">
                <a:solidFill>
                  <a:srgbClr val="FFFFFF"/>
                </a:solidFill>
                <a:latin typeface="Inter" pitchFamily="34" charset="0"/>
                <a:ea typeface="Inter" pitchFamily="34" charset="-122"/>
                <a:cs typeface="Inter" pitchFamily="34" charset="-120"/>
              </a:rPr>
              <a:t>The idea needed</a:t>
            </a:r>
            <a:endParaRPr lang="en-US" sz="2800" dirty="0"/>
          </a:p>
          <a:p>
            <a:pPr indent="0" marL="0">
              <a:buNone/>
            </a:pPr>
            <a:r>
              <a:rPr lang="en-US" sz="2800" b="1" dirty="0">
                <a:solidFill>
                  <a:srgbClr val="FFFFFF"/>
                </a:solidFill>
                <a:latin typeface="Inter" pitchFamily="34" charset="0"/>
                <a:ea typeface="Inter" pitchFamily="34" charset="-122"/>
                <a:cs typeface="Inter" pitchFamily="34" charset="-120"/>
              </a:rPr>
              <a:t>a working example.</a:t>
            </a:r>
            <a:endParaRPr lang="en-US" sz="2800" dirty="0"/>
          </a:p>
        </p:txBody>
      </p:sp>
      <p:sp>
        <p:nvSpPr>
          <p:cNvPr id="12" name="Text 9"/>
          <p:cNvSpPr/>
          <p:nvPr/>
        </p:nvSpPr>
        <p:spPr>
          <a:xfrm>
            <a:off x="868680" y="4224528"/>
            <a:ext cx="3593592" cy="740664"/>
          </a:xfrm>
          <a:prstGeom prst="rect">
            <a:avLst/>
          </a:prstGeom>
          <a:noFill/>
          <a:ln/>
        </p:spPr>
        <p:txBody>
          <a:bodyPr wrap="square" lIns="0" tIns="0" rIns="0" bIns="0" rtlCol="0" anchor="t">
            <a:spAutoFit/>
          </a:bodyPr>
          <a:lstStyle/>
          <a:p>
            <a:pPr indent="0" marL="0">
              <a:buNone/>
            </a:pPr>
            <a:r>
              <a:rPr lang="en-US" sz="1760" dirty="0">
                <a:solidFill>
                  <a:srgbClr val="B7C2D8"/>
                </a:solidFill>
                <a:latin typeface="Inter" pitchFamily="34" charset="0"/>
                <a:ea typeface="Inter" pitchFamily="34" charset="-122"/>
                <a:cs typeface="Inter" pitchFamily="34" charset="-120"/>
              </a:rPr>
              <a:t>Years of explaining steps</a:t>
            </a:r>
            <a:endParaRPr lang="en-US" sz="1760" dirty="0"/>
          </a:p>
          <a:p>
            <a:pPr indent="0" marL="0">
              <a:buNone/>
            </a:pPr>
            <a:r>
              <a:rPr lang="en-US" sz="1760" dirty="0">
                <a:solidFill>
                  <a:srgbClr val="B7C2D8"/>
                </a:solidFill>
                <a:latin typeface="Inter" pitchFamily="34" charset="0"/>
                <a:ea typeface="Inter" pitchFamily="34" charset="-122"/>
                <a:cs typeface="Inter" pitchFamily="34" charset="-120"/>
              </a:rPr>
              <a:t>were not making real</a:t>
            </a:r>
            <a:endParaRPr lang="en-US" sz="1760" dirty="0"/>
          </a:p>
          <a:p>
            <a:pPr indent="0" marL="0">
              <a:buNone/>
            </a:pPr>
            <a:r>
              <a:rPr lang="en-US" sz="1760" dirty="0">
                <a:solidFill>
                  <a:srgbClr val="B7C2D8"/>
                </a:solidFill>
                <a:latin typeface="Inter" pitchFamily="34" charset="0"/>
                <a:ea typeface="Inter" pitchFamily="34" charset="-122"/>
                <a:cs typeface="Inter" pitchFamily="34" charset="-120"/>
              </a:rPr>
              <a:t>scenarios click.</a:t>
            </a:r>
            <a:endParaRPr lang="en-US" sz="1760" dirty="0"/>
          </a:p>
        </p:txBody>
      </p:sp>
      <p:sp>
        <p:nvSpPr>
          <p:cNvPr id="13" name="Text 10"/>
          <p:cNvSpPr/>
          <p:nvPr/>
        </p:nvSpPr>
        <p:spPr>
          <a:xfrm>
            <a:off x="868680" y="5303520"/>
            <a:ext cx="3621024" cy="228600"/>
          </a:xfrm>
          <a:prstGeom prst="rect">
            <a:avLst/>
          </a:prstGeom>
          <a:noFill/>
          <a:ln/>
        </p:spPr>
        <p:txBody>
          <a:bodyPr wrap="square" lIns="0" tIns="0" rIns="0" bIns="0" rtlCol="0" anchor="ctr">
            <a:spAutoFit/>
          </a:bodyPr>
          <a:lstStyle/>
          <a:p>
            <a:pPr indent="0" marL="0">
              <a:buNone/>
            </a:pPr>
            <a:r>
              <a:rPr lang="en-US" sz="1490" b="1" dirty="0">
                <a:solidFill>
                  <a:srgbClr val="19C4A7"/>
                </a:solidFill>
                <a:latin typeface="Inter" pitchFamily="34" charset="0"/>
                <a:ea typeface="Inter" pitchFamily="34" charset="-122"/>
                <a:cs typeface="Inter" pitchFamily="34" charset="-120"/>
              </a:rPr>
              <a:t>Show inputs. Behavior. Reuse.</a:t>
            </a:r>
            <a:endParaRPr lang="en-US" sz="1490" dirty="0"/>
          </a:p>
        </p:txBody>
      </p:sp>
      <p:sp>
        <p:nvSpPr>
          <p:cNvPr id="14" name="Text 11"/>
          <p:cNvSpPr/>
          <p:nvPr/>
        </p:nvSpPr>
        <p:spPr>
          <a:xfrm>
            <a:off x="5303520" y="2313432"/>
            <a:ext cx="603504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THE DELIVERY PROBLEM</a:t>
            </a:r>
            <a:endParaRPr lang="en-US" sz="1050" dirty="0"/>
          </a:p>
        </p:txBody>
      </p:sp>
      <p:sp>
        <p:nvSpPr>
          <p:cNvPr id="15" name="Text 12"/>
          <p:cNvSpPr/>
          <p:nvPr/>
        </p:nvSpPr>
        <p:spPr>
          <a:xfrm>
            <a:off x="5303520" y="2688336"/>
            <a:ext cx="5943600" cy="905256"/>
          </a:xfrm>
          <a:prstGeom prst="rect">
            <a:avLst/>
          </a:prstGeom>
          <a:noFill/>
          <a:ln/>
        </p:spPr>
        <p:txBody>
          <a:bodyPr wrap="square" lIns="0" tIns="0" rIns="0" bIns="0" rtlCol="0" anchor="t">
            <a:spAutoFit/>
          </a:bodyPr>
          <a:lstStyle/>
          <a:p>
            <a:pPr indent="0" marL="0">
              <a:buNone/>
            </a:pPr>
            <a:r>
              <a:rPr lang="en-US" sz="2600" b="1" dirty="0">
                <a:solidFill>
                  <a:srgbClr val="151B30"/>
                </a:solidFill>
                <a:latin typeface="Inter" pitchFamily="34" charset="0"/>
                <a:ea typeface="Inter" pitchFamily="34" charset="-122"/>
                <a:cs typeface="Inter" pitchFamily="34" charset="-120"/>
              </a:rPr>
              <a:t>One change should not become</a:t>
            </a:r>
            <a:endParaRPr lang="en-US" sz="2600" dirty="0"/>
          </a:p>
          <a:p>
            <a:pPr indent="0" marL="0">
              <a:buNone/>
            </a:pPr>
            <a:r>
              <a:rPr lang="en-US" sz="2600" b="1" dirty="0">
                <a:solidFill>
                  <a:srgbClr val="151B30"/>
                </a:solidFill>
                <a:latin typeface="Inter" pitchFamily="34" charset="0"/>
                <a:ea typeface="Inter" pitchFamily="34" charset="-122"/>
                <a:cs typeface="Inter" pitchFamily="34" charset="-120"/>
              </a:rPr>
              <a:t>two implementations.</a:t>
            </a:r>
            <a:endParaRPr lang="en-US" sz="2600" dirty="0"/>
          </a:p>
        </p:txBody>
      </p:sp>
      <p:sp>
        <p:nvSpPr>
          <p:cNvPr id="16" name="Shape 13"/>
          <p:cNvSpPr/>
          <p:nvPr/>
        </p:nvSpPr>
        <p:spPr>
          <a:xfrm>
            <a:off x="5303520" y="3813048"/>
            <a:ext cx="2670048" cy="758952"/>
          </a:xfrm>
          <a:prstGeom prst="roundRect">
            <a:avLst>
              <a:gd name="adj" fmla="val 7229"/>
            </a:avLst>
          </a:prstGeom>
          <a:solidFill>
            <a:srgbClr val="F0EDFF"/>
          </a:solidFill>
          <a:ln w="7620">
            <a:solidFill>
              <a:srgbClr val="DCE2F0"/>
            </a:solidFill>
            <a:prstDash val="solid"/>
          </a:ln>
        </p:spPr>
      </p:sp>
      <p:sp>
        <p:nvSpPr>
          <p:cNvPr id="17" name="Text 14"/>
          <p:cNvSpPr/>
          <p:nvPr/>
        </p:nvSpPr>
        <p:spPr>
          <a:xfrm>
            <a:off x="5486400" y="3959352"/>
            <a:ext cx="2313432" cy="246888"/>
          </a:xfrm>
          <a:prstGeom prst="rect">
            <a:avLst/>
          </a:prstGeom>
          <a:noFill/>
          <a:ln/>
        </p:spPr>
        <p:txBody>
          <a:bodyPr wrap="square" lIns="0" tIns="0" rIns="0" bIns="0" rtlCol="0" anchor="ctr">
            <a:spAutoFit/>
          </a:bodyPr>
          <a:lstStyle/>
          <a:p>
            <a:pPr indent="0" marL="0">
              <a:buNone/>
            </a:pPr>
            <a:r>
              <a:rPr lang="en-US" sz="2000" b="1" dirty="0">
                <a:solidFill>
                  <a:srgbClr val="151B30"/>
                </a:solidFill>
                <a:latin typeface="Inter" pitchFamily="34" charset="0"/>
                <a:ea typeface="Inter" pitchFamily="34" charset="-122"/>
                <a:cs typeface="Inter" pitchFamily="34" charset="-120"/>
              </a:rPr>
              <a:t>Service team</a:t>
            </a:r>
            <a:endParaRPr lang="en-US" sz="2000" dirty="0"/>
          </a:p>
        </p:txBody>
      </p:sp>
      <p:sp>
        <p:nvSpPr>
          <p:cNvPr id="18" name="Text 15"/>
          <p:cNvSpPr/>
          <p:nvPr/>
        </p:nvSpPr>
        <p:spPr>
          <a:xfrm>
            <a:off x="5486400" y="4261104"/>
            <a:ext cx="2313432" cy="182880"/>
          </a:xfrm>
          <a:prstGeom prst="rect">
            <a:avLst/>
          </a:prstGeom>
          <a:noFill/>
          <a:ln/>
        </p:spPr>
        <p:txBody>
          <a:bodyPr wrap="square" lIns="0" tIns="0" rIns="0" bIns="0" rtlCol="0" anchor="ctr">
            <a:spAutoFit/>
          </a:bodyPr>
          <a:lstStyle/>
          <a:p>
            <a:pPr indent="0" marL="0">
              <a:buNone/>
            </a:pPr>
            <a:r>
              <a:rPr lang="en-US" sz="1290" dirty="0">
                <a:solidFill>
                  <a:srgbClr val="536079"/>
                </a:solidFill>
                <a:latin typeface="Inter" pitchFamily="34" charset="0"/>
                <a:ea typeface="Inter" pitchFamily="34" charset="-122"/>
                <a:cs typeface="Inter" pitchFamily="34" charset="-120"/>
              </a:rPr>
              <a:t>changes the process</a:t>
            </a:r>
            <a:endParaRPr lang="en-US" sz="1290" dirty="0"/>
          </a:p>
        </p:txBody>
      </p:sp>
      <p:sp>
        <p:nvSpPr>
          <p:cNvPr id="19" name="Shape 16"/>
          <p:cNvSpPr/>
          <p:nvPr/>
        </p:nvSpPr>
        <p:spPr>
          <a:xfrm>
            <a:off x="8028432" y="4197096"/>
            <a:ext cx="393192" cy="0"/>
          </a:xfrm>
          <a:prstGeom prst="line">
            <a:avLst/>
          </a:prstGeom>
          <a:noFill/>
          <a:ln w="17780">
            <a:solidFill>
              <a:srgbClr val="6257FA"/>
            </a:solidFill>
            <a:prstDash val="solid"/>
            <a:headEnd type="none"/>
            <a:tailEnd type="triangle"/>
          </a:ln>
        </p:spPr>
      </p:sp>
      <p:sp>
        <p:nvSpPr>
          <p:cNvPr id="20" name="Shape 17"/>
          <p:cNvSpPr/>
          <p:nvPr/>
        </p:nvSpPr>
        <p:spPr>
          <a:xfrm>
            <a:off x="8513064" y="3813048"/>
            <a:ext cx="2962656" cy="758952"/>
          </a:xfrm>
          <a:prstGeom prst="roundRect">
            <a:avLst>
              <a:gd name="adj" fmla="val 7229"/>
            </a:avLst>
          </a:prstGeom>
          <a:solidFill>
            <a:srgbClr val="F0EDFF"/>
          </a:solidFill>
          <a:ln w="7620">
            <a:solidFill>
              <a:srgbClr val="DCE2F0"/>
            </a:solidFill>
            <a:prstDash val="solid"/>
          </a:ln>
        </p:spPr>
      </p:sp>
      <p:sp>
        <p:nvSpPr>
          <p:cNvPr id="21" name="Text 18"/>
          <p:cNvSpPr/>
          <p:nvPr/>
        </p:nvSpPr>
        <p:spPr>
          <a:xfrm>
            <a:off x="8695944" y="3959352"/>
            <a:ext cx="2587752" cy="246888"/>
          </a:xfrm>
          <a:prstGeom prst="rect">
            <a:avLst/>
          </a:prstGeom>
          <a:noFill/>
          <a:ln/>
        </p:spPr>
        <p:txBody>
          <a:bodyPr wrap="square" lIns="0" tIns="0" rIns="0" bIns="0" rtlCol="0" anchor="ctr">
            <a:spAutoFit/>
          </a:bodyPr>
          <a:lstStyle/>
          <a:p>
            <a:pPr indent="0" marL="0">
              <a:buNone/>
            </a:pPr>
            <a:r>
              <a:rPr lang="en-US" sz="2000" b="1" dirty="0">
                <a:solidFill>
                  <a:srgbClr val="151B30"/>
                </a:solidFill>
                <a:latin typeface="Inter" pitchFamily="34" charset="0"/>
                <a:ea typeface="Inter" pitchFamily="34" charset="-122"/>
                <a:cs typeface="Inter" pitchFamily="34" charset="-120"/>
              </a:rPr>
              <a:t>Agent team</a:t>
            </a:r>
            <a:endParaRPr lang="en-US" sz="2000" dirty="0"/>
          </a:p>
        </p:txBody>
      </p:sp>
      <p:sp>
        <p:nvSpPr>
          <p:cNvPr id="22" name="Text 19"/>
          <p:cNvSpPr/>
          <p:nvPr/>
        </p:nvSpPr>
        <p:spPr>
          <a:xfrm>
            <a:off x="8695944" y="4261104"/>
            <a:ext cx="2587752" cy="182880"/>
          </a:xfrm>
          <a:prstGeom prst="rect">
            <a:avLst/>
          </a:prstGeom>
          <a:noFill/>
          <a:ln/>
        </p:spPr>
        <p:txBody>
          <a:bodyPr wrap="square" lIns="0" tIns="0" rIns="0" bIns="0" rtlCol="0" anchor="ctr">
            <a:spAutoFit/>
          </a:bodyPr>
          <a:lstStyle/>
          <a:p>
            <a:pPr indent="0" marL="0">
              <a:buNone/>
            </a:pPr>
            <a:r>
              <a:rPr lang="en-US" sz="1290" dirty="0">
                <a:solidFill>
                  <a:srgbClr val="536079"/>
                </a:solidFill>
                <a:latin typeface="Inter" pitchFamily="34" charset="0"/>
                <a:ea typeface="Inter" pitchFamily="34" charset="-122"/>
                <a:cs typeface="Inter" pitchFamily="34" charset="-120"/>
              </a:rPr>
              <a:t>updates its copy</a:t>
            </a:r>
            <a:endParaRPr lang="en-US" sz="1290" dirty="0"/>
          </a:p>
        </p:txBody>
      </p:sp>
      <p:sp>
        <p:nvSpPr>
          <p:cNvPr id="23" name="Text 20"/>
          <p:cNvSpPr/>
          <p:nvPr/>
        </p:nvSpPr>
        <p:spPr>
          <a:xfrm>
            <a:off x="5330952" y="4928616"/>
            <a:ext cx="6126480" cy="594360"/>
          </a:xfrm>
          <a:prstGeom prst="rect">
            <a:avLst/>
          </a:prstGeom>
          <a:noFill/>
          <a:ln/>
        </p:spPr>
        <p:txBody>
          <a:bodyPr wrap="square" lIns="0" tIns="0" rIns="0" bIns="0" rtlCol="0" anchor="t">
            <a:spAutoFit/>
          </a:bodyPr>
          <a:lstStyle/>
          <a:p>
            <a:pPr indent="0" marL="0">
              <a:buNone/>
            </a:pPr>
            <a:r>
              <a:rPr lang="en-US" sz="2100" dirty="0">
                <a:solidFill>
                  <a:srgbClr val="151B30"/>
                </a:solidFill>
                <a:latin typeface="Inter" pitchFamily="34" charset="0"/>
                <a:ea typeface="Inter" pitchFamily="34" charset="-122"/>
                <a:cs typeface="Inter" pitchFamily="34" charset="-120"/>
              </a:rPr>
              <a:t>Duplicated workflow ownership</a:t>
            </a:r>
            <a:endParaRPr lang="en-US" sz="2100" dirty="0"/>
          </a:p>
          <a:p>
            <a:pPr indent="0" marL="0">
              <a:buNone/>
            </a:pPr>
            <a:r>
              <a:rPr lang="en-US" sz="2100" dirty="0">
                <a:solidFill>
                  <a:srgbClr val="151B30"/>
                </a:solidFill>
                <a:latin typeface="Inter" pitchFamily="34" charset="0"/>
                <a:ea typeface="Inter" pitchFamily="34" charset="-122"/>
                <a:cs typeface="Inter" pitchFamily="34" charset="-120"/>
              </a:rPr>
              <a:t>creates another release dependency.</a:t>
            </a:r>
            <a:endParaRPr lang="en-US" sz="2100" dirty="0"/>
          </a:p>
        </p:txBody>
      </p:sp>
      <p:sp>
        <p:nvSpPr>
          <p:cNvPr id="24" name="Shape 21"/>
          <p:cNvSpPr/>
          <p:nvPr/>
        </p:nvSpPr>
        <p:spPr>
          <a:xfrm>
            <a:off x="603504" y="5989320"/>
            <a:ext cx="10972800" cy="0"/>
          </a:xfrm>
          <a:prstGeom prst="line">
            <a:avLst/>
          </a:prstGeom>
          <a:noFill/>
          <a:ln w="12700">
            <a:solidFill>
              <a:srgbClr val="DCE2F0"/>
            </a:solidFill>
            <a:prstDash val="solid"/>
            <a:headEnd type="none"/>
            <a:tailEnd type="none"/>
          </a:ln>
        </p:spPr>
      </p:sp>
      <p:sp>
        <p:nvSpPr>
          <p:cNvPr id="25" name="Text 22"/>
          <p:cNvSpPr/>
          <p:nvPr/>
        </p:nvSpPr>
        <p:spPr>
          <a:xfrm>
            <a:off x="612648" y="6153912"/>
            <a:ext cx="10972800" cy="228600"/>
          </a:xfrm>
          <a:prstGeom prst="rect">
            <a:avLst/>
          </a:prstGeom>
          <a:noFill/>
          <a:ln/>
        </p:spPr>
        <p:txBody>
          <a:bodyPr wrap="square" lIns="0" tIns="0" rIns="0" bIns="0" rtlCol="0" anchor="ctr">
            <a:spAutoFit/>
          </a:bodyPr>
          <a:lstStyle/>
          <a:p>
            <a:pPr algn="ctr" indent="0" marL="0">
              <a:buNone/>
            </a:pPr>
            <a:r>
              <a:rPr lang="en-US" sz="1660" b="1" dirty="0">
                <a:solidFill>
                  <a:srgbClr val="6257FA"/>
                </a:solidFill>
                <a:latin typeface="Inter" pitchFamily="34" charset="0"/>
                <a:ea typeface="Inter" pitchFamily="34" charset="-122"/>
                <a:cs typeface="Inter" pitchFamily="34" charset="-120"/>
              </a:rPr>
              <a:t>Make business behavior explicit once - not a separate journey in every consumer.</a:t>
            </a:r>
            <a:endParaRPr lang="en-US" sz="16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THE CORE MODEL</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600" b="1" dirty="0">
                <a:solidFill>
                  <a:srgbClr val="FFFFFF"/>
                </a:solidFill>
                <a:latin typeface="Inter" pitchFamily="34" charset="0"/>
                <a:ea typeface="Inter" pitchFamily="34" charset="-122"/>
                <a:cs typeface="Inter" pitchFamily="34" charset="-120"/>
              </a:rPr>
              <a:t>Information. Actions. Discovery.</a:t>
            </a:r>
            <a:endParaRPr lang="en-US" sz="3600" dirty="0"/>
          </a:p>
        </p:txBody>
      </p:sp>
      <p:sp>
        <p:nvSpPr>
          <p:cNvPr id="5" name="Shape 3"/>
          <p:cNvSpPr/>
          <p:nvPr/>
        </p:nvSpPr>
        <p:spPr>
          <a:xfrm>
            <a:off x="594360" y="6483096"/>
            <a:ext cx="11000232" cy="0"/>
          </a:xfrm>
          <a:prstGeom prst="line">
            <a:avLst/>
          </a:prstGeom>
          <a:noFill/>
          <a:ln w="6985">
            <a:solidFill>
              <a:srgbClr val="2D3652"/>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B7C2D8"/>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B7C2D8"/>
                </a:solidFill>
                <a:latin typeface="Inter" pitchFamily="34" charset="0"/>
                <a:ea typeface="Inter" pitchFamily="34" charset="-122"/>
                <a:cs typeface="Inter" pitchFamily="34" charset="-120"/>
              </a:rPr>
              <a:t>PRE-1.0 PROJECT PREVIEW  |  03</a:t>
            </a:r>
            <a:endParaRPr lang="en-US" sz="830" dirty="0"/>
          </a:p>
        </p:txBody>
      </p:sp>
      <p:sp>
        <p:nvSpPr>
          <p:cNvPr id="9" name="Text 6"/>
          <p:cNvSpPr/>
          <p:nvPr/>
        </p:nvSpPr>
        <p:spPr>
          <a:xfrm>
            <a:off x="621792" y="1627632"/>
            <a:ext cx="10789920" cy="320040"/>
          </a:xfrm>
          <a:prstGeom prst="rect">
            <a:avLst/>
          </a:prstGeom>
          <a:noFill/>
          <a:ln/>
        </p:spPr>
        <p:txBody>
          <a:bodyPr wrap="square" lIns="0" tIns="0" rIns="0" bIns="0" rtlCol="0" anchor="ctr">
            <a:spAutoFit/>
          </a:bodyPr>
          <a:lstStyle/>
          <a:p>
            <a:pPr indent="0" marL="0">
              <a:buNone/>
            </a:pPr>
            <a:r>
              <a:rPr lang="en-US" sz="1930" dirty="0">
                <a:solidFill>
                  <a:srgbClr val="B7C2D8"/>
                </a:solidFill>
                <a:latin typeface="Inter" pitchFamily="34" charset="0"/>
                <a:ea typeface="Inter" pitchFamily="34" charset="-122"/>
                <a:cs typeface="Inter" pitchFamily="34" charset="-120"/>
              </a:rPr>
              <a:t>A step is a business action - not a screen or a chat turn.</a:t>
            </a:r>
            <a:endParaRPr lang="en-US" sz="1930" dirty="0"/>
          </a:p>
        </p:txBody>
      </p:sp>
      <p:sp>
        <p:nvSpPr>
          <p:cNvPr id="10" name="Shape 7"/>
          <p:cNvSpPr/>
          <p:nvPr/>
        </p:nvSpPr>
        <p:spPr>
          <a:xfrm>
            <a:off x="667512" y="2377440"/>
            <a:ext cx="3191256" cy="0"/>
          </a:xfrm>
          <a:prstGeom prst="line">
            <a:avLst/>
          </a:prstGeom>
          <a:noFill/>
          <a:ln w="25400">
            <a:solidFill>
              <a:srgbClr val="21B6D7"/>
            </a:solidFill>
            <a:prstDash val="solid"/>
            <a:headEnd type="none"/>
            <a:tailEnd type="none"/>
          </a:ln>
        </p:spPr>
      </p:sp>
      <p:pic>
        <p:nvPicPr>
          <p:cNvPr id="11" name="Image 1" descr="/mnt/data/kaleido_v5_work/assets/s2_14.png">    </p:cNvPr>
          <p:cNvPicPr>
            <a:picLocks noChangeAspect="1"/>
          </p:cNvPicPr>
          <p:nvPr/>
        </p:nvPicPr>
        <p:blipFill>
          <a:blip r:embed="rId2"/>
          <a:stretch>
            <a:fillRect/>
          </a:stretch>
        </p:blipFill>
        <p:spPr>
          <a:xfrm>
            <a:off x="667512" y="2624328"/>
            <a:ext cx="356616" cy="356616"/>
          </a:xfrm>
          <a:prstGeom prst="rect">
            <a:avLst/>
          </a:prstGeom>
        </p:spPr>
      </p:pic>
      <p:sp>
        <p:nvSpPr>
          <p:cNvPr id="12" name="Text 8"/>
          <p:cNvSpPr/>
          <p:nvPr/>
        </p:nvSpPr>
        <p:spPr>
          <a:xfrm>
            <a:off x="1188720" y="2715768"/>
            <a:ext cx="2642616" cy="182880"/>
          </a:xfrm>
          <a:prstGeom prst="rect">
            <a:avLst/>
          </a:prstGeom>
          <a:noFill/>
          <a:ln/>
        </p:spPr>
        <p:txBody>
          <a:bodyPr wrap="square" lIns="0" tIns="0" rIns="0" bIns="0" rtlCol="0" anchor="ctr">
            <a:spAutoFit/>
          </a:bodyPr>
          <a:lstStyle/>
          <a:p>
            <a:pPr indent="0" marL="0">
              <a:buNone/>
            </a:pPr>
            <a:r>
              <a:rPr lang="en-US" sz="1050" b="1" spc="110" kern="0" dirty="0">
                <a:solidFill>
                  <a:srgbClr val="21B6D7"/>
                </a:solidFill>
                <a:latin typeface="Inter" pitchFamily="34" charset="0"/>
                <a:ea typeface="Inter" pitchFamily="34" charset="-122"/>
                <a:cs typeface="Inter" pitchFamily="34" charset="-120"/>
              </a:rPr>
              <a:t>QUERYABLE</a:t>
            </a:r>
            <a:endParaRPr lang="en-US" sz="1050" dirty="0"/>
          </a:p>
        </p:txBody>
      </p:sp>
      <p:sp>
        <p:nvSpPr>
          <p:cNvPr id="13" name="Text 9"/>
          <p:cNvSpPr/>
          <p:nvPr/>
        </p:nvSpPr>
        <p:spPr>
          <a:xfrm>
            <a:off x="667512" y="3182112"/>
            <a:ext cx="3200400" cy="932688"/>
          </a:xfrm>
          <a:prstGeom prst="rect">
            <a:avLst/>
          </a:prstGeom>
          <a:noFill/>
          <a:ln/>
        </p:spPr>
        <p:txBody>
          <a:bodyPr wrap="square" lIns="0" tIns="0" rIns="0" bIns="0" rtlCol="0" anchor="t">
            <a:spAutoFit/>
          </a:bodyPr>
          <a:lstStyle/>
          <a:p>
            <a:pPr indent="0" marL="0">
              <a:buNone/>
            </a:pPr>
            <a:r>
              <a:rPr lang="en-US" sz="2500" b="1" dirty="0">
                <a:solidFill>
                  <a:srgbClr val="FFFFFF"/>
                </a:solidFill>
                <a:latin typeface="Inter" pitchFamily="34" charset="0"/>
                <a:ea typeface="Inter" pitchFamily="34" charset="-122"/>
                <a:cs typeface="Inter" pitchFamily="34" charset="-120"/>
              </a:rPr>
              <a:t>Read business</a:t>
            </a:r>
            <a:endParaRPr lang="en-US" sz="2500" dirty="0"/>
          </a:p>
          <a:p>
            <a:pPr indent="0" marL="0">
              <a:buNone/>
            </a:pPr>
            <a:r>
              <a:rPr lang="en-US" sz="2500" b="1" dirty="0">
                <a:solidFill>
                  <a:srgbClr val="FFFFFF"/>
                </a:solidFill>
                <a:latin typeface="Inter" pitchFamily="34" charset="0"/>
                <a:ea typeface="Inter" pitchFamily="34" charset="-122"/>
                <a:cs typeface="Inter" pitchFamily="34" charset="-120"/>
              </a:rPr>
              <a:t>information.</a:t>
            </a:r>
            <a:endParaRPr lang="en-US" sz="2500" dirty="0"/>
          </a:p>
        </p:txBody>
      </p:sp>
      <p:sp>
        <p:nvSpPr>
          <p:cNvPr id="14" name="Text 10"/>
          <p:cNvSpPr/>
          <p:nvPr/>
        </p:nvSpPr>
        <p:spPr>
          <a:xfrm>
            <a:off x="667512" y="4288536"/>
            <a:ext cx="3282696" cy="274320"/>
          </a:xfrm>
          <a:prstGeom prst="rect">
            <a:avLst/>
          </a:prstGeom>
          <a:noFill/>
          <a:ln/>
        </p:spPr>
        <p:txBody>
          <a:bodyPr wrap="square" lIns="0" tIns="0" rIns="0" bIns="0" rtlCol="0" anchor="ctr">
            <a:spAutoFit/>
          </a:bodyPr>
          <a:lstStyle/>
          <a:p>
            <a:pPr indent="0" marL="0">
              <a:buNone/>
            </a:pPr>
            <a:r>
              <a:rPr lang="en-US" sz="1880" b="1" dirty="0">
                <a:solidFill>
                  <a:srgbClr val="21B6D7"/>
                </a:solidFill>
                <a:latin typeface="Inter" pitchFamily="34" charset="0"/>
                <a:ea typeface="Inter" pitchFamily="34" charset="-122"/>
                <a:cs typeface="Inter" pitchFamily="34" charset="-120"/>
              </a:rPr>
              <a:t>Find a member.</a:t>
            </a:r>
            <a:endParaRPr lang="en-US" sz="1880" dirty="0"/>
          </a:p>
        </p:txBody>
      </p:sp>
      <p:sp>
        <p:nvSpPr>
          <p:cNvPr id="15" name="Text 11"/>
          <p:cNvSpPr/>
          <p:nvPr/>
        </p:nvSpPr>
        <p:spPr>
          <a:xfrm>
            <a:off x="667512" y="4663440"/>
            <a:ext cx="3300984" cy="274320"/>
          </a:xfrm>
          <a:prstGeom prst="rect">
            <a:avLst/>
          </a:prstGeom>
          <a:noFill/>
          <a:ln/>
        </p:spPr>
        <p:txBody>
          <a:bodyPr wrap="square" lIns="0" tIns="0" rIns="0" bIns="0" rtlCol="0" anchor="ctr">
            <a:spAutoFit/>
          </a:bodyPr>
          <a:lstStyle/>
          <a:p>
            <a:pPr indent="0" marL="0">
              <a:buNone/>
            </a:pPr>
            <a:r>
              <a:rPr lang="en-US" sz="1580" dirty="0">
                <a:solidFill>
                  <a:srgbClr val="B7C2D8"/>
                </a:solidFill>
                <a:latin typeface="Inter" pitchFamily="34" charset="0"/>
                <a:ea typeface="Inter" pitchFamily="34" charset="-122"/>
                <a:cs typeface="Inter" pitchFamily="34" charset="-120"/>
              </a:rPr>
              <a:t>Searchable sources and views.</a:t>
            </a:r>
            <a:endParaRPr lang="en-US" sz="1580" dirty="0"/>
          </a:p>
        </p:txBody>
      </p:sp>
      <p:sp>
        <p:nvSpPr>
          <p:cNvPr id="16" name="Shape 12"/>
          <p:cNvSpPr/>
          <p:nvPr/>
        </p:nvSpPr>
        <p:spPr>
          <a:xfrm>
            <a:off x="4498848" y="2377440"/>
            <a:ext cx="3191256" cy="0"/>
          </a:xfrm>
          <a:prstGeom prst="line">
            <a:avLst/>
          </a:prstGeom>
          <a:noFill/>
          <a:ln w="25400">
            <a:solidFill>
              <a:srgbClr val="19C4A7"/>
            </a:solidFill>
            <a:prstDash val="solid"/>
            <a:headEnd type="none"/>
            <a:tailEnd type="none"/>
          </a:ln>
        </p:spPr>
      </p:sp>
      <p:pic>
        <p:nvPicPr>
          <p:cNvPr id="17" name="Image 2" descr="/mnt/data/kaleido_v5_work/assets/s2_21.png">    </p:cNvPr>
          <p:cNvPicPr>
            <a:picLocks noChangeAspect="1"/>
          </p:cNvPicPr>
          <p:nvPr/>
        </p:nvPicPr>
        <p:blipFill>
          <a:blip r:embed="rId3"/>
          <a:stretch>
            <a:fillRect/>
          </a:stretch>
        </p:blipFill>
        <p:spPr>
          <a:xfrm>
            <a:off x="4498848" y="2624328"/>
            <a:ext cx="356616" cy="356616"/>
          </a:xfrm>
          <a:prstGeom prst="rect">
            <a:avLst/>
          </a:prstGeom>
        </p:spPr>
      </p:pic>
      <p:sp>
        <p:nvSpPr>
          <p:cNvPr id="18" name="Text 13"/>
          <p:cNvSpPr/>
          <p:nvPr/>
        </p:nvSpPr>
        <p:spPr>
          <a:xfrm>
            <a:off x="5020056" y="2715768"/>
            <a:ext cx="2642616" cy="182880"/>
          </a:xfrm>
          <a:prstGeom prst="rect">
            <a:avLst/>
          </a:prstGeom>
          <a:noFill/>
          <a:ln/>
        </p:spPr>
        <p:txBody>
          <a:bodyPr wrap="square" lIns="0" tIns="0" rIns="0" bIns="0" rtlCol="0" anchor="ctr">
            <a:spAutoFit/>
          </a:bodyPr>
          <a:lstStyle/>
          <a:p>
            <a:pPr indent="0" marL="0">
              <a:buNone/>
            </a:pPr>
            <a:r>
              <a:rPr lang="en-US" sz="1050" b="1" spc="110" kern="0" dirty="0">
                <a:solidFill>
                  <a:srgbClr val="19C4A7"/>
                </a:solidFill>
                <a:latin typeface="Inter" pitchFamily="34" charset="0"/>
                <a:ea typeface="Inter" pitchFamily="34" charset="-122"/>
                <a:cs typeface="Inter" pitchFamily="34" charset="-120"/>
              </a:rPr>
              <a:t>PROCESS</a:t>
            </a:r>
            <a:endParaRPr lang="en-US" sz="1050" dirty="0"/>
          </a:p>
        </p:txBody>
      </p:sp>
      <p:sp>
        <p:nvSpPr>
          <p:cNvPr id="19" name="Text 14"/>
          <p:cNvSpPr/>
          <p:nvPr/>
        </p:nvSpPr>
        <p:spPr>
          <a:xfrm>
            <a:off x="4498848" y="3182112"/>
            <a:ext cx="3200400" cy="932688"/>
          </a:xfrm>
          <a:prstGeom prst="rect">
            <a:avLst/>
          </a:prstGeom>
          <a:noFill/>
          <a:ln/>
        </p:spPr>
        <p:txBody>
          <a:bodyPr wrap="square" lIns="0" tIns="0" rIns="0" bIns="0" rtlCol="0" anchor="t">
            <a:spAutoFit/>
          </a:bodyPr>
          <a:lstStyle/>
          <a:p>
            <a:pPr indent="0" marL="0">
              <a:buNone/>
            </a:pPr>
            <a:r>
              <a:rPr lang="en-US" sz="2500" b="1" dirty="0">
                <a:solidFill>
                  <a:srgbClr val="FFFFFF"/>
                </a:solidFill>
                <a:latin typeface="Inter" pitchFamily="34" charset="0"/>
                <a:ea typeface="Inter" pitchFamily="34" charset="-122"/>
                <a:cs typeface="Inter" pitchFamily="34" charset="-120"/>
              </a:rPr>
              <a:t>Execute business</a:t>
            </a:r>
            <a:endParaRPr lang="en-US" sz="2500" dirty="0"/>
          </a:p>
          <a:p>
            <a:pPr indent="0" marL="0">
              <a:buNone/>
            </a:pPr>
            <a:r>
              <a:rPr lang="en-US" sz="2500" b="1" dirty="0">
                <a:solidFill>
                  <a:srgbClr val="FFFFFF"/>
                </a:solidFill>
                <a:latin typeface="Inter" pitchFamily="34" charset="0"/>
                <a:ea typeface="Inter" pitchFamily="34" charset="-122"/>
                <a:cs typeface="Inter" pitchFamily="34" charset="-120"/>
              </a:rPr>
              <a:t>actions.</a:t>
            </a:r>
            <a:endParaRPr lang="en-US" sz="2500" dirty="0"/>
          </a:p>
        </p:txBody>
      </p:sp>
      <p:sp>
        <p:nvSpPr>
          <p:cNvPr id="20" name="Text 15"/>
          <p:cNvSpPr/>
          <p:nvPr/>
        </p:nvSpPr>
        <p:spPr>
          <a:xfrm>
            <a:off x="4498848" y="4288536"/>
            <a:ext cx="3282696" cy="274320"/>
          </a:xfrm>
          <a:prstGeom prst="rect">
            <a:avLst/>
          </a:prstGeom>
          <a:noFill/>
          <a:ln/>
        </p:spPr>
        <p:txBody>
          <a:bodyPr wrap="square" lIns="0" tIns="0" rIns="0" bIns="0" rtlCol="0" anchor="ctr">
            <a:spAutoFit/>
          </a:bodyPr>
          <a:lstStyle/>
          <a:p>
            <a:pPr indent="0" marL="0">
              <a:buNone/>
            </a:pPr>
            <a:r>
              <a:rPr lang="en-US" sz="1880" b="1" dirty="0">
                <a:solidFill>
                  <a:srgbClr val="19C4A7"/>
                </a:solidFill>
                <a:latin typeface="Inter" pitchFamily="34" charset="0"/>
                <a:ea typeface="Inter" pitchFamily="34" charset="-122"/>
                <a:cs typeface="Inter" pitchFamily="34" charset="-120"/>
              </a:rPr>
              <a:t>Capture the member.</a:t>
            </a:r>
            <a:endParaRPr lang="en-US" sz="1880" dirty="0"/>
          </a:p>
        </p:txBody>
      </p:sp>
      <p:sp>
        <p:nvSpPr>
          <p:cNvPr id="21" name="Text 16"/>
          <p:cNvSpPr/>
          <p:nvPr/>
        </p:nvSpPr>
        <p:spPr>
          <a:xfrm>
            <a:off x="4498848" y="4663440"/>
            <a:ext cx="3300984" cy="274320"/>
          </a:xfrm>
          <a:prstGeom prst="rect">
            <a:avLst/>
          </a:prstGeom>
          <a:noFill/>
          <a:ln/>
        </p:spPr>
        <p:txBody>
          <a:bodyPr wrap="square" lIns="0" tIns="0" rIns="0" bIns="0" rtlCol="0" anchor="ctr">
            <a:spAutoFit/>
          </a:bodyPr>
          <a:lstStyle/>
          <a:p>
            <a:pPr indent="0" marL="0">
              <a:buNone/>
            </a:pPr>
            <a:r>
              <a:rPr lang="en-US" sz="1580" dirty="0">
                <a:solidFill>
                  <a:srgbClr val="B7C2D8"/>
                </a:solidFill>
                <a:latin typeface="Inter" pitchFamily="34" charset="0"/>
                <a:ea typeface="Inter" pitchFamily="34" charset="-122"/>
                <a:cs typeface="Inter" pitchFamily="34" charset="-120"/>
              </a:rPr>
              <a:t>Inputs, rules, handler, state.</a:t>
            </a:r>
            <a:endParaRPr lang="en-US" sz="1580" dirty="0"/>
          </a:p>
        </p:txBody>
      </p:sp>
      <p:sp>
        <p:nvSpPr>
          <p:cNvPr id="22" name="Shape 17"/>
          <p:cNvSpPr/>
          <p:nvPr/>
        </p:nvSpPr>
        <p:spPr>
          <a:xfrm>
            <a:off x="8257032" y="2377440"/>
            <a:ext cx="3191256" cy="0"/>
          </a:xfrm>
          <a:prstGeom prst="line">
            <a:avLst/>
          </a:prstGeom>
          <a:noFill/>
          <a:ln w="25400">
            <a:solidFill>
              <a:srgbClr val="9C8FFF"/>
            </a:solidFill>
            <a:prstDash val="solid"/>
            <a:headEnd type="none"/>
            <a:tailEnd type="none"/>
          </a:ln>
        </p:spPr>
      </p:sp>
      <p:pic>
        <p:nvPicPr>
          <p:cNvPr id="23" name="Image 3" descr="/mnt/data/kaleido_v5_work/assets/s2_28.png">    </p:cNvPr>
          <p:cNvPicPr>
            <a:picLocks noChangeAspect="1"/>
          </p:cNvPicPr>
          <p:nvPr/>
        </p:nvPicPr>
        <p:blipFill>
          <a:blip r:embed="rId4"/>
          <a:stretch>
            <a:fillRect/>
          </a:stretch>
        </p:blipFill>
        <p:spPr>
          <a:xfrm>
            <a:off x="8257032" y="2624328"/>
            <a:ext cx="356616" cy="356616"/>
          </a:xfrm>
          <a:prstGeom prst="rect">
            <a:avLst/>
          </a:prstGeom>
        </p:spPr>
      </p:pic>
      <p:sp>
        <p:nvSpPr>
          <p:cNvPr id="24" name="Text 18"/>
          <p:cNvSpPr/>
          <p:nvPr/>
        </p:nvSpPr>
        <p:spPr>
          <a:xfrm>
            <a:off x="8778240" y="2715768"/>
            <a:ext cx="2642616"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REGISTRY</a:t>
            </a:r>
            <a:endParaRPr lang="en-US" sz="1050" dirty="0"/>
          </a:p>
        </p:txBody>
      </p:sp>
      <p:sp>
        <p:nvSpPr>
          <p:cNvPr id="25" name="Text 19"/>
          <p:cNvSpPr/>
          <p:nvPr/>
        </p:nvSpPr>
        <p:spPr>
          <a:xfrm>
            <a:off x="8257032" y="3182112"/>
            <a:ext cx="3200400" cy="932688"/>
          </a:xfrm>
          <a:prstGeom prst="rect">
            <a:avLst/>
          </a:prstGeom>
          <a:noFill/>
          <a:ln/>
        </p:spPr>
        <p:txBody>
          <a:bodyPr wrap="square" lIns="0" tIns="0" rIns="0" bIns="0" rtlCol="0" anchor="t">
            <a:spAutoFit/>
          </a:bodyPr>
          <a:lstStyle/>
          <a:p>
            <a:pPr indent="0" marL="0">
              <a:buNone/>
            </a:pPr>
            <a:r>
              <a:rPr lang="en-US" sz="2500" b="1" dirty="0">
                <a:solidFill>
                  <a:srgbClr val="FFFFFF"/>
                </a:solidFill>
                <a:latin typeface="Inter" pitchFamily="34" charset="0"/>
                <a:ea typeface="Inter" pitchFamily="34" charset="-122"/>
                <a:cs typeface="Inter" pitchFamily="34" charset="-120"/>
              </a:rPr>
              <a:t>Describe how to</a:t>
            </a:r>
            <a:endParaRPr lang="en-US" sz="2500" dirty="0"/>
          </a:p>
          <a:p>
            <a:pPr indent="0" marL="0">
              <a:buNone/>
            </a:pPr>
            <a:r>
              <a:rPr lang="en-US" sz="2500" b="1" dirty="0">
                <a:solidFill>
                  <a:srgbClr val="FFFFFF"/>
                </a:solidFill>
                <a:latin typeface="Inter" pitchFamily="34" charset="0"/>
                <a:ea typeface="Inter" pitchFamily="34" charset="-122"/>
                <a:cs typeface="Inter" pitchFamily="34" charset="-120"/>
              </a:rPr>
              <a:t>find and call them.</a:t>
            </a:r>
            <a:endParaRPr lang="en-US" sz="2500" dirty="0"/>
          </a:p>
        </p:txBody>
      </p:sp>
      <p:sp>
        <p:nvSpPr>
          <p:cNvPr id="26" name="Text 20"/>
          <p:cNvSpPr/>
          <p:nvPr/>
        </p:nvSpPr>
        <p:spPr>
          <a:xfrm>
            <a:off x="8257032" y="4288536"/>
            <a:ext cx="3282696" cy="274320"/>
          </a:xfrm>
          <a:prstGeom prst="rect">
            <a:avLst/>
          </a:prstGeom>
          <a:noFill/>
          <a:ln/>
        </p:spPr>
        <p:txBody>
          <a:bodyPr wrap="square" lIns="0" tIns="0" rIns="0" bIns="0" rtlCol="0" anchor="ctr">
            <a:spAutoFit/>
          </a:bodyPr>
          <a:lstStyle/>
          <a:p>
            <a:pPr indent="0" marL="0">
              <a:buNone/>
            </a:pPr>
            <a:r>
              <a:rPr lang="en-US" sz="1880" b="1" dirty="0">
                <a:solidFill>
                  <a:srgbClr val="9C8FFF"/>
                </a:solidFill>
                <a:latin typeface="Inter" pitchFamily="34" charset="0"/>
                <a:ea typeface="Inter" pitchFamily="34" charset="-122"/>
                <a:cs typeface="Inter" pitchFamily="34" charset="-120"/>
              </a:rPr>
              <a:t>Publish the capability.</a:t>
            </a:r>
            <a:endParaRPr lang="en-US" sz="1880" dirty="0"/>
          </a:p>
        </p:txBody>
      </p:sp>
      <p:sp>
        <p:nvSpPr>
          <p:cNvPr id="27" name="Text 21"/>
          <p:cNvSpPr/>
          <p:nvPr/>
        </p:nvSpPr>
        <p:spPr>
          <a:xfrm>
            <a:off x="8257032" y="4663440"/>
            <a:ext cx="3300984" cy="274320"/>
          </a:xfrm>
          <a:prstGeom prst="rect">
            <a:avLst/>
          </a:prstGeom>
          <a:noFill/>
          <a:ln/>
        </p:spPr>
        <p:txBody>
          <a:bodyPr wrap="square" lIns="0" tIns="0" rIns="0" bIns="0" rtlCol="0" anchor="ctr">
            <a:spAutoFit/>
          </a:bodyPr>
          <a:lstStyle/>
          <a:p>
            <a:pPr indent="0" marL="0">
              <a:buNone/>
            </a:pPr>
            <a:r>
              <a:rPr lang="en-US" sz="1580" dirty="0">
                <a:solidFill>
                  <a:srgbClr val="B7C2D8"/>
                </a:solidFill>
                <a:latin typeface="Inter" pitchFamily="34" charset="0"/>
                <a:ea typeface="Inter" pitchFamily="34" charset="-122"/>
                <a:cs typeface="Inter" pitchFamily="34" charset="-120"/>
              </a:rPr>
              <a:t>Names, schemas and routes.</a:t>
            </a:r>
            <a:endParaRPr lang="en-US" sz="1580" dirty="0"/>
          </a:p>
        </p:txBody>
      </p:sp>
      <p:sp>
        <p:nvSpPr>
          <p:cNvPr id="28" name="Shape 22"/>
          <p:cNvSpPr/>
          <p:nvPr/>
        </p:nvSpPr>
        <p:spPr>
          <a:xfrm>
            <a:off x="612648" y="5266944"/>
            <a:ext cx="10972800" cy="896112"/>
          </a:xfrm>
          <a:prstGeom prst="rect">
            <a:avLst/>
          </a:prstGeom>
          <a:solidFill>
            <a:srgbClr val="17223D"/>
          </a:solidFill>
          <a:ln w="7620">
            <a:solidFill>
              <a:srgbClr val="17223D"/>
            </a:solidFill>
            <a:prstDash val="solid"/>
          </a:ln>
        </p:spPr>
      </p:sp>
      <p:sp>
        <p:nvSpPr>
          <p:cNvPr id="29" name="Text 23"/>
          <p:cNvSpPr/>
          <p:nvPr/>
        </p:nvSpPr>
        <p:spPr>
          <a:xfrm>
            <a:off x="832104" y="5431536"/>
            <a:ext cx="3264408" cy="182880"/>
          </a:xfrm>
          <a:prstGeom prst="rect">
            <a:avLst/>
          </a:prstGeom>
          <a:noFill/>
          <a:ln/>
        </p:spPr>
        <p:txBody>
          <a:bodyPr wrap="square" lIns="0" tIns="0" rIns="0" bIns="0" rtlCol="0" anchor="ctr">
            <a:spAutoFit/>
          </a:bodyPr>
          <a:lstStyle/>
          <a:p>
            <a:pPr indent="0" marL="0">
              <a:buNone/>
            </a:pPr>
            <a:r>
              <a:rPr lang="en-US" sz="1050" b="1" spc="110" kern="0" dirty="0">
                <a:solidFill>
                  <a:srgbClr val="B7C2D8"/>
                </a:solidFill>
                <a:latin typeface="Inter" pitchFamily="34" charset="0"/>
                <a:ea typeface="Inter" pitchFamily="34" charset="-122"/>
                <a:cs typeface="Inter" pitchFamily="34" charset="-120"/>
              </a:rPr>
              <a:t>INPUT + CURRENT PROGRESS</a:t>
            </a:r>
            <a:endParaRPr lang="en-US" sz="1050" dirty="0"/>
          </a:p>
        </p:txBody>
      </p:sp>
      <p:sp>
        <p:nvSpPr>
          <p:cNvPr id="30" name="Text 24"/>
          <p:cNvSpPr/>
          <p:nvPr/>
        </p:nvSpPr>
        <p:spPr>
          <a:xfrm>
            <a:off x="832104" y="5687568"/>
            <a:ext cx="3264408" cy="256032"/>
          </a:xfrm>
          <a:prstGeom prst="rect">
            <a:avLst/>
          </a:prstGeom>
          <a:noFill/>
          <a:ln/>
        </p:spPr>
        <p:txBody>
          <a:bodyPr wrap="square" lIns="0" tIns="0" rIns="0" bIns="0" rtlCol="0" anchor="ctr">
            <a:spAutoFit/>
          </a:bodyPr>
          <a:lstStyle/>
          <a:p>
            <a:pPr indent="0" marL="0">
              <a:buNone/>
            </a:pPr>
            <a:r>
              <a:rPr lang="en-US" sz="1620" dirty="0">
                <a:solidFill>
                  <a:srgbClr val="FFFFFF"/>
                </a:solidFill>
                <a:latin typeface="Inter" pitchFamily="34" charset="0"/>
                <a:ea typeface="Inter" pitchFamily="34" charset="-122"/>
                <a:cs typeface="Inter" pitchFamily="34" charset="-120"/>
              </a:rPr>
              <a:t>Member + enrollment + date</a:t>
            </a:r>
            <a:endParaRPr lang="en-US" sz="1620" dirty="0"/>
          </a:p>
        </p:txBody>
      </p:sp>
      <p:sp>
        <p:nvSpPr>
          <p:cNvPr id="31" name="Shape 25"/>
          <p:cNvSpPr/>
          <p:nvPr/>
        </p:nvSpPr>
        <p:spPr>
          <a:xfrm>
            <a:off x="3977640" y="5705856"/>
            <a:ext cx="320040" cy="0"/>
          </a:xfrm>
          <a:prstGeom prst="line">
            <a:avLst/>
          </a:prstGeom>
          <a:noFill/>
          <a:ln w="19050">
            <a:solidFill>
              <a:srgbClr val="9C8FFF"/>
            </a:solidFill>
            <a:prstDash val="solid"/>
            <a:headEnd type="none"/>
            <a:tailEnd type="triangle"/>
          </a:ln>
        </p:spPr>
      </p:sp>
      <p:sp>
        <p:nvSpPr>
          <p:cNvPr id="32" name="Text 26"/>
          <p:cNvSpPr/>
          <p:nvPr/>
        </p:nvSpPr>
        <p:spPr>
          <a:xfrm>
            <a:off x="4535424" y="5559552"/>
            <a:ext cx="3209544" cy="411480"/>
          </a:xfrm>
          <a:prstGeom prst="rect">
            <a:avLst/>
          </a:prstGeom>
          <a:noFill/>
          <a:ln/>
        </p:spPr>
        <p:txBody>
          <a:bodyPr wrap="square" lIns="0" tIns="0" rIns="0" bIns="0" rtlCol="0" anchor="ctr">
            <a:spAutoFit/>
          </a:bodyPr>
          <a:lstStyle/>
          <a:p>
            <a:pPr algn="ctr" indent="0" marL="0">
              <a:buNone/>
            </a:pPr>
            <a:r>
              <a:rPr lang="en-US" sz="2400" b="1" dirty="0">
                <a:solidFill>
                  <a:srgbClr val="FFFFFF"/>
                </a:solidFill>
                <a:latin typeface="Inter" pitchFamily="34" charset="0"/>
                <a:ea typeface="Inter" pitchFamily="34" charset="-122"/>
                <a:cs typeface="Inter" pitchFamily="34" charset="-120"/>
              </a:rPr>
              <a:t>Capture Member</a:t>
            </a:r>
            <a:endParaRPr lang="en-US" sz="2400" dirty="0"/>
          </a:p>
        </p:txBody>
      </p:sp>
      <p:sp>
        <p:nvSpPr>
          <p:cNvPr id="33" name="Shape 27"/>
          <p:cNvSpPr/>
          <p:nvPr/>
        </p:nvSpPr>
        <p:spPr>
          <a:xfrm>
            <a:off x="7772400" y="5705856"/>
            <a:ext cx="292608" cy="0"/>
          </a:xfrm>
          <a:prstGeom prst="line">
            <a:avLst/>
          </a:prstGeom>
          <a:noFill/>
          <a:ln w="19050">
            <a:solidFill>
              <a:srgbClr val="9C8FFF"/>
            </a:solidFill>
            <a:prstDash val="solid"/>
            <a:headEnd type="none"/>
            <a:tailEnd type="triangle"/>
          </a:ln>
        </p:spPr>
      </p:sp>
      <p:sp>
        <p:nvSpPr>
          <p:cNvPr id="34" name="Text 28"/>
          <p:cNvSpPr/>
          <p:nvPr/>
        </p:nvSpPr>
        <p:spPr>
          <a:xfrm>
            <a:off x="8293608" y="5431536"/>
            <a:ext cx="2852928" cy="182880"/>
          </a:xfrm>
          <a:prstGeom prst="rect">
            <a:avLst/>
          </a:prstGeom>
          <a:noFill/>
          <a:ln/>
        </p:spPr>
        <p:txBody>
          <a:bodyPr wrap="square" lIns="0" tIns="0" rIns="0" bIns="0" rtlCol="0" anchor="ctr">
            <a:spAutoFit/>
          </a:bodyPr>
          <a:lstStyle/>
          <a:p>
            <a:pPr indent="0" marL="0">
              <a:buNone/>
            </a:pPr>
            <a:r>
              <a:rPr lang="en-US" sz="1050" b="1" spc="110" kern="0" dirty="0">
                <a:solidFill>
                  <a:srgbClr val="B7C2D8"/>
                </a:solidFill>
                <a:latin typeface="Inter" pitchFamily="34" charset="0"/>
                <a:ea typeface="Inter" pitchFamily="34" charset="-122"/>
                <a:cs typeface="Inter" pitchFamily="34" charset="-120"/>
              </a:rPr>
              <a:t>RESULT + NEXT</a:t>
            </a:r>
            <a:endParaRPr lang="en-US" sz="1050" dirty="0"/>
          </a:p>
        </p:txBody>
      </p:sp>
      <p:sp>
        <p:nvSpPr>
          <p:cNvPr id="35" name="Text 29"/>
          <p:cNvSpPr/>
          <p:nvPr/>
        </p:nvSpPr>
        <p:spPr>
          <a:xfrm>
            <a:off x="8293608" y="5687568"/>
            <a:ext cx="2953512" cy="256032"/>
          </a:xfrm>
          <a:prstGeom prst="rect">
            <a:avLst/>
          </a:prstGeom>
          <a:noFill/>
          <a:ln/>
        </p:spPr>
        <p:txBody>
          <a:bodyPr wrap="square" lIns="0" tIns="0" rIns="0" bIns="0" rtlCol="0" anchor="ctr">
            <a:spAutoFit/>
          </a:bodyPr>
          <a:lstStyle/>
          <a:p>
            <a:pPr indent="0" marL="0">
              <a:buNone/>
            </a:pPr>
            <a:r>
              <a:rPr lang="en-US" sz="1600" dirty="0">
                <a:solidFill>
                  <a:srgbClr val="FFFFFF"/>
                </a:solidFill>
                <a:latin typeface="Inter" pitchFamily="34" charset="0"/>
                <a:ea typeface="Inter" pitchFamily="34" charset="-122"/>
                <a:cs typeface="Inter" pitchFamily="34" charset="-120"/>
              </a:rPr>
              <a:t>Required, available, or waiting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HOW IT WORKS</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350" b="1" dirty="0">
                <a:solidFill>
                  <a:srgbClr val="151B30"/>
                </a:solidFill>
                <a:latin typeface="Inter" pitchFamily="34" charset="0"/>
                <a:ea typeface="Inter" pitchFamily="34" charset="-122"/>
                <a:cs typeface="Inter" pitchFamily="34" charset="-120"/>
              </a:rPr>
              <a:t>This is service code - not agent code.</a:t>
            </a:r>
            <a:endParaRPr lang="en-US" sz="3350" dirty="0"/>
          </a:p>
        </p:txBody>
      </p:sp>
      <p:sp>
        <p:nvSpPr>
          <p:cNvPr id="5" name="Shape 3"/>
          <p:cNvSpPr/>
          <p:nvPr/>
        </p:nvSpPr>
        <p:spPr>
          <a:xfrm>
            <a:off x="594360" y="6483096"/>
            <a:ext cx="11000232" cy="0"/>
          </a:xfrm>
          <a:prstGeom prst="line">
            <a:avLst/>
          </a:prstGeom>
          <a:noFill/>
          <a:ln w="6985">
            <a:solidFill>
              <a:srgbClr val="DCE2F0"/>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536079"/>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536079"/>
                </a:solidFill>
                <a:latin typeface="Inter" pitchFamily="34" charset="0"/>
                <a:ea typeface="Inter" pitchFamily="34" charset="-122"/>
                <a:cs typeface="Inter" pitchFamily="34" charset="-120"/>
              </a:rPr>
              <a:t>PRE-1.0 PROJECT PREVIEW  |  04</a:t>
            </a:r>
            <a:endParaRPr lang="en-US" sz="830" dirty="0"/>
          </a:p>
        </p:txBody>
      </p:sp>
      <p:sp>
        <p:nvSpPr>
          <p:cNvPr id="9" name="Text 6"/>
          <p:cNvSpPr/>
          <p:nvPr/>
        </p:nvSpPr>
        <p:spPr>
          <a:xfrm>
            <a:off x="621792" y="1499616"/>
            <a:ext cx="10972800" cy="292608"/>
          </a:xfrm>
          <a:prstGeom prst="rect">
            <a:avLst/>
          </a:prstGeom>
          <a:noFill/>
          <a:ln/>
        </p:spPr>
        <p:txBody>
          <a:bodyPr wrap="square" lIns="0" tIns="0" rIns="0" bIns="0" rtlCol="0" anchor="ctr">
            <a:spAutoFit/>
          </a:bodyPr>
          <a:lstStyle/>
          <a:p>
            <a:pPr indent="0" marL="0">
              <a:buNone/>
            </a:pPr>
            <a:r>
              <a:rPr lang="en-US" sz="1850" dirty="0">
                <a:solidFill>
                  <a:srgbClr val="536079"/>
                </a:solidFill>
                <a:latin typeface="Inter" pitchFamily="34" charset="0"/>
                <a:ea typeface="Inter" pitchFamily="34" charset="-122"/>
                <a:cs typeface="Inter" pitchFamily="34" charset="-120"/>
              </a:rPr>
              <a:t>Product-owned metadata becomes the interface consumers receive.</a:t>
            </a:r>
            <a:endParaRPr lang="en-US" sz="1850" dirty="0"/>
          </a:p>
        </p:txBody>
      </p:sp>
      <p:sp>
        <p:nvSpPr>
          <p:cNvPr id="10" name="Text 7"/>
          <p:cNvSpPr/>
          <p:nvPr/>
        </p:nvSpPr>
        <p:spPr>
          <a:xfrm>
            <a:off x="621792" y="1892808"/>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CAPTUREMEMBERSTEP  /  SELECTED FRAGMENTS; ... MARKS OMITTED CODE</a:t>
            </a:r>
            <a:endParaRPr lang="en-US" sz="1050" dirty="0"/>
          </a:p>
        </p:txBody>
      </p:sp>
      <p:sp>
        <p:nvSpPr>
          <p:cNvPr id="11" name="Shape 8"/>
          <p:cNvSpPr/>
          <p:nvPr/>
        </p:nvSpPr>
        <p:spPr>
          <a:xfrm>
            <a:off x="612648" y="2212848"/>
            <a:ext cx="6455664" cy="658368"/>
          </a:xfrm>
          <a:prstGeom prst="rect">
            <a:avLst/>
          </a:prstGeom>
          <a:solidFill>
            <a:srgbClr val="080C1E"/>
          </a:solidFill>
          <a:ln w="7620">
            <a:solidFill>
              <a:srgbClr val="080C1E"/>
            </a:solidFill>
            <a:prstDash val="solid"/>
          </a:ln>
        </p:spPr>
      </p:sp>
      <p:sp>
        <p:nvSpPr>
          <p:cNvPr id="12" name="Shape 9"/>
          <p:cNvSpPr/>
          <p:nvPr/>
        </p:nvSpPr>
        <p:spPr>
          <a:xfrm>
            <a:off x="612648" y="2212848"/>
            <a:ext cx="50292" cy="658368"/>
          </a:xfrm>
          <a:prstGeom prst="rect">
            <a:avLst/>
          </a:prstGeom>
          <a:solidFill>
            <a:srgbClr val="6257FA"/>
          </a:solidFill>
          <a:ln w="7620">
            <a:solidFill>
              <a:srgbClr val="6257FA"/>
            </a:solidFill>
            <a:prstDash val="solid"/>
          </a:ln>
        </p:spPr>
      </p:sp>
      <p:sp>
        <p:nvSpPr>
          <p:cNvPr id="13" name="Text 10"/>
          <p:cNvSpPr/>
          <p:nvPr/>
        </p:nvSpPr>
        <p:spPr>
          <a:xfrm>
            <a:off x="795528" y="2290572"/>
            <a:ext cx="6144768" cy="521208"/>
          </a:xfrm>
          <a:prstGeom prst="rect">
            <a:avLst/>
          </a:prstGeom>
          <a:noFill/>
          <a:ln/>
        </p:spPr>
        <p:txBody>
          <a:bodyPr wrap="square" lIns="0" tIns="0" rIns="0" bIns="0" rtlCol="0" anchor="ctr">
            <a:spAutoFit/>
          </a:bodyPr>
          <a:lstStyle/>
          <a:p>
            <a:pPr indent="0" marL="0">
              <a:buNone/>
            </a:pPr>
            <a:r>
              <a:rPr lang="en-US" sz="1650" dirty="0">
                <a:solidFill>
                  <a:srgbClr val="D7E2FF"/>
                </a:solidFill>
                <a:latin typeface="DejaVu Sans Mono" pitchFamily="34" charset="0"/>
                <a:ea typeface="DejaVu Sans Mono" pitchFamily="34" charset="-122"/>
                <a:cs typeface="DejaVu Sans Mono" pitchFamily="34" charset="-120"/>
              </a:rPr>
              <a:t>[ProcessStep(DisplayName =</a:t>
            </a:r>
            <a:endParaRPr lang="en-US" sz="1650" dirty="0"/>
          </a:p>
          <a:p>
            <a:pPr indent="0" marL="0">
              <a:buNone/>
            </a:pPr>
            <a:r>
              <a:rPr lang="en-US" sz="1650" dirty="0">
                <a:solidFill>
                  <a:srgbClr val="D7E2FF"/>
                </a:solidFill>
                <a:latin typeface="DejaVu Sans Mono" pitchFamily="34" charset="0"/>
                <a:ea typeface="DejaVu Sans Mono" pitchFamily="34" charset="-122"/>
                <a:cs typeface="DejaVu Sans Mono" pitchFamily="34" charset="-120"/>
              </a:rPr>
              <a:t>    "Intake - Capture Member", ...)]</a:t>
            </a:r>
            <a:endParaRPr lang="en-US" sz="1650" dirty="0"/>
          </a:p>
        </p:txBody>
      </p:sp>
      <p:sp>
        <p:nvSpPr>
          <p:cNvPr id="14" name="Text 11"/>
          <p:cNvSpPr/>
          <p:nvPr/>
        </p:nvSpPr>
        <p:spPr>
          <a:xfrm>
            <a:off x="7370064" y="2212848"/>
            <a:ext cx="411480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NAME THE ACTION</a:t>
            </a:r>
            <a:endParaRPr lang="en-US" sz="1050" dirty="0"/>
          </a:p>
        </p:txBody>
      </p:sp>
      <p:sp>
        <p:nvSpPr>
          <p:cNvPr id="15" name="Text 12"/>
          <p:cNvSpPr/>
          <p:nvPr/>
        </p:nvSpPr>
        <p:spPr>
          <a:xfrm>
            <a:off x="7370064" y="2414016"/>
            <a:ext cx="4178808" cy="246888"/>
          </a:xfrm>
          <a:prstGeom prst="rect">
            <a:avLst/>
          </a:prstGeom>
          <a:noFill/>
          <a:ln/>
        </p:spPr>
        <p:txBody>
          <a:bodyPr wrap="square" lIns="0" tIns="0" rIns="0" bIns="0" rtlCol="0" anchor="ctr">
            <a:spAutoFit/>
          </a:bodyPr>
          <a:lstStyle/>
          <a:p>
            <a:pPr indent="0" marL="0">
              <a:buNone/>
            </a:pPr>
            <a:r>
              <a:rPr lang="en-US" sz="1700" b="1" dirty="0">
                <a:solidFill>
                  <a:srgbClr val="151B30"/>
                </a:solidFill>
                <a:latin typeface="Inter" pitchFamily="34" charset="0"/>
                <a:ea typeface="Inter" pitchFamily="34" charset="-122"/>
                <a:cs typeface="Inter" pitchFamily="34" charset="-120"/>
              </a:rPr>
              <a:t>What the business action is.</a:t>
            </a:r>
            <a:endParaRPr lang="en-US" sz="1700" dirty="0"/>
          </a:p>
        </p:txBody>
      </p:sp>
      <p:sp>
        <p:nvSpPr>
          <p:cNvPr id="16" name="Text 13"/>
          <p:cNvSpPr/>
          <p:nvPr/>
        </p:nvSpPr>
        <p:spPr>
          <a:xfrm>
            <a:off x="7370064" y="2688336"/>
            <a:ext cx="4114800" cy="265176"/>
          </a:xfrm>
          <a:prstGeom prst="rect">
            <a:avLst/>
          </a:prstGeom>
          <a:noFill/>
          <a:ln/>
        </p:spPr>
        <p:txBody>
          <a:bodyPr wrap="square" lIns="0" tIns="0" rIns="0" bIns="0" rtlCol="0" anchor="ctr">
            <a:spAutoFit/>
          </a:bodyPr>
          <a:lstStyle/>
          <a:p>
            <a:pPr indent="0" marL="0">
              <a:buNone/>
            </a:pPr>
            <a:r>
              <a:rPr lang="en-US" sz="1300" dirty="0">
                <a:solidFill>
                  <a:srgbClr val="536079"/>
                </a:solidFill>
                <a:latin typeface="Inter" pitchFamily="34" charset="0"/>
                <a:ea typeface="Inter" pitchFamily="34" charset="-122"/>
                <a:cs typeface="Inter" pitchFamily="34" charset="-120"/>
              </a:rPr>
              <a:t>Its name and purpose come from the service.</a:t>
            </a:r>
            <a:endParaRPr lang="en-US" sz="1300" dirty="0"/>
          </a:p>
        </p:txBody>
      </p:sp>
      <p:sp>
        <p:nvSpPr>
          <p:cNvPr id="17" name="Shape 14"/>
          <p:cNvSpPr/>
          <p:nvPr/>
        </p:nvSpPr>
        <p:spPr>
          <a:xfrm>
            <a:off x="612648" y="3008376"/>
            <a:ext cx="6455664" cy="466344"/>
          </a:xfrm>
          <a:prstGeom prst="rect">
            <a:avLst/>
          </a:prstGeom>
          <a:solidFill>
            <a:srgbClr val="080C1E"/>
          </a:solidFill>
          <a:ln w="7620">
            <a:solidFill>
              <a:srgbClr val="080C1E"/>
            </a:solidFill>
            <a:prstDash val="solid"/>
          </a:ln>
        </p:spPr>
      </p:sp>
      <p:sp>
        <p:nvSpPr>
          <p:cNvPr id="18" name="Shape 15"/>
          <p:cNvSpPr/>
          <p:nvPr/>
        </p:nvSpPr>
        <p:spPr>
          <a:xfrm>
            <a:off x="612648" y="3008376"/>
            <a:ext cx="50292" cy="466344"/>
          </a:xfrm>
          <a:prstGeom prst="rect">
            <a:avLst/>
          </a:prstGeom>
          <a:solidFill>
            <a:srgbClr val="6257FA"/>
          </a:solidFill>
          <a:ln w="7620">
            <a:solidFill>
              <a:srgbClr val="6257FA"/>
            </a:solidFill>
            <a:prstDash val="solid"/>
          </a:ln>
        </p:spPr>
      </p:sp>
      <p:sp>
        <p:nvSpPr>
          <p:cNvPr id="19" name="Text 16"/>
          <p:cNvSpPr/>
          <p:nvPr/>
        </p:nvSpPr>
        <p:spPr>
          <a:xfrm>
            <a:off x="795528" y="3086100"/>
            <a:ext cx="6144768" cy="329184"/>
          </a:xfrm>
          <a:prstGeom prst="rect">
            <a:avLst/>
          </a:prstGeom>
          <a:noFill/>
          <a:ln/>
        </p:spPr>
        <p:txBody>
          <a:bodyPr wrap="square" lIns="0" tIns="0" rIns="0" bIns="0" rtlCol="0" anchor="ctr">
            <a:spAutoFit/>
          </a:bodyPr>
          <a:lstStyle/>
          <a:p>
            <a:pPr indent="0" marL="0">
              <a:buNone/>
            </a:pPr>
            <a:r>
              <a:rPr lang="en-US" sz="1650" dirty="0">
                <a:solidFill>
                  <a:srgbClr val="D7E2FF"/>
                </a:solidFill>
                <a:latin typeface="DejaVu Sans Mono" pitchFamily="34" charset="0"/>
                <a:ea typeface="DejaVu Sans Mono" pitchFamily="34" charset="-122"/>
                <a:cs typeface="DejaVu Sans Mono" pitchFamily="34" charset="-120"/>
              </a:rPr>
              <a:t>[AvailableAfter&lt;ValidateMemberStep&gt;]</a:t>
            </a:r>
            <a:endParaRPr lang="en-US" sz="1650" dirty="0"/>
          </a:p>
        </p:txBody>
      </p:sp>
      <p:sp>
        <p:nvSpPr>
          <p:cNvPr id="20" name="Text 17"/>
          <p:cNvSpPr/>
          <p:nvPr/>
        </p:nvSpPr>
        <p:spPr>
          <a:xfrm>
            <a:off x="7370064" y="3008376"/>
            <a:ext cx="411480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DECLARE AVAILABILITY</a:t>
            </a:r>
            <a:endParaRPr lang="en-US" sz="1050" dirty="0"/>
          </a:p>
        </p:txBody>
      </p:sp>
      <p:sp>
        <p:nvSpPr>
          <p:cNvPr id="21" name="Text 18"/>
          <p:cNvSpPr/>
          <p:nvPr/>
        </p:nvSpPr>
        <p:spPr>
          <a:xfrm>
            <a:off x="7370064" y="3209544"/>
            <a:ext cx="4178808" cy="246888"/>
          </a:xfrm>
          <a:prstGeom prst="rect">
            <a:avLst/>
          </a:prstGeom>
          <a:noFill/>
          <a:ln/>
        </p:spPr>
        <p:txBody>
          <a:bodyPr wrap="square" lIns="0" tIns="0" rIns="0" bIns="0" rtlCol="0" anchor="ctr">
            <a:spAutoFit/>
          </a:bodyPr>
          <a:lstStyle/>
          <a:p>
            <a:pPr indent="0" marL="0">
              <a:buNone/>
            </a:pPr>
            <a:r>
              <a:rPr lang="en-US" sz="1700" b="1" dirty="0">
                <a:solidFill>
                  <a:srgbClr val="151B30"/>
                </a:solidFill>
                <a:latin typeface="Inter" pitchFamily="34" charset="0"/>
                <a:ea typeface="Inter" pitchFamily="34" charset="-122"/>
                <a:cs typeface="Inter" pitchFamily="34" charset="-120"/>
              </a:rPr>
              <a:t>Validation must have completed.</a:t>
            </a:r>
            <a:endParaRPr lang="en-US" sz="1700" dirty="0"/>
          </a:p>
        </p:txBody>
      </p:sp>
      <p:sp>
        <p:nvSpPr>
          <p:cNvPr id="22" name="Shape 19"/>
          <p:cNvSpPr/>
          <p:nvPr/>
        </p:nvSpPr>
        <p:spPr>
          <a:xfrm>
            <a:off x="612648" y="3611880"/>
            <a:ext cx="6455664" cy="704088"/>
          </a:xfrm>
          <a:prstGeom prst="rect">
            <a:avLst/>
          </a:prstGeom>
          <a:solidFill>
            <a:srgbClr val="080C1E"/>
          </a:solidFill>
          <a:ln w="7620">
            <a:solidFill>
              <a:srgbClr val="080C1E"/>
            </a:solidFill>
            <a:prstDash val="solid"/>
          </a:ln>
        </p:spPr>
      </p:sp>
      <p:sp>
        <p:nvSpPr>
          <p:cNvPr id="23" name="Shape 20"/>
          <p:cNvSpPr/>
          <p:nvPr/>
        </p:nvSpPr>
        <p:spPr>
          <a:xfrm>
            <a:off x="612648" y="3611880"/>
            <a:ext cx="50292" cy="704088"/>
          </a:xfrm>
          <a:prstGeom prst="rect">
            <a:avLst/>
          </a:prstGeom>
          <a:solidFill>
            <a:srgbClr val="6257FA"/>
          </a:solidFill>
          <a:ln w="7620">
            <a:solidFill>
              <a:srgbClr val="6257FA"/>
            </a:solidFill>
            <a:prstDash val="solid"/>
          </a:ln>
        </p:spPr>
      </p:sp>
      <p:sp>
        <p:nvSpPr>
          <p:cNvPr id="24" name="Text 21"/>
          <p:cNvSpPr/>
          <p:nvPr/>
        </p:nvSpPr>
        <p:spPr>
          <a:xfrm>
            <a:off x="795528" y="3689604"/>
            <a:ext cx="6144768" cy="566928"/>
          </a:xfrm>
          <a:prstGeom prst="rect">
            <a:avLst/>
          </a:prstGeom>
          <a:noFill/>
          <a:ln/>
        </p:spPr>
        <p:txBody>
          <a:bodyPr wrap="square" lIns="0" tIns="0" rIns="0" bIns="0" rtlCol="0" anchor="ctr">
            <a:spAutoFit/>
          </a:bodyPr>
          <a:lstStyle/>
          <a:p>
            <a:pPr indent="0" marL="0">
              <a:buNone/>
            </a:pPr>
            <a:r>
              <a:rPr lang="en-US" sz="1650" dirty="0">
                <a:solidFill>
                  <a:srgbClr val="D7E2FF"/>
                </a:solidFill>
                <a:latin typeface="DejaVu Sans Mono" pitchFamily="34" charset="0"/>
                <a:ea typeface="DejaVu Sans Mono" pitchFamily="34" charset="-122"/>
                <a:cs typeface="DejaVu Sans Mono" pitchFamily="34" charset="-120"/>
              </a:rPr>
              <a:t>[Display(Name = "Date of service",</a:t>
            </a:r>
            <a:endParaRPr lang="en-US" sz="1650" dirty="0"/>
          </a:p>
          <a:p>
            <a:pPr indent="0" marL="0">
              <a:buNone/>
            </a:pPr>
            <a:r>
              <a:rPr lang="en-US" sz="1650" dirty="0">
                <a:solidFill>
                  <a:srgbClr val="D7E2FF"/>
                </a:solidFill>
                <a:latin typeface="DejaVu Sans Mono" pitchFamily="34" charset="0"/>
                <a:ea typeface="DejaVu Sans Mono" pitchFamily="34" charset="-122"/>
                <a:cs typeface="DejaVu Sans Mono" pitchFamily="34" charset="-120"/>
              </a:rPr>
              <a:t>    Prompt = "What is the date of service?")]</a:t>
            </a:r>
            <a:endParaRPr lang="en-US" sz="1650" dirty="0"/>
          </a:p>
        </p:txBody>
      </p:sp>
      <p:sp>
        <p:nvSpPr>
          <p:cNvPr id="25" name="Text 22"/>
          <p:cNvSpPr/>
          <p:nvPr/>
        </p:nvSpPr>
        <p:spPr>
          <a:xfrm>
            <a:off x="7370064" y="3611880"/>
            <a:ext cx="411480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DESCRIBE THE INPUT</a:t>
            </a:r>
            <a:endParaRPr lang="en-US" sz="1050" dirty="0"/>
          </a:p>
        </p:txBody>
      </p:sp>
      <p:sp>
        <p:nvSpPr>
          <p:cNvPr id="26" name="Text 23"/>
          <p:cNvSpPr/>
          <p:nvPr/>
        </p:nvSpPr>
        <p:spPr>
          <a:xfrm>
            <a:off x="7370064" y="3813048"/>
            <a:ext cx="4178808" cy="246888"/>
          </a:xfrm>
          <a:prstGeom prst="rect">
            <a:avLst/>
          </a:prstGeom>
          <a:noFill/>
          <a:ln/>
        </p:spPr>
        <p:txBody>
          <a:bodyPr wrap="square" lIns="0" tIns="0" rIns="0" bIns="0" rtlCol="0" anchor="ctr">
            <a:spAutoFit/>
          </a:bodyPr>
          <a:lstStyle/>
          <a:p>
            <a:pPr indent="0" marL="0">
              <a:buNone/>
            </a:pPr>
            <a:r>
              <a:rPr lang="en-US" sz="1700" b="1" dirty="0">
                <a:solidFill>
                  <a:srgbClr val="151B30"/>
                </a:solidFill>
                <a:latin typeface="Inter" pitchFamily="34" charset="0"/>
                <a:ea typeface="Inter" pitchFamily="34" charset="-122"/>
                <a:cs typeface="Inter" pitchFamily="34" charset="-120"/>
              </a:rPr>
              <a:t>Supply its label and prompt.</a:t>
            </a:r>
            <a:endParaRPr lang="en-US" sz="1700" dirty="0"/>
          </a:p>
        </p:txBody>
      </p:sp>
      <p:sp>
        <p:nvSpPr>
          <p:cNvPr id="27" name="Text 24"/>
          <p:cNvSpPr/>
          <p:nvPr/>
        </p:nvSpPr>
        <p:spPr>
          <a:xfrm>
            <a:off x="7370064" y="4087368"/>
            <a:ext cx="4114800" cy="265176"/>
          </a:xfrm>
          <a:prstGeom prst="rect">
            <a:avLst/>
          </a:prstGeom>
          <a:noFill/>
          <a:ln/>
        </p:spPr>
        <p:txBody>
          <a:bodyPr wrap="square" lIns="0" tIns="0" rIns="0" bIns="0" rtlCol="0" anchor="ctr">
            <a:spAutoFit/>
          </a:bodyPr>
          <a:lstStyle/>
          <a:p>
            <a:pPr indent="0" marL="0">
              <a:buNone/>
            </a:pPr>
            <a:r>
              <a:rPr lang="en-US" sz="1300" dirty="0">
                <a:solidFill>
                  <a:srgbClr val="536079"/>
                </a:solidFill>
                <a:latin typeface="Inter" pitchFamily="34" charset="0"/>
                <a:ea typeface="Inter" pitchFamily="34" charset="-122"/>
                <a:cs typeface="Inter" pitchFamily="34" charset="-120"/>
              </a:rPr>
              <a:t>The interaction wording is service-owned.</a:t>
            </a:r>
            <a:endParaRPr lang="en-US" sz="1300" dirty="0"/>
          </a:p>
        </p:txBody>
      </p:sp>
      <p:sp>
        <p:nvSpPr>
          <p:cNvPr id="28" name="Shape 25"/>
          <p:cNvSpPr/>
          <p:nvPr/>
        </p:nvSpPr>
        <p:spPr>
          <a:xfrm>
            <a:off x="612648" y="4462272"/>
            <a:ext cx="6455664" cy="960120"/>
          </a:xfrm>
          <a:prstGeom prst="rect">
            <a:avLst/>
          </a:prstGeom>
          <a:solidFill>
            <a:srgbClr val="080C1E"/>
          </a:solidFill>
          <a:ln w="7620">
            <a:solidFill>
              <a:srgbClr val="080C1E"/>
            </a:solidFill>
            <a:prstDash val="solid"/>
          </a:ln>
        </p:spPr>
      </p:sp>
      <p:sp>
        <p:nvSpPr>
          <p:cNvPr id="29" name="Shape 26"/>
          <p:cNvSpPr/>
          <p:nvPr/>
        </p:nvSpPr>
        <p:spPr>
          <a:xfrm>
            <a:off x="612648" y="4462272"/>
            <a:ext cx="50292" cy="960120"/>
          </a:xfrm>
          <a:prstGeom prst="rect">
            <a:avLst/>
          </a:prstGeom>
          <a:solidFill>
            <a:srgbClr val="19C4A7"/>
          </a:solidFill>
          <a:ln w="7620">
            <a:solidFill>
              <a:srgbClr val="19C4A7"/>
            </a:solidFill>
            <a:prstDash val="solid"/>
          </a:ln>
        </p:spPr>
      </p:sp>
      <p:sp>
        <p:nvSpPr>
          <p:cNvPr id="30" name="Text 27"/>
          <p:cNvSpPr/>
          <p:nvPr/>
        </p:nvSpPr>
        <p:spPr>
          <a:xfrm>
            <a:off x="795528" y="4539996"/>
            <a:ext cx="6144768" cy="822960"/>
          </a:xfrm>
          <a:prstGeom prst="rect">
            <a:avLst/>
          </a:prstGeom>
          <a:noFill/>
          <a:ln/>
        </p:spPr>
        <p:txBody>
          <a:bodyPr wrap="square" lIns="0" tIns="0" rIns="0" bIns="0" rtlCol="0" anchor="ctr">
            <a:spAutoFit/>
          </a:bodyPr>
          <a:lstStyle/>
          <a:p>
            <a:pPr indent="0" marL="0">
              <a:buNone/>
            </a:pPr>
            <a:r>
              <a:rPr lang="en-US" sz="1650" dirty="0">
                <a:solidFill>
                  <a:srgbClr val="D7E2FF"/>
                </a:solidFill>
                <a:latin typeface="DejaVu Sans Mono" pitchFamily="34" charset="0"/>
                <a:ea typeface="DejaVu Sans Mono" pitchFamily="34" charset="-122"/>
                <a:cs typeface="DejaVu Sans Mono" pitchFamily="34" charset="-120"/>
              </a:rPr>
              <a:t>[Lookup(Service = "member",</a:t>
            </a:r>
            <a:endParaRPr lang="en-US" sz="1650" dirty="0"/>
          </a:p>
          <a:p>
            <a:pPr indent="0" marL="0">
              <a:buNone/>
            </a:pPr>
            <a:r>
              <a:rPr lang="en-US" sz="1650" dirty="0">
                <a:solidFill>
                  <a:srgbClr val="D7E2FF"/>
                </a:solidFill>
                <a:latin typeface="DejaVu Sans Mono" pitchFamily="34" charset="0"/>
                <a:ea typeface="DejaVu Sans Mono" pitchFamily="34" charset="-122"/>
                <a:cs typeface="DejaVu Sans Mono" pitchFamily="34" charset="-120"/>
              </a:rPr>
              <a:t>    View = nameof(MemberSearchViewSource),</a:t>
            </a:r>
            <a:endParaRPr lang="en-US" sz="1650" dirty="0"/>
          </a:p>
          <a:p>
            <a:pPr indent="0" marL="0">
              <a:buNone/>
            </a:pPr>
            <a:r>
              <a:rPr lang="en-US" sz="1650" dirty="0">
                <a:solidFill>
                  <a:srgbClr val="D7E2FF"/>
                </a:solidFill>
                <a:latin typeface="DejaVu Sans Mono" pitchFamily="34" charset="0"/>
                <a:ea typeface="DejaVu Sans Mono" pitchFamily="34" charset="-122"/>
                <a:cs typeface="DejaVu Sans Mono" pitchFamily="34" charset="-120"/>
              </a:rPr>
              <a:t>    Field = "MemberId", ...)]</a:t>
            </a:r>
            <a:endParaRPr lang="en-US" sz="1650" dirty="0"/>
          </a:p>
        </p:txBody>
      </p:sp>
      <p:sp>
        <p:nvSpPr>
          <p:cNvPr id="31" name="Text 28"/>
          <p:cNvSpPr/>
          <p:nvPr/>
        </p:nvSpPr>
        <p:spPr>
          <a:xfrm>
            <a:off x="7370064" y="4462272"/>
            <a:ext cx="411480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IDENTIFY THE LOOKUP</a:t>
            </a:r>
            <a:endParaRPr lang="en-US" sz="1050" dirty="0"/>
          </a:p>
        </p:txBody>
      </p:sp>
      <p:sp>
        <p:nvSpPr>
          <p:cNvPr id="32" name="Text 29"/>
          <p:cNvSpPr/>
          <p:nvPr/>
        </p:nvSpPr>
        <p:spPr>
          <a:xfrm>
            <a:off x="7370064" y="4663440"/>
            <a:ext cx="4178808" cy="246888"/>
          </a:xfrm>
          <a:prstGeom prst="rect">
            <a:avLst/>
          </a:prstGeom>
          <a:noFill/>
          <a:ln/>
        </p:spPr>
        <p:txBody>
          <a:bodyPr wrap="square" lIns="0" tIns="0" rIns="0" bIns="0" rtlCol="0" anchor="ctr">
            <a:spAutoFit/>
          </a:bodyPr>
          <a:lstStyle/>
          <a:p>
            <a:pPr indent="0" marL="0">
              <a:buNone/>
            </a:pPr>
            <a:r>
              <a:rPr lang="en-US" sz="1700" b="1" dirty="0">
                <a:solidFill>
                  <a:srgbClr val="151B30"/>
                </a:solidFill>
                <a:latin typeface="Inter" pitchFamily="34" charset="0"/>
                <a:ea typeface="Inter" pitchFamily="34" charset="-122"/>
                <a:cs typeface="Inter" pitchFamily="34" charset="-120"/>
              </a:rPr>
              <a:t>Say where the value comes from.</a:t>
            </a:r>
            <a:endParaRPr lang="en-US" sz="1700" dirty="0"/>
          </a:p>
        </p:txBody>
      </p:sp>
      <p:sp>
        <p:nvSpPr>
          <p:cNvPr id="33" name="Text 30"/>
          <p:cNvSpPr/>
          <p:nvPr/>
        </p:nvSpPr>
        <p:spPr>
          <a:xfrm>
            <a:off x="7370064" y="4937760"/>
            <a:ext cx="4114800" cy="265176"/>
          </a:xfrm>
          <a:prstGeom prst="rect">
            <a:avLst/>
          </a:prstGeom>
          <a:noFill/>
          <a:ln/>
        </p:spPr>
        <p:txBody>
          <a:bodyPr wrap="square" lIns="0" tIns="0" rIns="0" bIns="0" rtlCol="0" anchor="ctr">
            <a:spAutoFit/>
          </a:bodyPr>
          <a:lstStyle/>
          <a:p>
            <a:pPr indent="0" marL="0">
              <a:buNone/>
            </a:pPr>
            <a:r>
              <a:rPr lang="en-US" sz="1300" dirty="0">
                <a:solidFill>
                  <a:srgbClr val="536079"/>
                </a:solidFill>
                <a:latin typeface="Inter" pitchFamily="34" charset="0"/>
                <a:ea typeface="Inter" pitchFamily="34" charset="-122"/>
                <a:cs typeface="Inter" pitchFamily="34" charset="-120"/>
              </a:rPr>
              <a:t>Member Search and its MemberId field.</a:t>
            </a:r>
            <a:endParaRPr lang="en-US" sz="1300" dirty="0"/>
          </a:p>
        </p:txBody>
      </p:sp>
      <p:sp>
        <p:nvSpPr>
          <p:cNvPr id="34" name="Text 31"/>
          <p:cNvSpPr/>
          <p:nvPr/>
        </p:nvSpPr>
        <p:spPr>
          <a:xfrm>
            <a:off x="640080" y="5586984"/>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WHEN THE ACTION IS CALLED</a:t>
            </a:r>
            <a:endParaRPr lang="en-US" sz="1050" dirty="0"/>
          </a:p>
        </p:txBody>
      </p:sp>
      <p:pic>
        <p:nvPicPr>
          <p:cNvPr id="35" name="Image 1" descr="01 runtime">    </p:cNvPr>
          <p:cNvPicPr>
            <a:picLocks noChangeAspect="1"/>
          </p:cNvPicPr>
          <p:nvPr/>
        </p:nvPicPr>
        <p:blipFill>
          <a:blip r:embed="rId2"/>
          <a:stretch>
            <a:fillRect/>
          </a:stretch>
        </p:blipFill>
        <p:spPr>
          <a:xfrm>
            <a:off x="1724802" y="5870448"/>
            <a:ext cx="8711916" cy="5120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WHY AI-NATIVE MATTERS</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500" b="1" dirty="0">
                <a:solidFill>
                  <a:srgbClr val="FFFFFF"/>
                </a:solidFill>
                <a:latin typeface="Inter" pitchFamily="34" charset="0"/>
                <a:ea typeface="Inter" pitchFamily="34" charset="-122"/>
                <a:cs typeface="Inter" pitchFamily="34" charset="-120"/>
              </a:rPr>
              <a:t>Connect the agent.</a:t>
            </a:r>
            <a:endParaRPr lang="en-US" sz="3500" dirty="0"/>
          </a:p>
          <a:p>
            <a:pPr indent="0" marL="0">
              <a:buNone/>
            </a:pPr>
            <a:r>
              <a:rPr lang="en-US" sz="3500" b="1" dirty="0">
                <a:solidFill>
                  <a:srgbClr val="FFFFFF"/>
                </a:solidFill>
                <a:latin typeface="Inter" pitchFamily="34" charset="0"/>
                <a:ea typeface="Inter" pitchFamily="34" charset="-122"/>
                <a:cs typeface="Inter" pitchFamily="34" charset="-120"/>
              </a:rPr>
              <a:t>Kaleido supplies the guidance.</a:t>
            </a:r>
            <a:endParaRPr lang="en-US" sz="3500" dirty="0"/>
          </a:p>
        </p:txBody>
      </p:sp>
      <p:sp>
        <p:nvSpPr>
          <p:cNvPr id="5" name="Shape 3"/>
          <p:cNvSpPr/>
          <p:nvPr/>
        </p:nvSpPr>
        <p:spPr>
          <a:xfrm>
            <a:off x="594360" y="6483096"/>
            <a:ext cx="11000232" cy="0"/>
          </a:xfrm>
          <a:prstGeom prst="line">
            <a:avLst/>
          </a:prstGeom>
          <a:noFill/>
          <a:ln w="6985">
            <a:solidFill>
              <a:srgbClr val="2D3652"/>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B7C2D8"/>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B7C2D8"/>
                </a:solidFill>
                <a:latin typeface="Inter" pitchFamily="34" charset="0"/>
                <a:ea typeface="Inter" pitchFamily="34" charset="-122"/>
                <a:cs typeface="Inter" pitchFamily="34" charset="-120"/>
              </a:rPr>
              <a:t>PRE-1.0 PROJECT PREVIEW  |  05</a:t>
            </a:r>
            <a:endParaRPr lang="en-US" sz="830" dirty="0"/>
          </a:p>
        </p:txBody>
      </p:sp>
      <p:sp>
        <p:nvSpPr>
          <p:cNvPr id="9" name="Text 6"/>
          <p:cNvSpPr/>
          <p:nvPr/>
        </p:nvSpPr>
        <p:spPr>
          <a:xfrm>
            <a:off x="621792" y="1847088"/>
            <a:ext cx="10881360" cy="310896"/>
          </a:xfrm>
          <a:prstGeom prst="rect">
            <a:avLst/>
          </a:prstGeom>
          <a:noFill/>
          <a:ln/>
        </p:spPr>
        <p:txBody>
          <a:bodyPr wrap="square" lIns="0" tIns="0" rIns="0" bIns="0" rtlCol="0" anchor="ctr">
            <a:spAutoFit/>
          </a:bodyPr>
          <a:lstStyle/>
          <a:p>
            <a:pPr indent="0" marL="0">
              <a:buNone/>
            </a:pPr>
            <a:r>
              <a:rPr lang="en-US" sz="1800" dirty="0">
                <a:solidFill>
                  <a:srgbClr val="B7C2D8"/>
                </a:solidFill>
                <a:latin typeface="Inter" pitchFamily="34" charset="0"/>
                <a:ea typeface="Inter" pitchFamily="34" charset="-122"/>
                <a:cs typeface="Inter" pitchFamily="34" charset="-120"/>
              </a:rPr>
              <a:t>No product-specific workflow implementation inside the agent.</a:t>
            </a:r>
            <a:endParaRPr lang="en-US" sz="1800" dirty="0"/>
          </a:p>
        </p:txBody>
      </p:sp>
      <p:sp>
        <p:nvSpPr>
          <p:cNvPr id="10" name="Text 7"/>
          <p:cNvSpPr/>
          <p:nvPr/>
        </p:nvSpPr>
        <p:spPr>
          <a:xfrm>
            <a:off x="640080" y="2496312"/>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THROUGH MCP: TOOLS + SCHEMAS + INSTRUCTIONS + CONTINUATION</a:t>
            </a:r>
            <a:endParaRPr lang="en-US" sz="1050" dirty="0"/>
          </a:p>
        </p:txBody>
      </p:sp>
      <p:pic>
        <p:nvPicPr>
          <p:cNvPr id="11" name="Image 1" descr="02 mcp guidance">    </p:cNvPr>
          <p:cNvPicPr>
            <a:picLocks noChangeAspect="1"/>
          </p:cNvPicPr>
          <p:nvPr/>
        </p:nvPicPr>
        <p:blipFill>
          <a:blip r:embed="rId2"/>
          <a:stretch>
            <a:fillRect/>
          </a:stretch>
        </p:blipFill>
        <p:spPr>
          <a:xfrm>
            <a:off x="700909" y="2907792"/>
            <a:ext cx="10805422" cy="1161288"/>
          </a:xfrm>
          <a:prstGeom prst="rect">
            <a:avLst/>
          </a:prstGeom>
        </p:spPr>
      </p:pic>
      <p:sp>
        <p:nvSpPr>
          <p:cNvPr id="12" name="Shape 8"/>
          <p:cNvSpPr/>
          <p:nvPr/>
        </p:nvSpPr>
        <p:spPr>
          <a:xfrm>
            <a:off x="685800" y="4590288"/>
            <a:ext cx="3108960" cy="0"/>
          </a:xfrm>
          <a:prstGeom prst="line">
            <a:avLst/>
          </a:prstGeom>
          <a:noFill/>
          <a:ln w="25400">
            <a:solidFill>
              <a:srgbClr val="9C8FFF"/>
            </a:solidFill>
            <a:prstDash val="solid"/>
            <a:headEnd type="none"/>
            <a:tailEnd type="none"/>
          </a:ln>
        </p:spPr>
      </p:sp>
      <p:sp>
        <p:nvSpPr>
          <p:cNvPr id="13" name="Text 9"/>
          <p:cNvSpPr/>
          <p:nvPr/>
        </p:nvSpPr>
        <p:spPr>
          <a:xfrm>
            <a:off x="685800" y="4828032"/>
            <a:ext cx="3319272" cy="356616"/>
          </a:xfrm>
          <a:prstGeom prst="rect">
            <a:avLst/>
          </a:prstGeom>
          <a:noFill/>
          <a:ln/>
        </p:spPr>
        <p:txBody>
          <a:bodyPr wrap="square" lIns="0" tIns="0" rIns="0" bIns="0" rtlCol="0" anchor="ctr">
            <a:spAutoFit/>
          </a:bodyPr>
          <a:lstStyle/>
          <a:p>
            <a:pPr indent="0" marL="0">
              <a:buNone/>
            </a:pPr>
            <a:r>
              <a:rPr lang="en-US" sz="2120" b="1" dirty="0">
                <a:solidFill>
                  <a:srgbClr val="FFFFFF"/>
                </a:solidFill>
                <a:latin typeface="Inter" pitchFamily="34" charset="0"/>
                <a:ea typeface="Inter" pitchFamily="34" charset="-122"/>
                <a:cs typeface="Inter" pitchFamily="34" charset="-120"/>
              </a:rPr>
              <a:t>Start small.</a:t>
            </a:r>
            <a:endParaRPr lang="en-US" sz="2120" dirty="0"/>
          </a:p>
        </p:txBody>
      </p:sp>
      <p:sp>
        <p:nvSpPr>
          <p:cNvPr id="14" name="Text 10"/>
          <p:cNvSpPr/>
          <p:nvPr/>
        </p:nvSpPr>
        <p:spPr>
          <a:xfrm>
            <a:off x="685800" y="5404104"/>
            <a:ext cx="3273552" cy="530352"/>
          </a:xfrm>
          <a:prstGeom prst="rect">
            <a:avLst/>
          </a:prstGeom>
          <a:noFill/>
          <a:ln/>
        </p:spPr>
        <p:txBody>
          <a:bodyPr wrap="square" lIns="0" tIns="0" rIns="0" bIns="0" rtlCol="0" anchor="t">
            <a:spAutoFit/>
          </a:bodyPr>
          <a:lstStyle/>
          <a:p>
            <a:pPr indent="0" marL="0">
              <a:buNone/>
            </a:pPr>
            <a:r>
              <a:rPr lang="en-US" sz="1690" dirty="0">
                <a:solidFill>
                  <a:srgbClr val="B7C2D8"/>
                </a:solidFill>
                <a:latin typeface="Inter" pitchFamily="34" charset="0"/>
                <a:ea typeface="Inter" pitchFamily="34" charset="-122"/>
                <a:cs typeface="Inter" pitchFamily="34" charset="-120"/>
              </a:rPr>
              <a:t>Entry points and</a:t>
            </a:r>
            <a:endParaRPr lang="en-US" sz="1690" dirty="0"/>
          </a:p>
          <a:p>
            <a:pPr indent="0" marL="0">
              <a:buNone/>
            </a:pPr>
            <a:r>
              <a:rPr lang="en-US" sz="1690" dirty="0">
                <a:solidFill>
                  <a:srgbClr val="B7C2D8"/>
                </a:solidFill>
                <a:latin typeface="Inter" pitchFamily="34" charset="0"/>
                <a:ea typeface="Inter" pitchFamily="34" charset="-122"/>
                <a:cs typeface="Inter" pitchFamily="34" charset="-120"/>
              </a:rPr>
              <a:t>generic helpers.</a:t>
            </a:r>
            <a:endParaRPr lang="en-US" sz="1690" dirty="0"/>
          </a:p>
        </p:txBody>
      </p:sp>
      <p:sp>
        <p:nvSpPr>
          <p:cNvPr id="15" name="Shape 11"/>
          <p:cNvSpPr/>
          <p:nvPr/>
        </p:nvSpPr>
        <p:spPr>
          <a:xfrm>
            <a:off x="4489704" y="4590288"/>
            <a:ext cx="3108960" cy="0"/>
          </a:xfrm>
          <a:prstGeom prst="line">
            <a:avLst/>
          </a:prstGeom>
          <a:noFill/>
          <a:ln w="25400">
            <a:solidFill>
              <a:srgbClr val="21B6D7"/>
            </a:solidFill>
            <a:prstDash val="solid"/>
            <a:headEnd type="none"/>
            <a:tailEnd type="none"/>
          </a:ln>
        </p:spPr>
      </p:sp>
      <p:sp>
        <p:nvSpPr>
          <p:cNvPr id="16" name="Text 12"/>
          <p:cNvSpPr/>
          <p:nvPr/>
        </p:nvSpPr>
        <p:spPr>
          <a:xfrm>
            <a:off x="4489704" y="4828032"/>
            <a:ext cx="3319272" cy="356616"/>
          </a:xfrm>
          <a:prstGeom prst="rect">
            <a:avLst/>
          </a:prstGeom>
          <a:noFill/>
          <a:ln/>
        </p:spPr>
        <p:txBody>
          <a:bodyPr wrap="square" lIns="0" tIns="0" rIns="0" bIns="0" rtlCol="0" anchor="ctr">
            <a:spAutoFit/>
          </a:bodyPr>
          <a:lstStyle/>
          <a:p>
            <a:pPr indent="0" marL="0">
              <a:buNone/>
            </a:pPr>
            <a:r>
              <a:rPr lang="en-US" sz="2120" b="1" dirty="0">
                <a:solidFill>
                  <a:srgbClr val="FFFFFF"/>
                </a:solidFill>
                <a:latin typeface="Inter" pitchFamily="34" charset="0"/>
                <a:ea typeface="Inter" pitchFamily="34" charset="-122"/>
                <a:cs typeface="Inter" pitchFamily="34" charset="-120"/>
              </a:rPr>
              <a:t>Get details on demand.</a:t>
            </a:r>
            <a:endParaRPr lang="en-US" sz="2120" dirty="0"/>
          </a:p>
        </p:txBody>
      </p:sp>
      <p:sp>
        <p:nvSpPr>
          <p:cNvPr id="17" name="Text 13"/>
          <p:cNvSpPr/>
          <p:nvPr/>
        </p:nvSpPr>
        <p:spPr>
          <a:xfrm>
            <a:off x="4489704" y="5404104"/>
            <a:ext cx="3273552" cy="530352"/>
          </a:xfrm>
          <a:prstGeom prst="rect">
            <a:avLst/>
          </a:prstGeom>
          <a:noFill/>
          <a:ln/>
        </p:spPr>
        <p:txBody>
          <a:bodyPr wrap="square" lIns="0" tIns="0" rIns="0" bIns="0" rtlCol="0" anchor="t">
            <a:spAutoFit/>
          </a:bodyPr>
          <a:lstStyle/>
          <a:p>
            <a:pPr indent="0" marL="0">
              <a:buNone/>
            </a:pPr>
            <a:r>
              <a:rPr lang="en-US" sz="1690" dirty="0">
                <a:solidFill>
                  <a:srgbClr val="B7C2D8"/>
                </a:solidFill>
                <a:latin typeface="Inter" pitchFamily="34" charset="0"/>
                <a:ea typeface="Inter" pitchFamily="34" charset="-122"/>
                <a:cs typeface="Inter" pitchFamily="34" charset="-120"/>
              </a:rPr>
              <a:t>Next can describe actions</a:t>
            </a:r>
            <a:endParaRPr lang="en-US" sz="1690" dirty="0"/>
          </a:p>
          <a:p>
            <a:pPr indent="0" marL="0">
              <a:buNone/>
            </a:pPr>
            <a:r>
              <a:rPr lang="en-US" sz="1690" dirty="0">
                <a:solidFill>
                  <a:srgbClr val="B7C2D8"/>
                </a:solidFill>
                <a:latin typeface="Inter" pitchFamily="34" charset="0"/>
                <a:ea typeface="Inter" pitchFamily="34" charset="-122"/>
                <a:cs typeface="Inter" pitchFamily="34" charset="-120"/>
              </a:rPr>
              <a:t>not on the starting list.</a:t>
            </a:r>
            <a:endParaRPr lang="en-US" sz="1690" dirty="0"/>
          </a:p>
        </p:txBody>
      </p:sp>
      <p:sp>
        <p:nvSpPr>
          <p:cNvPr id="18" name="Shape 14"/>
          <p:cNvSpPr/>
          <p:nvPr/>
        </p:nvSpPr>
        <p:spPr>
          <a:xfrm>
            <a:off x="8302752" y="4590288"/>
            <a:ext cx="3108960" cy="0"/>
          </a:xfrm>
          <a:prstGeom prst="line">
            <a:avLst/>
          </a:prstGeom>
          <a:noFill/>
          <a:ln w="25400">
            <a:solidFill>
              <a:srgbClr val="19C4A7"/>
            </a:solidFill>
            <a:prstDash val="solid"/>
            <a:headEnd type="none"/>
            <a:tailEnd type="none"/>
          </a:ln>
        </p:spPr>
      </p:sp>
      <p:sp>
        <p:nvSpPr>
          <p:cNvPr id="19" name="Text 15"/>
          <p:cNvSpPr/>
          <p:nvPr/>
        </p:nvSpPr>
        <p:spPr>
          <a:xfrm>
            <a:off x="8302752" y="4828032"/>
            <a:ext cx="3319272" cy="356616"/>
          </a:xfrm>
          <a:prstGeom prst="rect">
            <a:avLst/>
          </a:prstGeom>
          <a:noFill/>
          <a:ln/>
        </p:spPr>
        <p:txBody>
          <a:bodyPr wrap="square" lIns="0" tIns="0" rIns="0" bIns="0" rtlCol="0" anchor="ctr">
            <a:spAutoFit/>
          </a:bodyPr>
          <a:lstStyle/>
          <a:p>
            <a:pPr indent="0" marL="0">
              <a:buNone/>
            </a:pPr>
            <a:r>
              <a:rPr lang="en-US" sz="2120" b="1" dirty="0">
                <a:solidFill>
                  <a:srgbClr val="FFFFFF"/>
                </a:solidFill>
                <a:latin typeface="Inter" pitchFamily="34" charset="0"/>
                <a:ea typeface="Inter" pitchFamily="34" charset="-122"/>
                <a:cs typeface="Inter" pitchFamily="34" charset="-120"/>
              </a:rPr>
              <a:t>Continue from state.</a:t>
            </a:r>
            <a:endParaRPr lang="en-US" sz="2120" dirty="0"/>
          </a:p>
        </p:txBody>
      </p:sp>
      <p:sp>
        <p:nvSpPr>
          <p:cNvPr id="20" name="Text 16"/>
          <p:cNvSpPr/>
          <p:nvPr/>
        </p:nvSpPr>
        <p:spPr>
          <a:xfrm>
            <a:off x="8302752" y="5404104"/>
            <a:ext cx="3273552" cy="530352"/>
          </a:xfrm>
          <a:prstGeom prst="rect">
            <a:avLst/>
          </a:prstGeom>
          <a:noFill/>
          <a:ln/>
        </p:spPr>
        <p:txBody>
          <a:bodyPr wrap="square" lIns="0" tIns="0" rIns="0" bIns="0" rtlCol="0" anchor="t">
            <a:spAutoFit/>
          </a:bodyPr>
          <a:lstStyle/>
          <a:p>
            <a:pPr indent="0" marL="0">
              <a:buNone/>
            </a:pPr>
            <a:r>
              <a:rPr lang="en-US" sz="1690" dirty="0">
                <a:solidFill>
                  <a:srgbClr val="B7C2D8"/>
                </a:solidFill>
                <a:latin typeface="Inter" pitchFamily="34" charset="0"/>
                <a:ea typeface="Inter" pitchFamily="34" charset="-122"/>
                <a:cs typeface="Inter" pitchFamily="34" charset="-120"/>
              </a:rPr>
              <a:t>Required steps, choices,</a:t>
            </a:r>
            <a:endParaRPr lang="en-US" sz="1690" dirty="0"/>
          </a:p>
          <a:p>
            <a:pPr indent="0" marL="0">
              <a:buNone/>
            </a:pPr>
            <a:r>
              <a:rPr lang="en-US" sz="1690" dirty="0">
                <a:solidFill>
                  <a:srgbClr val="B7C2D8"/>
                </a:solidFill>
                <a:latin typeface="Inter" pitchFamily="34" charset="0"/>
                <a:ea typeface="Inter" pitchFamily="34" charset="-122"/>
                <a:cs typeface="Inter" pitchFamily="34" charset="-120"/>
              </a:rPr>
              <a:t>questions and handoffs.</a:t>
            </a:r>
            <a:endParaRPr lang="en-US" sz="16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DELIVERY AND DEPLOYMENT</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400" b="1" dirty="0">
                <a:solidFill>
                  <a:srgbClr val="151B30"/>
                </a:solidFill>
                <a:latin typeface="Inter" pitchFamily="34" charset="0"/>
                <a:ea typeface="Inter" pitchFamily="34" charset="-122"/>
                <a:cs typeface="Inter" pitchFamily="34" charset="-120"/>
              </a:rPr>
              <a:t>Change the service.</a:t>
            </a:r>
            <a:endParaRPr lang="en-US" sz="3400" dirty="0"/>
          </a:p>
          <a:p>
            <a:pPr indent="0" marL="0">
              <a:buNone/>
            </a:pPr>
            <a:r>
              <a:rPr lang="en-US" sz="3400" b="1" dirty="0">
                <a:solidFill>
                  <a:srgbClr val="151B30"/>
                </a:solidFill>
                <a:latin typeface="Inter" pitchFamily="34" charset="0"/>
                <a:ea typeface="Inter" pitchFamily="34" charset="-122"/>
                <a:cs typeface="Inter" pitchFamily="34" charset="-120"/>
              </a:rPr>
              <a:t>Add products, not agent integrations.</a:t>
            </a:r>
            <a:endParaRPr lang="en-US" sz="3400" dirty="0"/>
          </a:p>
        </p:txBody>
      </p:sp>
      <p:sp>
        <p:nvSpPr>
          <p:cNvPr id="5" name="Shape 3"/>
          <p:cNvSpPr/>
          <p:nvPr/>
        </p:nvSpPr>
        <p:spPr>
          <a:xfrm>
            <a:off x="594360" y="6483096"/>
            <a:ext cx="11000232" cy="0"/>
          </a:xfrm>
          <a:prstGeom prst="line">
            <a:avLst/>
          </a:prstGeom>
          <a:noFill/>
          <a:ln w="6985">
            <a:solidFill>
              <a:srgbClr val="DCE2F0"/>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536079"/>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536079"/>
                </a:solidFill>
                <a:latin typeface="Inter" pitchFamily="34" charset="0"/>
                <a:ea typeface="Inter" pitchFamily="34" charset="-122"/>
                <a:cs typeface="Inter" pitchFamily="34" charset="-120"/>
              </a:rPr>
              <a:t>PRE-1.0 PROJECT PREVIEW  |  06</a:t>
            </a:r>
            <a:endParaRPr lang="en-US" sz="830" dirty="0"/>
          </a:p>
        </p:txBody>
      </p:sp>
      <p:sp>
        <p:nvSpPr>
          <p:cNvPr id="9" name="Shape 6"/>
          <p:cNvSpPr/>
          <p:nvPr/>
        </p:nvSpPr>
        <p:spPr>
          <a:xfrm>
            <a:off x="603504" y="2176272"/>
            <a:ext cx="10972800" cy="594360"/>
          </a:xfrm>
          <a:prstGeom prst="rect">
            <a:avLst/>
          </a:prstGeom>
          <a:solidFill>
            <a:srgbClr val="F0EDFF"/>
          </a:solidFill>
          <a:ln w="7620">
            <a:solidFill>
              <a:srgbClr val="F0EDFF"/>
            </a:solidFill>
            <a:prstDash val="solid"/>
          </a:ln>
        </p:spPr>
      </p:sp>
      <p:sp>
        <p:nvSpPr>
          <p:cNvPr id="10" name="Text 7"/>
          <p:cNvSpPr/>
          <p:nvPr/>
        </p:nvSpPr>
        <p:spPr>
          <a:xfrm>
            <a:off x="804672" y="2377440"/>
            <a:ext cx="201168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EXISTING PRODUCT</a:t>
            </a:r>
            <a:endParaRPr lang="en-US" sz="1050" dirty="0"/>
          </a:p>
        </p:txBody>
      </p:sp>
      <p:sp>
        <p:nvSpPr>
          <p:cNvPr id="11" name="Text 8"/>
          <p:cNvSpPr/>
          <p:nvPr/>
        </p:nvSpPr>
        <p:spPr>
          <a:xfrm>
            <a:off x="2816352" y="2331720"/>
            <a:ext cx="8421624" cy="274320"/>
          </a:xfrm>
          <a:prstGeom prst="rect">
            <a:avLst/>
          </a:prstGeom>
          <a:noFill/>
          <a:ln/>
        </p:spPr>
        <p:txBody>
          <a:bodyPr wrap="square" lIns="0" tIns="0" rIns="0" bIns="0" rtlCol="0" anchor="ctr">
            <a:spAutoFit/>
          </a:bodyPr>
          <a:lstStyle/>
          <a:p>
            <a:pPr indent="0" marL="0">
              <a:buNone/>
            </a:pPr>
            <a:r>
              <a:rPr lang="en-US" sz="1800" dirty="0">
                <a:solidFill>
                  <a:srgbClr val="151B30"/>
                </a:solidFill>
                <a:latin typeface="Inter" pitchFamily="34" charset="0"/>
                <a:ea typeface="Inter" pitchFamily="34" charset="-122"/>
                <a:cs typeface="Inter" pitchFamily="34" charset="-120"/>
              </a:rPr>
              <a:t>New question or next step  &gt;  service response  &gt;  same agent</a:t>
            </a:r>
            <a:endParaRPr lang="en-US" sz="1800" dirty="0"/>
          </a:p>
        </p:txBody>
      </p:sp>
      <p:sp>
        <p:nvSpPr>
          <p:cNvPr id="12" name="Text 9"/>
          <p:cNvSpPr/>
          <p:nvPr/>
        </p:nvSpPr>
        <p:spPr>
          <a:xfrm>
            <a:off x="658368" y="3063240"/>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FIVE-PRODUCT EXAMPLE  /  PRODUCT 1 TODAY, PRODUCT 2 NEXT MONTH</a:t>
            </a:r>
            <a:endParaRPr lang="en-US" sz="1050" dirty="0"/>
          </a:p>
        </p:txBody>
      </p:sp>
      <p:pic>
        <p:nvPicPr>
          <p:cNvPr id="13" name="Image 1" descr="03 product rollout">    </p:cNvPr>
          <p:cNvPicPr>
            <a:picLocks noChangeAspect="1"/>
          </p:cNvPicPr>
          <p:nvPr/>
        </p:nvPicPr>
        <p:blipFill>
          <a:blip r:embed="rId2"/>
          <a:stretch>
            <a:fillRect/>
          </a:stretch>
        </p:blipFill>
        <p:spPr>
          <a:xfrm>
            <a:off x="1604852" y="3538728"/>
            <a:ext cx="8979248" cy="2039112"/>
          </a:xfrm>
          <a:prstGeom prst="rect">
            <a:avLst/>
          </a:prstGeom>
        </p:spPr>
      </p:pic>
      <p:sp>
        <p:nvSpPr>
          <p:cNvPr id="14" name="Text 10"/>
          <p:cNvSpPr/>
          <p:nvPr/>
        </p:nvSpPr>
        <p:spPr>
          <a:xfrm>
            <a:off x="676656" y="5696712"/>
            <a:ext cx="10835640" cy="256032"/>
          </a:xfrm>
          <a:prstGeom prst="rect">
            <a:avLst/>
          </a:prstGeom>
          <a:noFill/>
          <a:ln/>
        </p:spPr>
        <p:txBody>
          <a:bodyPr wrap="square" lIns="0" tIns="0" rIns="0" bIns="0" rtlCol="0" anchor="ctr">
            <a:spAutoFit/>
          </a:bodyPr>
          <a:lstStyle/>
          <a:p>
            <a:pPr algn="ctr" indent="0" marL="0">
              <a:buNone/>
            </a:pPr>
            <a:r>
              <a:rPr lang="en-US" sz="1640" dirty="0">
                <a:solidFill>
                  <a:srgbClr val="536079"/>
                </a:solidFill>
                <a:latin typeface="Inter" pitchFamily="34" charset="0"/>
                <a:ea typeface="Inter" pitchFamily="34" charset="-122"/>
                <a:cs typeface="Inter" pitchFamily="34" charset="-120"/>
              </a:rPr>
              <a:t>Products 3-5 can follow as their services become ready.</a:t>
            </a:r>
            <a:endParaRPr lang="en-US" sz="1640" dirty="0"/>
          </a:p>
        </p:txBody>
      </p:sp>
      <p:sp>
        <p:nvSpPr>
          <p:cNvPr id="15" name="Shape 11"/>
          <p:cNvSpPr/>
          <p:nvPr/>
        </p:nvSpPr>
        <p:spPr>
          <a:xfrm>
            <a:off x="603504" y="6080760"/>
            <a:ext cx="10972800" cy="338328"/>
          </a:xfrm>
          <a:prstGeom prst="rect">
            <a:avLst/>
          </a:prstGeom>
          <a:solidFill>
            <a:srgbClr val="080C1E"/>
          </a:solidFill>
          <a:ln w="7620">
            <a:solidFill>
              <a:srgbClr val="080C1E"/>
            </a:solidFill>
            <a:prstDash val="solid"/>
          </a:ln>
        </p:spPr>
      </p:sp>
      <p:sp>
        <p:nvSpPr>
          <p:cNvPr id="16" name="Text 12"/>
          <p:cNvSpPr/>
          <p:nvPr/>
        </p:nvSpPr>
        <p:spPr>
          <a:xfrm>
            <a:off x="758952" y="6144768"/>
            <a:ext cx="10643616" cy="182880"/>
          </a:xfrm>
          <a:prstGeom prst="rect">
            <a:avLst/>
          </a:prstGeom>
          <a:noFill/>
          <a:ln/>
        </p:spPr>
        <p:txBody>
          <a:bodyPr wrap="square" lIns="0" tIns="0" rIns="0" bIns="0" rtlCol="0" anchor="ctr">
            <a:spAutoFit/>
          </a:bodyPr>
          <a:lstStyle/>
          <a:p>
            <a:pPr algn="ctr" indent="0" marL="0">
              <a:buNone/>
            </a:pPr>
            <a:r>
              <a:rPr lang="en-US" sz="1380" dirty="0">
                <a:solidFill>
                  <a:srgbClr val="FFFFFF"/>
                </a:solidFill>
                <a:latin typeface="Inter" pitchFamily="34" charset="0"/>
                <a:ea typeface="Inter" pitchFamily="34" charset="-122"/>
                <a:cs typeface="Inter" pitchFamily="34" charset="-120"/>
              </a:rPr>
              <a:t>Build and validate the service. Configure access and discovery. No duplicate agent workflow.</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REPORTED DEVIN SESSION</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400" b="1" dirty="0">
                <a:solidFill>
                  <a:srgbClr val="FFFFFF"/>
                </a:solidFill>
                <a:latin typeface="Inter" pitchFamily="34" charset="0"/>
                <a:ea typeface="Inter" pitchFamily="34" charset="-122"/>
                <a:cs typeface="Inter" pitchFamily="34" charset="-120"/>
              </a:rPr>
              <a:t>The next step arrived in the response.</a:t>
            </a:r>
            <a:endParaRPr lang="en-US" sz="3400" dirty="0"/>
          </a:p>
        </p:txBody>
      </p:sp>
      <p:sp>
        <p:nvSpPr>
          <p:cNvPr id="5" name="Shape 3"/>
          <p:cNvSpPr/>
          <p:nvPr/>
        </p:nvSpPr>
        <p:spPr>
          <a:xfrm>
            <a:off x="594360" y="6483096"/>
            <a:ext cx="11000232" cy="0"/>
          </a:xfrm>
          <a:prstGeom prst="line">
            <a:avLst/>
          </a:prstGeom>
          <a:noFill/>
          <a:ln w="6985">
            <a:solidFill>
              <a:srgbClr val="2D3652"/>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B7C2D8"/>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B7C2D8"/>
                </a:solidFill>
                <a:latin typeface="Inter" pitchFamily="34" charset="0"/>
                <a:ea typeface="Inter" pitchFamily="34" charset="-122"/>
                <a:cs typeface="Inter" pitchFamily="34" charset="-120"/>
              </a:rPr>
              <a:t>PRE-1.0 PROJECT PREVIEW  |  07</a:t>
            </a:r>
            <a:endParaRPr lang="en-US" sz="830" dirty="0"/>
          </a:p>
        </p:txBody>
      </p:sp>
      <p:sp>
        <p:nvSpPr>
          <p:cNvPr id="9" name="Text 6"/>
          <p:cNvSpPr/>
          <p:nvPr/>
        </p:nvSpPr>
        <p:spPr>
          <a:xfrm>
            <a:off x="630936" y="1627632"/>
            <a:ext cx="10881360" cy="274320"/>
          </a:xfrm>
          <a:prstGeom prst="rect">
            <a:avLst/>
          </a:prstGeom>
          <a:noFill/>
          <a:ln/>
        </p:spPr>
        <p:txBody>
          <a:bodyPr wrap="square" lIns="0" tIns="0" rIns="0" bIns="0" rtlCol="0" anchor="ctr">
            <a:spAutoFit/>
          </a:bodyPr>
          <a:lstStyle/>
          <a:p>
            <a:pPr indent="0" marL="0">
              <a:buNone/>
            </a:pPr>
            <a:r>
              <a:rPr lang="en-US" sz="1700" dirty="0">
                <a:solidFill>
                  <a:srgbClr val="B7C2D8"/>
                </a:solidFill>
                <a:latin typeface="Inter" pitchFamily="34" charset="0"/>
                <a:ea typeface="Inter" pitchFamily="34" charset="-122"/>
                <a:cs typeface="Inter" pitchFamily="34" charset="-120"/>
              </a:rPr>
              <a:t>PriorAuth  |  15 October 2026  |  FrontDoor mode</a:t>
            </a:r>
            <a:endParaRPr lang="en-US" sz="1700" dirty="0"/>
          </a:p>
        </p:txBody>
      </p:sp>
      <p:sp>
        <p:nvSpPr>
          <p:cNvPr id="10" name="Shape 7"/>
          <p:cNvSpPr/>
          <p:nvPr/>
        </p:nvSpPr>
        <p:spPr>
          <a:xfrm>
            <a:off x="621792" y="2359152"/>
            <a:ext cx="2029968" cy="2496312"/>
          </a:xfrm>
          <a:prstGeom prst="rect">
            <a:avLst/>
          </a:prstGeom>
          <a:solidFill>
            <a:srgbClr val="111A32"/>
          </a:solidFill>
          <a:ln w="7620">
            <a:solidFill>
              <a:srgbClr val="111A32"/>
            </a:solidFill>
            <a:prstDash val="solid"/>
          </a:ln>
        </p:spPr>
      </p:sp>
      <p:sp>
        <p:nvSpPr>
          <p:cNvPr id="11" name="Text 8"/>
          <p:cNvSpPr/>
          <p:nvPr/>
        </p:nvSpPr>
        <p:spPr>
          <a:xfrm>
            <a:off x="813816" y="2587752"/>
            <a:ext cx="1709928"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START</a:t>
            </a:r>
            <a:endParaRPr lang="en-US" sz="1050" dirty="0"/>
          </a:p>
        </p:txBody>
      </p:sp>
      <p:sp>
        <p:nvSpPr>
          <p:cNvPr id="12" name="Text 9"/>
          <p:cNvSpPr/>
          <p:nvPr/>
        </p:nvSpPr>
        <p:spPr>
          <a:xfrm>
            <a:off x="822960" y="2944368"/>
            <a:ext cx="1572768" cy="768096"/>
          </a:xfrm>
          <a:prstGeom prst="rect">
            <a:avLst/>
          </a:prstGeom>
          <a:noFill/>
          <a:ln/>
        </p:spPr>
        <p:txBody>
          <a:bodyPr wrap="square" lIns="0" tIns="0" rIns="0" bIns="0" rtlCol="0" anchor="ctr">
            <a:spAutoFit/>
          </a:bodyPr>
          <a:lstStyle/>
          <a:p>
            <a:pPr indent="0" marL="0">
              <a:buNone/>
            </a:pPr>
            <a:r>
              <a:rPr lang="en-US" sz="6100" b="1" dirty="0">
                <a:solidFill>
                  <a:srgbClr val="FFFFFF"/>
                </a:solidFill>
                <a:latin typeface="Inter" pitchFamily="34" charset="0"/>
                <a:ea typeface="Inter" pitchFamily="34" charset="-122"/>
                <a:cs typeface="Inter" pitchFamily="34" charset="-120"/>
              </a:rPr>
              <a:t>11</a:t>
            </a:r>
            <a:endParaRPr lang="en-US" sz="6100" dirty="0"/>
          </a:p>
        </p:txBody>
      </p:sp>
      <p:sp>
        <p:nvSpPr>
          <p:cNvPr id="13" name="Text 10"/>
          <p:cNvSpPr/>
          <p:nvPr/>
        </p:nvSpPr>
        <p:spPr>
          <a:xfrm>
            <a:off x="832104" y="3813048"/>
            <a:ext cx="1627632" cy="292608"/>
          </a:xfrm>
          <a:prstGeom prst="rect">
            <a:avLst/>
          </a:prstGeom>
          <a:noFill/>
          <a:ln/>
        </p:spPr>
        <p:txBody>
          <a:bodyPr wrap="square" lIns="0" tIns="0" rIns="0" bIns="0" rtlCol="0" anchor="ctr">
            <a:spAutoFit/>
          </a:bodyPr>
          <a:lstStyle/>
          <a:p>
            <a:pPr indent="0" marL="0">
              <a:buNone/>
            </a:pPr>
            <a:r>
              <a:rPr lang="en-US" sz="1690" dirty="0">
                <a:solidFill>
                  <a:srgbClr val="B7C2D8"/>
                </a:solidFill>
                <a:latin typeface="Inter" pitchFamily="34" charset="0"/>
                <a:ea typeface="Inter" pitchFamily="34" charset="-122"/>
                <a:cs typeface="Inter" pitchFamily="34" charset="-120"/>
              </a:rPr>
              <a:t>starting tools</a:t>
            </a:r>
            <a:endParaRPr lang="en-US" sz="1690" dirty="0"/>
          </a:p>
        </p:txBody>
      </p:sp>
      <p:sp>
        <p:nvSpPr>
          <p:cNvPr id="14" name="Text 11"/>
          <p:cNvSpPr/>
          <p:nvPr/>
        </p:nvSpPr>
        <p:spPr>
          <a:xfrm>
            <a:off x="832104" y="4242816"/>
            <a:ext cx="1627632" cy="420624"/>
          </a:xfrm>
          <a:prstGeom prst="rect">
            <a:avLst/>
          </a:prstGeom>
          <a:noFill/>
          <a:ln/>
        </p:spPr>
        <p:txBody>
          <a:bodyPr wrap="square" lIns="0" tIns="0" rIns="0" bIns="0" rtlCol="0" anchor="t">
            <a:spAutoFit/>
          </a:bodyPr>
          <a:lstStyle/>
          <a:p>
            <a:pPr indent="0" marL="0">
              <a:buNone/>
            </a:pPr>
            <a:r>
              <a:rPr lang="en-US" sz="1330" b="1" dirty="0">
                <a:solidFill>
                  <a:srgbClr val="9C8FFF"/>
                </a:solidFill>
                <a:latin typeface="Inter" pitchFamily="34" charset="0"/>
                <a:ea typeface="Inter" pitchFamily="34" charset="-122"/>
                <a:cs typeface="Inter" pitchFamily="34" charset="-120"/>
              </a:rPr>
              <a:t>Capture Member</a:t>
            </a:r>
            <a:endParaRPr lang="en-US" sz="1330" dirty="0"/>
          </a:p>
          <a:p>
            <a:pPr indent="0" marL="0">
              <a:buNone/>
            </a:pPr>
            <a:r>
              <a:rPr lang="en-US" sz="1330" b="1" dirty="0">
                <a:solidFill>
                  <a:srgbClr val="9C8FFF"/>
                </a:solidFill>
                <a:latin typeface="Inter" pitchFamily="34" charset="0"/>
                <a:ea typeface="Inter" pitchFamily="34" charset="-122"/>
                <a:cs typeface="Inter" pitchFamily="34" charset="-120"/>
              </a:rPr>
              <a:t>was not listed.</a:t>
            </a:r>
            <a:endParaRPr lang="en-US" sz="1330" dirty="0"/>
          </a:p>
        </p:txBody>
      </p:sp>
      <p:sp>
        <p:nvSpPr>
          <p:cNvPr id="15" name="Shape 12"/>
          <p:cNvSpPr/>
          <p:nvPr/>
        </p:nvSpPr>
        <p:spPr>
          <a:xfrm>
            <a:off x="2907792" y="2359152"/>
            <a:ext cx="5157216" cy="2496312"/>
          </a:xfrm>
          <a:prstGeom prst="rect">
            <a:avLst/>
          </a:prstGeom>
          <a:solidFill>
            <a:srgbClr val="211D49"/>
          </a:solidFill>
          <a:ln w="7620">
            <a:solidFill>
              <a:srgbClr val="211D49"/>
            </a:solidFill>
            <a:prstDash val="solid"/>
          </a:ln>
        </p:spPr>
      </p:sp>
      <p:sp>
        <p:nvSpPr>
          <p:cNvPr id="16" name="Text 13"/>
          <p:cNvSpPr/>
          <p:nvPr/>
        </p:nvSpPr>
        <p:spPr>
          <a:xfrm>
            <a:off x="3127248" y="2587752"/>
            <a:ext cx="4672584"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THE PRECEDING RESPONSE SUPPLIED</a:t>
            </a:r>
            <a:endParaRPr lang="en-US" sz="1050" dirty="0"/>
          </a:p>
        </p:txBody>
      </p:sp>
      <p:sp>
        <p:nvSpPr>
          <p:cNvPr id="17" name="Text 14"/>
          <p:cNvSpPr/>
          <p:nvPr/>
        </p:nvSpPr>
        <p:spPr>
          <a:xfrm>
            <a:off x="3136392" y="3026664"/>
            <a:ext cx="4626864" cy="265176"/>
          </a:xfrm>
          <a:prstGeom prst="rect">
            <a:avLst/>
          </a:prstGeom>
          <a:noFill/>
          <a:ln/>
        </p:spPr>
        <p:txBody>
          <a:bodyPr wrap="square" lIns="0" tIns="0" rIns="0" bIns="0" rtlCol="0" anchor="ctr">
            <a:spAutoFit/>
          </a:bodyPr>
          <a:lstStyle/>
          <a:p>
            <a:pPr indent="0" marL="0">
              <a:buNone/>
            </a:pPr>
            <a:r>
              <a:rPr lang="en-US" sz="1650" dirty="0">
                <a:solidFill>
                  <a:srgbClr val="B7C2D8"/>
                </a:solidFill>
                <a:latin typeface="DejaVu Sans Mono" pitchFamily="34" charset="0"/>
                <a:ea typeface="DejaVu Sans Mono" pitchFamily="34" charset="-122"/>
                <a:cs typeface="DejaVu Sans Mono" pitchFamily="34" charset="-120"/>
              </a:rPr>
              <a:t>next.required</a:t>
            </a:r>
            <a:endParaRPr lang="en-US" sz="1650" dirty="0"/>
          </a:p>
        </p:txBody>
      </p:sp>
      <p:sp>
        <p:nvSpPr>
          <p:cNvPr id="18" name="Text 15"/>
          <p:cNvSpPr/>
          <p:nvPr/>
        </p:nvSpPr>
        <p:spPr>
          <a:xfrm>
            <a:off x="3136392" y="3383280"/>
            <a:ext cx="4626864" cy="329184"/>
          </a:xfrm>
          <a:prstGeom prst="rect">
            <a:avLst/>
          </a:prstGeom>
          <a:noFill/>
          <a:ln/>
        </p:spPr>
        <p:txBody>
          <a:bodyPr wrap="square" lIns="0" tIns="0" rIns="0" bIns="0" rtlCol="0" anchor="ctr">
            <a:spAutoFit/>
          </a:bodyPr>
          <a:lstStyle/>
          <a:p>
            <a:pPr indent="0" marL="0">
              <a:buNone/>
            </a:pPr>
            <a:r>
              <a:rPr lang="en-US" sz="2100" b="1" dirty="0">
                <a:solidFill>
                  <a:srgbClr val="FFFFFF"/>
                </a:solidFill>
                <a:latin typeface="DejaVu Sans Mono" pitchFamily="34" charset="0"/>
                <a:ea typeface="DejaVu Sans Mono" pitchFamily="34" charset="-122"/>
                <a:cs typeface="DejaVu Sans Mono" pitchFamily="34" charset="-120"/>
              </a:rPr>
              <a:t>intake_capture_member</a:t>
            </a:r>
            <a:endParaRPr lang="en-US" sz="2100" dirty="0"/>
          </a:p>
        </p:txBody>
      </p:sp>
      <p:sp>
        <p:nvSpPr>
          <p:cNvPr id="19" name="Text 16"/>
          <p:cNvSpPr/>
          <p:nvPr/>
        </p:nvSpPr>
        <p:spPr>
          <a:xfrm>
            <a:off x="3136392" y="3877056"/>
            <a:ext cx="4645152" cy="292608"/>
          </a:xfrm>
          <a:prstGeom prst="rect">
            <a:avLst/>
          </a:prstGeom>
          <a:noFill/>
          <a:ln/>
        </p:spPr>
        <p:txBody>
          <a:bodyPr wrap="square" lIns="0" tIns="0" rIns="0" bIns="0" rtlCol="0" anchor="ctr">
            <a:spAutoFit/>
          </a:bodyPr>
          <a:lstStyle/>
          <a:p>
            <a:pPr indent="0" marL="0">
              <a:buNone/>
            </a:pPr>
            <a:r>
              <a:rPr lang="en-US" sz="1670" dirty="0">
                <a:solidFill>
                  <a:srgbClr val="B7C2D8"/>
                </a:solidFill>
                <a:latin typeface="Inter" pitchFamily="34" charset="0"/>
                <a:ea typeface="Inter" pitchFamily="34" charset="-122"/>
                <a:cs typeface="Inter" pitchFamily="34" charset="-120"/>
              </a:rPr>
              <a:t>Inputs + lookup details + process context</a:t>
            </a:r>
            <a:endParaRPr lang="en-US" sz="1670" dirty="0"/>
          </a:p>
        </p:txBody>
      </p:sp>
      <p:sp>
        <p:nvSpPr>
          <p:cNvPr id="20" name="Text 17"/>
          <p:cNvSpPr/>
          <p:nvPr/>
        </p:nvSpPr>
        <p:spPr>
          <a:xfrm>
            <a:off x="3136392" y="4398264"/>
            <a:ext cx="4599432" cy="246888"/>
          </a:xfrm>
          <a:prstGeom prst="rect">
            <a:avLst/>
          </a:prstGeom>
          <a:noFill/>
          <a:ln/>
        </p:spPr>
        <p:txBody>
          <a:bodyPr wrap="square" lIns="0" tIns="0" rIns="0" bIns="0" rtlCol="0" anchor="ctr">
            <a:spAutoFit/>
          </a:bodyPr>
          <a:lstStyle/>
          <a:p>
            <a:pPr indent="0" marL="0">
              <a:buNone/>
            </a:pPr>
            <a:r>
              <a:rPr lang="en-US" sz="1780" dirty="0">
                <a:solidFill>
                  <a:srgbClr val="19C4A7"/>
                </a:solidFill>
                <a:latin typeface="DejaVu Sans Mono" pitchFamily="34" charset="0"/>
                <a:ea typeface="DejaVu Sans Mono" pitchFamily="34" charset="-122"/>
                <a:cs typeface="DejaVu Sans Mono" pitchFamily="34" charset="-120"/>
              </a:rPr>
              <a:t>howToRun: call_tool</a:t>
            </a:r>
            <a:endParaRPr lang="en-US" sz="1780" dirty="0"/>
          </a:p>
        </p:txBody>
      </p:sp>
      <p:sp>
        <p:nvSpPr>
          <p:cNvPr id="21" name="Shape 18"/>
          <p:cNvSpPr/>
          <p:nvPr/>
        </p:nvSpPr>
        <p:spPr>
          <a:xfrm>
            <a:off x="8321040" y="2359152"/>
            <a:ext cx="3255264" cy="2496312"/>
          </a:xfrm>
          <a:prstGeom prst="rect">
            <a:avLst/>
          </a:prstGeom>
          <a:solidFill>
            <a:srgbClr val="111A32"/>
          </a:solidFill>
          <a:ln w="7620">
            <a:solidFill>
              <a:srgbClr val="111A32"/>
            </a:solidFill>
            <a:prstDash val="solid"/>
          </a:ln>
        </p:spPr>
      </p:sp>
      <p:sp>
        <p:nvSpPr>
          <p:cNvPr id="22" name="Text 19"/>
          <p:cNvSpPr/>
          <p:nvPr/>
        </p:nvSpPr>
        <p:spPr>
          <a:xfrm>
            <a:off x="8549640" y="2587752"/>
            <a:ext cx="2779776" cy="182880"/>
          </a:xfrm>
          <a:prstGeom prst="rect">
            <a:avLst/>
          </a:prstGeom>
          <a:noFill/>
          <a:ln/>
        </p:spPr>
        <p:txBody>
          <a:bodyPr wrap="square" lIns="0" tIns="0" rIns="0" bIns="0" rtlCol="0" anchor="ctr">
            <a:spAutoFit/>
          </a:bodyPr>
          <a:lstStyle/>
          <a:p>
            <a:pPr indent="0" marL="0">
              <a:buNone/>
            </a:pPr>
            <a:r>
              <a:rPr lang="en-US" sz="1050" b="1" spc="110" kern="0" dirty="0">
                <a:solidFill>
                  <a:srgbClr val="19C4A7"/>
                </a:solidFill>
                <a:latin typeface="Inter" pitchFamily="34" charset="0"/>
                <a:ea typeface="Inter" pitchFamily="34" charset="-122"/>
                <a:cs typeface="Inter" pitchFamily="34" charset="-120"/>
              </a:rPr>
              <a:t>DEVIN CONTINUED</a:t>
            </a:r>
            <a:endParaRPr lang="en-US" sz="1050" dirty="0"/>
          </a:p>
        </p:txBody>
      </p:sp>
      <p:sp>
        <p:nvSpPr>
          <p:cNvPr id="23" name="Text 20"/>
          <p:cNvSpPr/>
          <p:nvPr/>
        </p:nvSpPr>
        <p:spPr>
          <a:xfrm>
            <a:off x="8558784" y="3108960"/>
            <a:ext cx="2660904" cy="438912"/>
          </a:xfrm>
          <a:prstGeom prst="rect">
            <a:avLst/>
          </a:prstGeom>
          <a:noFill/>
          <a:ln/>
        </p:spPr>
        <p:txBody>
          <a:bodyPr wrap="square" lIns="0" tIns="0" rIns="0" bIns="0" rtlCol="0" anchor="ctr">
            <a:spAutoFit/>
          </a:bodyPr>
          <a:lstStyle/>
          <a:p>
            <a:pPr indent="0" marL="0">
              <a:buNone/>
            </a:pPr>
            <a:r>
              <a:rPr lang="en-US" sz="2500" b="1" dirty="0">
                <a:solidFill>
                  <a:srgbClr val="FFFFFF"/>
                </a:solidFill>
                <a:latin typeface="DejaVu Sans Mono" pitchFamily="34" charset="0"/>
                <a:ea typeface="DejaVu Sans Mono" pitchFamily="34" charset="-122"/>
                <a:cs typeface="DejaVu Sans Mono" pitchFamily="34" charset="-120"/>
              </a:rPr>
              <a:t>call_tool</a:t>
            </a:r>
            <a:endParaRPr lang="en-US" sz="2500" dirty="0"/>
          </a:p>
        </p:txBody>
      </p:sp>
      <p:sp>
        <p:nvSpPr>
          <p:cNvPr id="24" name="Text 21"/>
          <p:cNvSpPr/>
          <p:nvPr/>
        </p:nvSpPr>
        <p:spPr>
          <a:xfrm>
            <a:off x="8558784" y="3749040"/>
            <a:ext cx="2706624" cy="292608"/>
          </a:xfrm>
          <a:prstGeom prst="rect">
            <a:avLst/>
          </a:prstGeom>
          <a:noFill/>
          <a:ln/>
        </p:spPr>
        <p:txBody>
          <a:bodyPr wrap="square" lIns="0" tIns="0" rIns="0" bIns="0" rtlCol="0" anchor="ctr">
            <a:spAutoFit/>
          </a:bodyPr>
          <a:lstStyle/>
          <a:p>
            <a:pPr indent="0" marL="0">
              <a:buNone/>
            </a:pPr>
            <a:r>
              <a:rPr lang="en-US" sz="1820" dirty="0">
                <a:solidFill>
                  <a:srgbClr val="B7C2D8"/>
                </a:solidFill>
                <a:latin typeface="Inter" pitchFamily="34" charset="0"/>
                <a:ea typeface="Inter" pitchFamily="34" charset="-122"/>
                <a:cs typeface="Inter" pitchFamily="34" charset="-120"/>
              </a:rPr>
              <a:t>Capture Member</a:t>
            </a:r>
            <a:endParaRPr lang="en-US" sz="1820" dirty="0"/>
          </a:p>
        </p:txBody>
      </p:sp>
      <p:sp>
        <p:nvSpPr>
          <p:cNvPr id="25" name="Shape 22"/>
          <p:cNvSpPr/>
          <p:nvPr/>
        </p:nvSpPr>
        <p:spPr>
          <a:xfrm>
            <a:off x="8540496" y="4270248"/>
            <a:ext cx="2542032" cy="365760"/>
          </a:xfrm>
          <a:prstGeom prst="rect">
            <a:avLst/>
          </a:prstGeom>
          <a:solidFill>
            <a:srgbClr val="103C37"/>
          </a:solidFill>
          <a:ln w="7620">
            <a:solidFill>
              <a:srgbClr val="103C37"/>
            </a:solidFill>
            <a:prstDash val="solid"/>
          </a:ln>
        </p:spPr>
      </p:sp>
      <p:sp>
        <p:nvSpPr>
          <p:cNvPr id="26" name="Text 23"/>
          <p:cNvSpPr/>
          <p:nvPr/>
        </p:nvSpPr>
        <p:spPr>
          <a:xfrm>
            <a:off x="8686800" y="4343400"/>
            <a:ext cx="2249424" cy="201168"/>
          </a:xfrm>
          <a:prstGeom prst="rect">
            <a:avLst/>
          </a:prstGeom>
          <a:noFill/>
          <a:ln/>
        </p:spPr>
        <p:txBody>
          <a:bodyPr wrap="square" lIns="0" tIns="0" rIns="0" bIns="0" rtlCol="0" anchor="ctr">
            <a:spAutoFit/>
          </a:bodyPr>
          <a:lstStyle/>
          <a:p>
            <a:pPr algn="ctr" indent="0" marL="0">
              <a:buNone/>
            </a:pPr>
            <a:r>
              <a:rPr lang="en-US" sz="1600" b="1" dirty="0">
                <a:solidFill>
                  <a:srgbClr val="19C4A7"/>
                </a:solidFill>
                <a:latin typeface="Inter" pitchFamily="34" charset="0"/>
                <a:ea typeface="Inter" pitchFamily="34" charset="-122"/>
                <a:cs typeface="Inter" pitchFamily="34" charset="-120"/>
              </a:rPr>
              <a:t>completed</a:t>
            </a:r>
            <a:endParaRPr lang="en-US" sz="1600" dirty="0"/>
          </a:p>
        </p:txBody>
      </p:sp>
      <p:sp>
        <p:nvSpPr>
          <p:cNvPr id="27" name="Text 24"/>
          <p:cNvSpPr/>
          <p:nvPr/>
        </p:nvSpPr>
        <p:spPr>
          <a:xfrm>
            <a:off x="676656" y="5239512"/>
            <a:ext cx="3172968" cy="448056"/>
          </a:xfrm>
          <a:prstGeom prst="rect">
            <a:avLst/>
          </a:prstGeom>
          <a:noFill/>
          <a:ln/>
        </p:spPr>
        <p:txBody>
          <a:bodyPr wrap="square" lIns="0" tIns="0" rIns="0" bIns="0" rtlCol="0" anchor="ctr">
            <a:spAutoFit/>
          </a:bodyPr>
          <a:lstStyle/>
          <a:p>
            <a:pPr indent="0" marL="0">
              <a:buNone/>
            </a:pPr>
            <a:r>
              <a:rPr lang="en-US" sz="3600" b="1" dirty="0">
                <a:solidFill>
                  <a:srgbClr val="FFFFFF"/>
                </a:solidFill>
                <a:latin typeface="Inter" pitchFamily="34" charset="0"/>
                <a:ea typeface="Inter" pitchFamily="34" charset="-122"/>
                <a:cs typeface="Inter" pitchFamily="34" charset="-120"/>
              </a:rPr>
              <a:t>6</a:t>
            </a:r>
            <a:endParaRPr lang="en-US" sz="3600" dirty="0"/>
          </a:p>
        </p:txBody>
      </p:sp>
      <p:sp>
        <p:nvSpPr>
          <p:cNvPr id="28" name="Text 25"/>
          <p:cNvSpPr/>
          <p:nvPr/>
        </p:nvSpPr>
        <p:spPr>
          <a:xfrm>
            <a:off x="676656" y="5806440"/>
            <a:ext cx="3264408" cy="237744"/>
          </a:xfrm>
          <a:prstGeom prst="rect">
            <a:avLst/>
          </a:prstGeom>
          <a:noFill/>
          <a:ln/>
        </p:spPr>
        <p:txBody>
          <a:bodyPr wrap="square" lIns="0" tIns="0" rIns="0" bIns="0" rtlCol="0" anchor="ctr">
            <a:spAutoFit/>
          </a:bodyPr>
          <a:lstStyle/>
          <a:p>
            <a:pPr indent="0" marL="0">
              <a:buNone/>
            </a:pPr>
            <a:r>
              <a:rPr lang="en-US" sz="1510" dirty="0">
                <a:solidFill>
                  <a:srgbClr val="B7C2D8"/>
                </a:solidFill>
                <a:latin typeface="Inter" pitchFamily="34" charset="0"/>
                <a:ea typeface="Inter" pitchFamily="34" charset="-122"/>
                <a:cs typeface="Inter" pitchFamily="34" charset="-120"/>
              </a:rPr>
              <a:t>unlisted capabilities invoked</a:t>
            </a:r>
            <a:endParaRPr lang="en-US" sz="1510" dirty="0"/>
          </a:p>
        </p:txBody>
      </p:sp>
      <p:sp>
        <p:nvSpPr>
          <p:cNvPr id="29" name="Text 26"/>
          <p:cNvSpPr/>
          <p:nvPr/>
        </p:nvSpPr>
        <p:spPr>
          <a:xfrm>
            <a:off x="4489704" y="5239512"/>
            <a:ext cx="3172968" cy="448056"/>
          </a:xfrm>
          <a:prstGeom prst="rect">
            <a:avLst/>
          </a:prstGeom>
          <a:noFill/>
          <a:ln/>
        </p:spPr>
        <p:txBody>
          <a:bodyPr wrap="square" lIns="0" tIns="0" rIns="0" bIns="0" rtlCol="0" anchor="ctr">
            <a:spAutoFit/>
          </a:bodyPr>
          <a:lstStyle/>
          <a:p>
            <a:pPr indent="0" marL="0">
              <a:buNone/>
            </a:pPr>
            <a:r>
              <a:rPr lang="en-US" sz="2700" b="1" dirty="0">
                <a:solidFill>
                  <a:srgbClr val="FFFFFF"/>
                </a:solidFill>
                <a:latin typeface="Inter" pitchFamily="34" charset="0"/>
                <a:ea typeface="Inter" pitchFamily="34" charset="-122"/>
                <a:cs typeface="Inter" pitchFamily="34" charset="-120"/>
              </a:rPr>
              <a:t>Submitted</a:t>
            </a:r>
            <a:endParaRPr lang="en-US" sz="2700" dirty="0"/>
          </a:p>
        </p:txBody>
      </p:sp>
      <p:sp>
        <p:nvSpPr>
          <p:cNvPr id="30" name="Text 27"/>
          <p:cNvSpPr/>
          <p:nvPr/>
        </p:nvSpPr>
        <p:spPr>
          <a:xfrm>
            <a:off x="4489704" y="5806440"/>
            <a:ext cx="3264408" cy="237744"/>
          </a:xfrm>
          <a:prstGeom prst="rect">
            <a:avLst/>
          </a:prstGeom>
          <a:noFill/>
          <a:ln/>
        </p:spPr>
        <p:txBody>
          <a:bodyPr wrap="square" lIns="0" tIns="0" rIns="0" bIns="0" rtlCol="0" anchor="ctr">
            <a:spAutoFit/>
          </a:bodyPr>
          <a:lstStyle/>
          <a:p>
            <a:pPr indent="0" marL="0">
              <a:buNone/>
            </a:pPr>
            <a:r>
              <a:rPr lang="en-US" sz="1510" dirty="0">
                <a:solidFill>
                  <a:srgbClr val="B7C2D8"/>
                </a:solidFill>
                <a:latin typeface="Inter" pitchFamily="34" charset="0"/>
                <a:ea typeface="Inter" pitchFamily="34" charset="-122"/>
                <a:cs typeface="Inter" pitchFamily="34" charset="-120"/>
              </a:rPr>
              <a:t>for review - not approved</a:t>
            </a:r>
            <a:endParaRPr lang="en-US" sz="1510" dirty="0"/>
          </a:p>
        </p:txBody>
      </p:sp>
      <p:sp>
        <p:nvSpPr>
          <p:cNvPr id="31" name="Text 28"/>
          <p:cNvSpPr/>
          <p:nvPr/>
        </p:nvSpPr>
        <p:spPr>
          <a:xfrm>
            <a:off x="8302752" y="5239512"/>
            <a:ext cx="3172968" cy="448056"/>
          </a:xfrm>
          <a:prstGeom prst="rect">
            <a:avLst/>
          </a:prstGeom>
          <a:noFill/>
          <a:ln/>
        </p:spPr>
        <p:txBody>
          <a:bodyPr wrap="square" lIns="0" tIns="0" rIns="0" bIns="0" rtlCol="0" anchor="ctr">
            <a:spAutoFit/>
          </a:bodyPr>
          <a:lstStyle/>
          <a:p>
            <a:pPr indent="0" marL="0">
              <a:buNone/>
            </a:pPr>
            <a:r>
              <a:rPr lang="en-US" sz="2700" b="1" dirty="0">
                <a:solidFill>
                  <a:srgbClr val="FFFFFF"/>
                </a:solidFill>
                <a:latin typeface="Inter" pitchFamily="34" charset="0"/>
                <a:ea typeface="Inter" pitchFamily="34" charset="-122"/>
                <a:cs typeface="Inter" pitchFamily="34" charset="-120"/>
              </a:rPr>
              <a:t>History</a:t>
            </a:r>
            <a:endParaRPr lang="en-US" sz="2700" dirty="0"/>
          </a:p>
        </p:txBody>
      </p:sp>
      <p:sp>
        <p:nvSpPr>
          <p:cNvPr id="32" name="Text 29"/>
          <p:cNvSpPr/>
          <p:nvPr/>
        </p:nvSpPr>
        <p:spPr>
          <a:xfrm>
            <a:off x="8302752" y="5806440"/>
            <a:ext cx="3264408" cy="237744"/>
          </a:xfrm>
          <a:prstGeom prst="rect">
            <a:avLst/>
          </a:prstGeom>
          <a:noFill/>
          <a:ln/>
        </p:spPr>
        <p:txBody>
          <a:bodyPr wrap="square" lIns="0" tIns="0" rIns="0" bIns="0" rtlCol="0" anchor="ctr">
            <a:spAutoFit/>
          </a:bodyPr>
          <a:lstStyle/>
          <a:p>
            <a:pPr indent="0" marL="0">
              <a:buNone/>
            </a:pPr>
            <a:r>
              <a:rPr lang="en-US" sz="1510" dirty="0">
                <a:solidFill>
                  <a:srgbClr val="B7C2D8"/>
                </a:solidFill>
                <a:latin typeface="Inter" pitchFamily="34" charset="0"/>
                <a:ea typeface="Inter" pitchFamily="34" charset="-122"/>
                <a:cs typeface="Inter" pitchFamily="34" charset="-120"/>
              </a:rPr>
              <a:t>returned status: submitted</a:t>
            </a:r>
            <a:endParaRPr lang="en-US" sz="1510" dirty="0"/>
          </a:p>
        </p:txBody>
      </p:sp>
      <p:sp>
        <p:nvSpPr>
          <p:cNvPr id="33" name="Text 30"/>
          <p:cNvSpPr/>
          <p:nvPr/>
        </p:nvSpPr>
        <p:spPr>
          <a:xfrm>
            <a:off x="640080" y="6254496"/>
            <a:ext cx="10972800" cy="155448"/>
          </a:xfrm>
          <a:prstGeom prst="rect">
            <a:avLst/>
          </a:prstGeom>
          <a:noFill/>
          <a:ln/>
        </p:spPr>
        <p:txBody>
          <a:bodyPr wrap="square" lIns="0" tIns="0" rIns="0" bIns="0" rtlCol="0" anchor="ctr">
            <a:spAutoFit/>
          </a:bodyPr>
          <a:lstStyle/>
          <a:p>
            <a:pPr indent="0" marL="0">
              <a:buNone/>
            </a:pPr>
            <a:r>
              <a:rPr lang="en-US" sz="980" dirty="0">
                <a:solidFill>
                  <a:srgbClr val="B7C2D8"/>
                </a:solidFill>
                <a:latin typeface="Inter" pitchFamily="34" charset="0"/>
                <a:ea typeface="Inter" pitchFamily="34" charset="-122"/>
                <a:cs typeface="Inter" pitchFamily="34" charset="-120"/>
              </a:rPr>
              <a:t>Sanitized transcript summary; user-reported session, not independently replayed.</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FIT AND RESPONSIBILITIES</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3500" b="1" dirty="0">
                <a:solidFill>
                  <a:srgbClr val="151B30"/>
                </a:solidFill>
                <a:latin typeface="Inter" pitchFamily="34" charset="0"/>
                <a:ea typeface="Inter" pitchFamily="34" charset="-122"/>
                <a:cs typeface="Inter" pitchFamily="34" charset="-120"/>
              </a:rPr>
              <a:t>Different interfaces.</a:t>
            </a:r>
            <a:endParaRPr lang="en-US" sz="3500" dirty="0"/>
          </a:p>
          <a:p>
            <a:pPr indent="0" marL="0">
              <a:buNone/>
            </a:pPr>
            <a:r>
              <a:rPr lang="en-US" sz="3500" b="1" dirty="0">
                <a:solidFill>
                  <a:srgbClr val="151B30"/>
                </a:solidFill>
                <a:latin typeface="Inter" pitchFamily="34" charset="0"/>
                <a:ea typeface="Inter" pitchFamily="34" charset="-122"/>
                <a:cs typeface="Inter" pitchFamily="34" charset="-120"/>
              </a:rPr>
              <a:t>The same business execution.</a:t>
            </a:r>
            <a:endParaRPr lang="en-US" sz="3500" dirty="0"/>
          </a:p>
        </p:txBody>
      </p:sp>
      <p:sp>
        <p:nvSpPr>
          <p:cNvPr id="5" name="Shape 3"/>
          <p:cNvSpPr/>
          <p:nvPr/>
        </p:nvSpPr>
        <p:spPr>
          <a:xfrm>
            <a:off x="594360" y="6483096"/>
            <a:ext cx="11000232" cy="0"/>
          </a:xfrm>
          <a:prstGeom prst="line">
            <a:avLst/>
          </a:prstGeom>
          <a:noFill/>
          <a:ln w="6985">
            <a:solidFill>
              <a:srgbClr val="DCE2F0"/>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536079"/>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536079"/>
                </a:solidFill>
                <a:latin typeface="Inter" pitchFamily="34" charset="0"/>
                <a:ea typeface="Inter" pitchFamily="34" charset="-122"/>
                <a:cs typeface="Inter" pitchFamily="34" charset="-120"/>
              </a:rPr>
              <a:t>PRE-1.0 PROJECT PREVIEW  |  08</a:t>
            </a:r>
            <a:endParaRPr lang="en-US" sz="830" dirty="0"/>
          </a:p>
        </p:txBody>
      </p:sp>
      <p:sp>
        <p:nvSpPr>
          <p:cNvPr id="9" name="Shape 6"/>
          <p:cNvSpPr/>
          <p:nvPr/>
        </p:nvSpPr>
        <p:spPr>
          <a:xfrm>
            <a:off x="612648" y="2267712"/>
            <a:ext cx="7333488" cy="2807208"/>
          </a:xfrm>
          <a:prstGeom prst="roundRect">
            <a:avLst>
              <a:gd name="adj" fmla="val 2932"/>
            </a:avLst>
          </a:prstGeom>
          <a:solidFill>
            <a:srgbClr val="FFFFFF"/>
          </a:solidFill>
          <a:ln w="7620">
            <a:solidFill>
              <a:srgbClr val="DCE2F0"/>
            </a:solidFill>
            <a:prstDash val="solid"/>
          </a:ln>
        </p:spPr>
      </p:sp>
      <p:sp>
        <p:nvSpPr>
          <p:cNvPr id="10" name="Text 7"/>
          <p:cNvSpPr/>
          <p:nvPr/>
        </p:nvSpPr>
        <p:spPr>
          <a:xfrm>
            <a:off x="850392" y="2468880"/>
            <a:ext cx="2066544"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CONSUMERS</a:t>
            </a:r>
            <a:endParaRPr lang="en-US" sz="1050" dirty="0"/>
          </a:p>
        </p:txBody>
      </p:sp>
      <p:sp>
        <p:nvSpPr>
          <p:cNvPr id="11" name="Text 8"/>
          <p:cNvSpPr/>
          <p:nvPr/>
        </p:nvSpPr>
        <p:spPr>
          <a:xfrm>
            <a:off x="5349240" y="2468880"/>
            <a:ext cx="2103120"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SERVICE</a:t>
            </a:r>
            <a:endParaRPr lang="en-US" sz="1050" dirty="0"/>
          </a:p>
        </p:txBody>
      </p:sp>
      <p:pic>
        <p:nvPicPr>
          <p:cNvPr id="12" name="Image 1" descr="/mnt/data/kaleido_v5_work/assets/s8_33.png">    </p:cNvPr>
          <p:cNvPicPr>
            <a:picLocks noChangeAspect="1"/>
          </p:cNvPicPr>
          <p:nvPr/>
        </p:nvPicPr>
        <p:blipFill>
          <a:blip r:embed="rId2"/>
          <a:stretch>
            <a:fillRect/>
          </a:stretch>
        </p:blipFill>
        <p:spPr>
          <a:xfrm>
            <a:off x="914400" y="2953512"/>
            <a:ext cx="384048" cy="384048"/>
          </a:xfrm>
          <a:prstGeom prst="rect">
            <a:avLst/>
          </a:prstGeom>
        </p:spPr>
      </p:pic>
      <p:sp>
        <p:nvSpPr>
          <p:cNvPr id="13" name="Text 9"/>
          <p:cNvSpPr/>
          <p:nvPr/>
        </p:nvSpPr>
        <p:spPr>
          <a:xfrm>
            <a:off x="1453896" y="3017520"/>
            <a:ext cx="1947672" cy="256032"/>
          </a:xfrm>
          <a:prstGeom prst="rect">
            <a:avLst/>
          </a:prstGeom>
          <a:noFill/>
          <a:ln/>
        </p:spPr>
        <p:txBody>
          <a:bodyPr wrap="square" lIns="0" tIns="0" rIns="0" bIns="0" rtlCol="0" anchor="ctr">
            <a:spAutoFit/>
          </a:bodyPr>
          <a:lstStyle/>
          <a:p>
            <a:pPr indent="0" marL="0">
              <a:buNone/>
            </a:pPr>
            <a:r>
              <a:rPr lang="en-US" sz="1870" b="1" dirty="0">
                <a:solidFill>
                  <a:srgbClr val="151B30"/>
                </a:solidFill>
                <a:latin typeface="Inter" pitchFamily="34" charset="0"/>
                <a:ea typeface="Inter" pitchFamily="34" charset="-122"/>
                <a:cs typeface="Inter" pitchFamily="34" charset="-120"/>
              </a:rPr>
              <a:t>Applications</a:t>
            </a:r>
            <a:endParaRPr lang="en-US" sz="1870" dirty="0"/>
          </a:p>
        </p:txBody>
      </p:sp>
      <p:sp>
        <p:nvSpPr>
          <p:cNvPr id="14" name="Text 10"/>
          <p:cNvSpPr/>
          <p:nvPr/>
        </p:nvSpPr>
        <p:spPr>
          <a:xfrm>
            <a:off x="3685032" y="3017520"/>
            <a:ext cx="914400" cy="256032"/>
          </a:xfrm>
          <a:prstGeom prst="rect">
            <a:avLst/>
          </a:prstGeom>
          <a:noFill/>
          <a:ln/>
        </p:spPr>
        <p:txBody>
          <a:bodyPr wrap="square" lIns="0" tIns="0" rIns="0" bIns="0" rtlCol="0" anchor="ctr">
            <a:spAutoFit/>
          </a:bodyPr>
          <a:lstStyle/>
          <a:p>
            <a:pPr algn="ctr" indent="0" marL="0">
              <a:buNone/>
            </a:pPr>
            <a:r>
              <a:rPr lang="en-US" sz="1670" b="1" dirty="0">
                <a:solidFill>
                  <a:srgbClr val="6257FA"/>
                </a:solidFill>
                <a:latin typeface="Inter" pitchFamily="34" charset="0"/>
                <a:ea typeface="Inter" pitchFamily="34" charset="-122"/>
                <a:cs typeface="Inter" pitchFamily="34" charset="-120"/>
              </a:rPr>
              <a:t>HTTP</a:t>
            </a:r>
            <a:endParaRPr lang="en-US" sz="1670" dirty="0"/>
          </a:p>
        </p:txBody>
      </p:sp>
      <p:sp>
        <p:nvSpPr>
          <p:cNvPr id="15" name="Shape 11"/>
          <p:cNvSpPr/>
          <p:nvPr/>
        </p:nvSpPr>
        <p:spPr>
          <a:xfrm>
            <a:off x="3419856" y="3136392"/>
            <a:ext cx="182880" cy="0"/>
          </a:xfrm>
          <a:prstGeom prst="line">
            <a:avLst/>
          </a:prstGeom>
          <a:noFill/>
          <a:ln w="16510">
            <a:solidFill>
              <a:srgbClr val="6257FA"/>
            </a:solidFill>
            <a:prstDash val="solid"/>
            <a:headEnd type="none"/>
            <a:tailEnd type="triangle"/>
          </a:ln>
        </p:spPr>
      </p:sp>
      <p:sp>
        <p:nvSpPr>
          <p:cNvPr id="16" name="Shape 12"/>
          <p:cNvSpPr/>
          <p:nvPr/>
        </p:nvSpPr>
        <p:spPr>
          <a:xfrm>
            <a:off x="4626864" y="3136392"/>
            <a:ext cx="457200" cy="0"/>
          </a:xfrm>
          <a:prstGeom prst="line">
            <a:avLst/>
          </a:prstGeom>
          <a:noFill/>
          <a:ln w="16510">
            <a:solidFill>
              <a:srgbClr val="6257FA"/>
            </a:solidFill>
            <a:prstDash val="solid"/>
            <a:headEnd type="none"/>
            <a:tailEnd type="triangle"/>
          </a:ln>
        </p:spPr>
      </p:sp>
      <p:pic>
        <p:nvPicPr>
          <p:cNvPr id="17" name="Image 2" descr="/mnt/data/kaleido_v5_work/assets/s8_18.png">    </p:cNvPr>
          <p:cNvPicPr>
            <a:picLocks noChangeAspect="1"/>
          </p:cNvPicPr>
          <p:nvPr/>
        </p:nvPicPr>
        <p:blipFill>
          <a:blip r:embed="rId3"/>
          <a:stretch>
            <a:fillRect/>
          </a:stretch>
        </p:blipFill>
        <p:spPr>
          <a:xfrm>
            <a:off x="914400" y="3922776"/>
            <a:ext cx="384048" cy="384048"/>
          </a:xfrm>
          <a:prstGeom prst="rect">
            <a:avLst/>
          </a:prstGeom>
        </p:spPr>
      </p:pic>
      <p:sp>
        <p:nvSpPr>
          <p:cNvPr id="18" name="Text 13"/>
          <p:cNvSpPr/>
          <p:nvPr/>
        </p:nvSpPr>
        <p:spPr>
          <a:xfrm>
            <a:off x="1453896" y="3995928"/>
            <a:ext cx="1947672" cy="256032"/>
          </a:xfrm>
          <a:prstGeom prst="rect">
            <a:avLst/>
          </a:prstGeom>
          <a:noFill/>
          <a:ln/>
        </p:spPr>
        <p:txBody>
          <a:bodyPr wrap="square" lIns="0" tIns="0" rIns="0" bIns="0" rtlCol="0" anchor="ctr">
            <a:spAutoFit/>
          </a:bodyPr>
          <a:lstStyle/>
          <a:p>
            <a:pPr indent="0" marL="0">
              <a:buNone/>
            </a:pPr>
            <a:r>
              <a:rPr lang="en-US" sz="1870" b="1" dirty="0">
                <a:solidFill>
                  <a:srgbClr val="151B30"/>
                </a:solidFill>
                <a:latin typeface="Inter" pitchFamily="34" charset="0"/>
                <a:ea typeface="Inter" pitchFamily="34" charset="-122"/>
                <a:cs typeface="Inter" pitchFamily="34" charset="-120"/>
              </a:rPr>
              <a:t>AI agent</a:t>
            </a:r>
            <a:endParaRPr lang="en-US" sz="1870" dirty="0"/>
          </a:p>
        </p:txBody>
      </p:sp>
      <p:sp>
        <p:nvSpPr>
          <p:cNvPr id="19" name="Text 14"/>
          <p:cNvSpPr/>
          <p:nvPr/>
        </p:nvSpPr>
        <p:spPr>
          <a:xfrm>
            <a:off x="3685032" y="3995928"/>
            <a:ext cx="914400" cy="256032"/>
          </a:xfrm>
          <a:prstGeom prst="rect">
            <a:avLst/>
          </a:prstGeom>
          <a:noFill/>
          <a:ln/>
        </p:spPr>
        <p:txBody>
          <a:bodyPr wrap="square" lIns="0" tIns="0" rIns="0" bIns="0" rtlCol="0" anchor="ctr">
            <a:spAutoFit/>
          </a:bodyPr>
          <a:lstStyle/>
          <a:p>
            <a:pPr algn="ctr" indent="0" marL="0">
              <a:buNone/>
            </a:pPr>
            <a:r>
              <a:rPr lang="en-US" sz="1670" b="1" dirty="0">
                <a:solidFill>
                  <a:srgbClr val="6257FA"/>
                </a:solidFill>
                <a:latin typeface="Inter" pitchFamily="34" charset="0"/>
                <a:ea typeface="Inter" pitchFamily="34" charset="-122"/>
                <a:cs typeface="Inter" pitchFamily="34" charset="-120"/>
              </a:rPr>
              <a:t>MCP</a:t>
            </a:r>
            <a:endParaRPr lang="en-US" sz="1670" dirty="0"/>
          </a:p>
        </p:txBody>
      </p:sp>
      <p:sp>
        <p:nvSpPr>
          <p:cNvPr id="20" name="Shape 15"/>
          <p:cNvSpPr/>
          <p:nvPr/>
        </p:nvSpPr>
        <p:spPr>
          <a:xfrm>
            <a:off x="3419856" y="4114800"/>
            <a:ext cx="182880" cy="0"/>
          </a:xfrm>
          <a:prstGeom prst="line">
            <a:avLst/>
          </a:prstGeom>
          <a:noFill/>
          <a:ln w="16510">
            <a:solidFill>
              <a:srgbClr val="6257FA"/>
            </a:solidFill>
            <a:prstDash val="solid"/>
            <a:headEnd type="none"/>
            <a:tailEnd type="triangle"/>
          </a:ln>
        </p:spPr>
      </p:sp>
      <p:sp>
        <p:nvSpPr>
          <p:cNvPr id="21" name="Shape 16"/>
          <p:cNvSpPr/>
          <p:nvPr/>
        </p:nvSpPr>
        <p:spPr>
          <a:xfrm>
            <a:off x="4626864" y="4114800"/>
            <a:ext cx="457200" cy="0"/>
          </a:xfrm>
          <a:prstGeom prst="line">
            <a:avLst/>
          </a:prstGeom>
          <a:noFill/>
          <a:ln w="16510">
            <a:solidFill>
              <a:srgbClr val="6257FA"/>
            </a:solidFill>
            <a:prstDash val="solid"/>
            <a:headEnd type="none"/>
            <a:tailEnd type="triangle"/>
          </a:ln>
        </p:spPr>
      </p:sp>
      <p:sp>
        <p:nvSpPr>
          <p:cNvPr id="22" name="Shape 17"/>
          <p:cNvSpPr/>
          <p:nvPr/>
        </p:nvSpPr>
        <p:spPr>
          <a:xfrm>
            <a:off x="5166360" y="2816352"/>
            <a:ext cx="2432304" cy="1847088"/>
          </a:xfrm>
          <a:prstGeom prst="rect">
            <a:avLst/>
          </a:prstGeom>
          <a:solidFill>
            <a:srgbClr val="080C1E"/>
          </a:solidFill>
          <a:ln w="7620">
            <a:solidFill>
              <a:srgbClr val="080C1E"/>
            </a:solidFill>
            <a:prstDash val="solid"/>
          </a:ln>
        </p:spPr>
      </p:sp>
      <p:sp>
        <p:nvSpPr>
          <p:cNvPr id="23" name="Text 18"/>
          <p:cNvSpPr/>
          <p:nvPr/>
        </p:nvSpPr>
        <p:spPr>
          <a:xfrm>
            <a:off x="5349240" y="3099816"/>
            <a:ext cx="2029968" cy="411480"/>
          </a:xfrm>
          <a:prstGeom prst="rect">
            <a:avLst/>
          </a:prstGeom>
          <a:noFill/>
          <a:ln/>
        </p:spPr>
        <p:txBody>
          <a:bodyPr wrap="square" lIns="0" tIns="0" rIns="0" bIns="0" rtlCol="0" anchor="ctr">
            <a:spAutoFit/>
          </a:bodyPr>
          <a:lstStyle/>
          <a:p>
            <a:pPr indent="0" marL="0">
              <a:buNone/>
            </a:pPr>
            <a:r>
              <a:rPr lang="en-US" sz="2700" b="1" dirty="0">
                <a:solidFill>
                  <a:srgbClr val="FFFFFF"/>
                </a:solidFill>
                <a:latin typeface="Inter" pitchFamily="34" charset="0"/>
                <a:ea typeface="Inter" pitchFamily="34" charset="-122"/>
                <a:cs typeface="Inter" pitchFamily="34" charset="-120"/>
              </a:rPr>
              <a:t>Kaleido</a:t>
            </a:r>
            <a:endParaRPr lang="en-US" sz="2700" dirty="0"/>
          </a:p>
        </p:txBody>
      </p:sp>
      <p:sp>
        <p:nvSpPr>
          <p:cNvPr id="24" name="Text 19"/>
          <p:cNvSpPr/>
          <p:nvPr/>
        </p:nvSpPr>
        <p:spPr>
          <a:xfrm>
            <a:off x="5349240" y="3694176"/>
            <a:ext cx="2029968" cy="502920"/>
          </a:xfrm>
          <a:prstGeom prst="rect">
            <a:avLst/>
          </a:prstGeom>
          <a:noFill/>
          <a:ln/>
        </p:spPr>
        <p:txBody>
          <a:bodyPr wrap="square" lIns="0" tIns="0" rIns="0" bIns="0" rtlCol="0" anchor="ctr">
            <a:spAutoFit/>
          </a:bodyPr>
          <a:lstStyle/>
          <a:p>
            <a:pPr indent="0" marL="0">
              <a:buNone/>
            </a:pPr>
            <a:r>
              <a:rPr lang="en-US" sz="1770" dirty="0">
                <a:solidFill>
                  <a:srgbClr val="B7C2D8"/>
                </a:solidFill>
                <a:latin typeface="Inter" pitchFamily="34" charset="0"/>
                <a:ea typeface="Inter" pitchFamily="34" charset="-122"/>
                <a:cs typeface="Inter" pitchFamily="34" charset="-120"/>
              </a:rPr>
              <a:t>Queries + steps</a:t>
            </a:r>
            <a:endParaRPr lang="en-US" sz="1770" dirty="0"/>
          </a:p>
          <a:p>
            <a:pPr indent="0" marL="0">
              <a:buNone/>
            </a:pPr>
            <a:r>
              <a:rPr lang="en-US" sz="1770" dirty="0">
                <a:solidFill>
                  <a:srgbClr val="B7C2D8"/>
                </a:solidFill>
                <a:latin typeface="Inter" pitchFamily="34" charset="0"/>
                <a:ea typeface="Inter" pitchFamily="34" charset="-122"/>
                <a:cs typeface="Inter" pitchFamily="34" charset="-120"/>
              </a:rPr>
              <a:t>+ registry</a:t>
            </a:r>
            <a:endParaRPr lang="en-US" sz="1770" dirty="0"/>
          </a:p>
        </p:txBody>
      </p:sp>
      <p:sp>
        <p:nvSpPr>
          <p:cNvPr id="25" name="Text 20"/>
          <p:cNvSpPr/>
          <p:nvPr/>
        </p:nvSpPr>
        <p:spPr>
          <a:xfrm>
            <a:off x="914400" y="4626864"/>
            <a:ext cx="6419088" cy="237744"/>
          </a:xfrm>
          <a:prstGeom prst="rect">
            <a:avLst/>
          </a:prstGeom>
          <a:noFill/>
          <a:ln/>
        </p:spPr>
        <p:txBody>
          <a:bodyPr wrap="square" lIns="0" tIns="0" rIns="0" bIns="0" rtlCol="0" anchor="ctr">
            <a:spAutoFit/>
          </a:bodyPr>
          <a:lstStyle/>
          <a:p>
            <a:pPr algn="ctr" indent="0" marL="0">
              <a:buNone/>
            </a:pPr>
            <a:r>
              <a:rPr lang="en-US" sz="1490" dirty="0">
                <a:solidFill>
                  <a:srgbClr val="536079"/>
                </a:solidFill>
                <a:latin typeface="Inter" pitchFamily="34" charset="0"/>
                <a:ea typeface="Inter" pitchFamily="34" charset="-122"/>
                <a:cs typeface="Inter" pitchFamily="34" charset="-120"/>
              </a:rPr>
              <a:t>Business handlers + systems</a:t>
            </a:r>
            <a:endParaRPr lang="en-US" sz="1490" dirty="0"/>
          </a:p>
        </p:txBody>
      </p:sp>
      <p:sp>
        <p:nvSpPr>
          <p:cNvPr id="26" name="Shape 21"/>
          <p:cNvSpPr/>
          <p:nvPr/>
        </p:nvSpPr>
        <p:spPr>
          <a:xfrm>
            <a:off x="612648" y="5349240"/>
            <a:ext cx="7333488" cy="795528"/>
          </a:xfrm>
          <a:prstGeom prst="rect">
            <a:avLst/>
          </a:prstGeom>
          <a:solidFill>
            <a:srgbClr val="F0EDFF"/>
          </a:solidFill>
          <a:ln w="7620">
            <a:solidFill>
              <a:srgbClr val="F0EDFF"/>
            </a:solidFill>
            <a:prstDash val="solid"/>
          </a:ln>
        </p:spPr>
      </p:sp>
      <p:sp>
        <p:nvSpPr>
          <p:cNvPr id="27" name="Text 22"/>
          <p:cNvSpPr/>
          <p:nvPr/>
        </p:nvSpPr>
        <p:spPr>
          <a:xfrm>
            <a:off x="905256" y="5513832"/>
            <a:ext cx="6748272" cy="438912"/>
          </a:xfrm>
          <a:prstGeom prst="rect">
            <a:avLst/>
          </a:prstGeom>
          <a:noFill/>
          <a:ln/>
        </p:spPr>
        <p:txBody>
          <a:bodyPr wrap="square" lIns="0" tIns="0" rIns="0" bIns="0" rtlCol="0" anchor="ctr">
            <a:spAutoFit/>
          </a:bodyPr>
          <a:lstStyle/>
          <a:p>
            <a:pPr algn="ctr" indent="0" marL="0">
              <a:buNone/>
            </a:pPr>
            <a:r>
              <a:rPr lang="en-US" sz="1850" b="1" dirty="0">
                <a:solidFill>
                  <a:srgbClr val="151B30"/>
                </a:solidFill>
                <a:latin typeface="Inter" pitchFamily="34" charset="0"/>
                <a:ea typeface="Inter" pitchFamily="34" charset="-122"/>
                <a:cs typeface="Inter" pitchFamily="34" charset="-120"/>
              </a:rPr>
              <a:t>Process state belongs to the service,</a:t>
            </a:r>
            <a:endParaRPr lang="en-US" sz="1850" dirty="0"/>
          </a:p>
          <a:p>
            <a:pPr algn="ctr" indent="0" marL="0">
              <a:buNone/>
            </a:pPr>
            <a:r>
              <a:rPr lang="en-US" sz="1850" b="1" dirty="0">
                <a:solidFill>
                  <a:srgbClr val="151B30"/>
                </a:solidFill>
                <a:latin typeface="Inter" pitchFamily="34" charset="0"/>
                <a:ea typeface="Inter" pitchFamily="34" charset="-122"/>
                <a:cs typeface="Inter" pitchFamily="34" charset="-120"/>
              </a:rPr>
              <a:t>not to the conversation.</a:t>
            </a:r>
            <a:endParaRPr lang="en-US" sz="1850" dirty="0"/>
          </a:p>
        </p:txBody>
      </p:sp>
      <p:sp>
        <p:nvSpPr>
          <p:cNvPr id="28" name="Shape 23"/>
          <p:cNvSpPr/>
          <p:nvPr/>
        </p:nvSpPr>
        <p:spPr>
          <a:xfrm>
            <a:off x="8348472" y="2286000"/>
            <a:ext cx="0" cy="3867912"/>
          </a:xfrm>
          <a:prstGeom prst="line">
            <a:avLst/>
          </a:prstGeom>
          <a:noFill/>
          <a:ln w="12700">
            <a:solidFill>
              <a:srgbClr val="DCE2F0"/>
            </a:solidFill>
            <a:prstDash val="solid"/>
            <a:headEnd type="none"/>
            <a:tailEnd type="none"/>
          </a:ln>
        </p:spPr>
      </p:sp>
      <p:sp>
        <p:nvSpPr>
          <p:cNvPr id="29" name="Text 24"/>
          <p:cNvSpPr/>
          <p:nvPr/>
        </p:nvSpPr>
        <p:spPr>
          <a:xfrm>
            <a:off x="8631936" y="2496312"/>
            <a:ext cx="2816352" cy="182880"/>
          </a:xfrm>
          <a:prstGeom prst="rect">
            <a:avLst/>
          </a:prstGeom>
          <a:noFill/>
          <a:ln/>
        </p:spPr>
        <p:txBody>
          <a:bodyPr wrap="square" lIns="0" tIns="0" rIns="0" bIns="0" rtlCol="0" anchor="ctr">
            <a:spAutoFit/>
          </a:bodyPr>
          <a:lstStyle/>
          <a:p>
            <a:pPr indent="0" marL="0">
              <a:buNone/>
            </a:pPr>
            <a:r>
              <a:rPr lang="en-US" sz="1050" b="1" spc="110" kern="0" dirty="0">
                <a:solidFill>
                  <a:srgbClr val="6257FA"/>
                </a:solidFill>
                <a:latin typeface="Inter" pitchFamily="34" charset="0"/>
                <a:ea typeface="Inter" pitchFamily="34" charset="-122"/>
                <a:cs typeface="Inter" pitchFamily="34" charset="-120"/>
              </a:rPr>
              <a:t>THE SERVICE + HOST OWN</a:t>
            </a:r>
            <a:endParaRPr lang="en-US" sz="1050" dirty="0"/>
          </a:p>
        </p:txBody>
      </p:sp>
      <p:sp>
        <p:nvSpPr>
          <p:cNvPr id="30" name="Shape 25"/>
          <p:cNvSpPr/>
          <p:nvPr/>
        </p:nvSpPr>
        <p:spPr>
          <a:xfrm>
            <a:off x="8650224" y="3163824"/>
            <a:ext cx="59436" cy="59436"/>
          </a:xfrm>
          <a:prstGeom prst="rect">
            <a:avLst/>
          </a:prstGeom>
          <a:solidFill>
            <a:srgbClr val="6257FA"/>
          </a:solidFill>
          <a:ln w="7620">
            <a:solidFill>
              <a:srgbClr val="6257FA"/>
            </a:solidFill>
            <a:prstDash val="solid"/>
          </a:ln>
        </p:spPr>
      </p:sp>
      <p:sp>
        <p:nvSpPr>
          <p:cNvPr id="31" name="Text 26"/>
          <p:cNvSpPr/>
          <p:nvPr/>
        </p:nvSpPr>
        <p:spPr>
          <a:xfrm>
            <a:off x="8823960" y="3044952"/>
            <a:ext cx="2688336" cy="274320"/>
          </a:xfrm>
          <a:prstGeom prst="rect">
            <a:avLst/>
          </a:prstGeom>
          <a:noFill/>
          <a:ln/>
        </p:spPr>
        <p:txBody>
          <a:bodyPr wrap="square" lIns="0" tIns="0" rIns="0" bIns="0" rtlCol="0" anchor="ctr">
            <a:spAutoFit/>
          </a:bodyPr>
          <a:lstStyle/>
          <a:p>
            <a:pPr indent="0" marL="0">
              <a:buNone/>
            </a:pPr>
            <a:r>
              <a:rPr lang="en-US" sz="1780" b="1" dirty="0">
                <a:solidFill>
                  <a:srgbClr val="151B30"/>
                </a:solidFill>
                <a:latin typeface="Inter" pitchFamily="34" charset="0"/>
                <a:ea typeface="Inter" pitchFamily="34" charset="-122"/>
                <a:cs typeface="Inter" pitchFamily="34" charset="-120"/>
              </a:rPr>
              <a:t>Identity and access</a:t>
            </a:r>
            <a:endParaRPr lang="en-US" sz="1780" dirty="0"/>
          </a:p>
        </p:txBody>
      </p:sp>
      <p:sp>
        <p:nvSpPr>
          <p:cNvPr id="32" name="Shape 27"/>
          <p:cNvSpPr/>
          <p:nvPr/>
        </p:nvSpPr>
        <p:spPr>
          <a:xfrm>
            <a:off x="8650224" y="3776472"/>
            <a:ext cx="59436" cy="59436"/>
          </a:xfrm>
          <a:prstGeom prst="rect">
            <a:avLst/>
          </a:prstGeom>
          <a:solidFill>
            <a:srgbClr val="6257FA"/>
          </a:solidFill>
          <a:ln w="7620">
            <a:solidFill>
              <a:srgbClr val="6257FA"/>
            </a:solidFill>
            <a:prstDash val="solid"/>
          </a:ln>
        </p:spPr>
      </p:sp>
      <p:sp>
        <p:nvSpPr>
          <p:cNvPr id="33" name="Text 28"/>
          <p:cNvSpPr/>
          <p:nvPr/>
        </p:nvSpPr>
        <p:spPr>
          <a:xfrm>
            <a:off x="8823960" y="3657600"/>
            <a:ext cx="2688336" cy="274320"/>
          </a:xfrm>
          <a:prstGeom prst="rect">
            <a:avLst/>
          </a:prstGeom>
          <a:noFill/>
          <a:ln/>
        </p:spPr>
        <p:txBody>
          <a:bodyPr wrap="square" lIns="0" tIns="0" rIns="0" bIns="0" rtlCol="0" anchor="ctr">
            <a:spAutoFit/>
          </a:bodyPr>
          <a:lstStyle/>
          <a:p>
            <a:pPr indent="0" marL="0">
              <a:buNone/>
            </a:pPr>
            <a:r>
              <a:rPr lang="en-US" sz="1780" b="1" dirty="0">
                <a:solidFill>
                  <a:srgbClr val="151B30"/>
                </a:solidFill>
                <a:latin typeface="Inter" pitchFamily="34" charset="0"/>
                <a:ea typeface="Inter" pitchFamily="34" charset="-122"/>
                <a:cs typeface="Inter" pitchFamily="34" charset="-120"/>
              </a:rPr>
              <a:t>Business validation</a:t>
            </a:r>
            <a:endParaRPr lang="en-US" sz="1780" dirty="0"/>
          </a:p>
        </p:txBody>
      </p:sp>
      <p:sp>
        <p:nvSpPr>
          <p:cNvPr id="34" name="Shape 29"/>
          <p:cNvSpPr/>
          <p:nvPr/>
        </p:nvSpPr>
        <p:spPr>
          <a:xfrm>
            <a:off x="8650224" y="4389120"/>
            <a:ext cx="59436" cy="59436"/>
          </a:xfrm>
          <a:prstGeom prst="rect">
            <a:avLst/>
          </a:prstGeom>
          <a:solidFill>
            <a:srgbClr val="6257FA"/>
          </a:solidFill>
          <a:ln w="7620">
            <a:solidFill>
              <a:srgbClr val="6257FA"/>
            </a:solidFill>
            <a:prstDash val="solid"/>
          </a:ln>
        </p:spPr>
      </p:sp>
      <p:sp>
        <p:nvSpPr>
          <p:cNvPr id="35" name="Text 30"/>
          <p:cNvSpPr/>
          <p:nvPr/>
        </p:nvSpPr>
        <p:spPr>
          <a:xfrm>
            <a:off x="8823960" y="4270248"/>
            <a:ext cx="2688336" cy="274320"/>
          </a:xfrm>
          <a:prstGeom prst="rect">
            <a:avLst/>
          </a:prstGeom>
          <a:noFill/>
          <a:ln/>
        </p:spPr>
        <p:txBody>
          <a:bodyPr wrap="square" lIns="0" tIns="0" rIns="0" bIns="0" rtlCol="0" anchor="ctr">
            <a:spAutoFit/>
          </a:bodyPr>
          <a:lstStyle/>
          <a:p>
            <a:pPr indent="0" marL="0">
              <a:buNone/>
            </a:pPr>
            <a:r>
              <a:rPr lang="en-US" sz="1780" b="1" dirty="0">
                <a:solidFill>
                  <a:srgbClr val="151B30"/>
                </a:solidFill>
                <a:latin typeface="Inter" pitchFamily="34" charset="0"/>
                <a:ea typeface="Inter" pitchFamily="34" charset="-122"/>
                <a:cs typeface="Inter" pitchFamily="34" charset="-120"/>
              </a:rPr>
              <a:t>Required approvals</a:t>
            </a:r>
            <a:endParaRPr lang="en-US" sz="1780" dirty="0"/>
          </a:p>
        </p:txBody>
      </p:sp>
      <p:sp>
        <p:nvSpPr>
          <p:cNvPr id="36" name="Shape 31"/>
          <p:cNvSpPr/>
          <p:nvPr/>
        </p:nvSpPr>
        <p:spPr>
          <a:xfrm>
            <a:off x="8650224" y="5001768"/>
            <a:ext cx="59436" cy="59436"/>
          </a:xfrm>
          <a:prstGeom prst="rect">
            <a:avLst/>
          </a:prstGeom>
          <a:solidFill>
            <a:srgbClr val="6257FA"/>
          </a:solidFill>
          <a:ln w="7620">
            <a:solidFill>
              <a:srgbClr val="6257FA"/>
            </a:solidFill>
            <a:prstDash val="solid"/>
          </a:ln>
        </p:spPr>
      </p:sp>
      <p:sp>
        <p:nvSpPr>
          <p:cNvPr id="37" name="Text 32"/>
          <p:cNvSpPr/>
          <p:nvPr/>
        </p:nvSpPr>
        <p:spPr>
          <a:xfrm>
            <a:off x="8823960" y="4882896"/>
            <a:ext cx="2688336" cy="274320"/>
          </a:xfrm>
          <a:prstGeom prst="rect">
            <a:avLst/>
          </a:prstGeom>
          <a:noFill/>
          <a:ln/>
        </p:spPr>
        <p:txBody>
          <a:bodyPr wrap="square" lIns="0" tIns="0" rIns="0" bIns="0" rtlCol="0" anchor="ctr">
            <a:spAutoFit/>
          </a:bodyPr>
          <a:lstStyle/>
          <a:p>
            <a:pPr indent="0" marL="0">
              <a:buNone/>
            </a:pPr>
            <a:r>
              <a:rPr lang="en-US" sz="1780" b="1" dirty="0">
                <a:solidFill>
                  <a:srgbClr val="151B30"/>
                </a:solidFill>
                <a:latin typeface="Inter" pitchFamily="34" charset="0"/>
                <a:ea typeface="Inter" pitchFamily="34" charset="-122"/>
                <a:cs typeface="Inter" pitchFamily="34" charset="-120"/>
              </a:rPr>
              <a:t>Production storage</a:t>
            </a:r>
            <a:endParaRPr lang="en-US" sz="1780" dirty="0"/>
          </a:p>
        </p:txBody>
      </p:sp>
      <p:sp>
        <p:nvSpPr>
          <p:cNvPr id="38" name="Text 33"/>
          <p:cNvSpPr/>
          <p:nvPr/>
        </p:nvSpPr>
        <p:spPr>
          <a:xfrm>
            <a:off x="8641080" y="5568696"/>
            <a:ext cx="2880360" cy="475488"/>
          </a:xfrm>
          <a:prstGeom prst="rect">
            <a:avLst/>
          </a:prstGeom>
          <a:noFill/>
          <a:ln/>
        </p:spPr>
        <p:txBody>
          <a:bodyPr wrap="square" lIns="0" tIns="0" rIns="0" bIns="0" rtlCol="0" anchor="t">
            <a:spAutoFit/>
          </a:bodyPr>
          <a:lstStyle/>
          <a:p>
            <a:pPr indent="0" marL="0">
              <a:buNone/>
            </a:pPr>
            <a:r>
              <a:rPr lang="en-US" sz="1620" b="1" dirty="0">
                <a:solidFill>
                  <a:srgbClr val="6257FA"/>
                </a:solidFill>
                <a:latin typeface="Inter" pitchFamily="34" charset="0"/>
                <a:ea typeface="Inter" pitchFamily="34" charset="-122"/>
                <a:cs typeface="Inter" pitchFamily="34" charset="-120"/>
              </a:rPr>
              <a:t>AI receives the interface.</a:t>
            </a:r>
            <a:endParaRPr lang="en-US" sz="1620" dirty="0"/>
          </a:p>
          <a:p>
            <a:pPr indent="0" marL="0">
              <a:buNone/>
            </a:pPr>
            <a:r>
              <a:rPr lang="en-US" sz="1620" b="1" dirty="0">
                <a:solidFill>
                  <a:srgbClr val="6257FA"/>
                </a:solidFill>
                <a:latin typeface="Inter" pitchFamily="34" charset="0"/>
                <a:ea typeface="Inter" pitchFamily="34" charset="-122"/>
                <a:cs typeface="Inter" pitchFamily="34" charset="-120"/>
              </a:rPr>
              <a:t>It does not inherit authority.</a:t>
            </a:r>
            <a:endParaRPr lang="en-US" sz="1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E"/>
        </a:solidFill>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6257FA"/>
          </a:solidFill>
          <a:ln w="7620">
            <a:solidFill>
              <a:srgbClr val="6257FA"/>
            </a:solidFill>
            <a:prstDash val="solid"/>
          </a:ln>
        </p:spPr>
      </p:sp>
      <p:sp>
        <p:nvSpPr>
          <p:cNvPr id="3" name="Text 1"/>
          <p:cNvSpPr/>
          <p:nvPr/>
        </p:nvSpPr>
        <p:spPr>
          <a:xfrm>
            <a:off x="603504" y="356616"/>
            <a:ext cx="10881360" cy="182880"/>
          </a:xfrm>
          <a:prstGeom prst="rect">
            <a:avLst/>
          </a:prstGeom>
          <a:noFill/>
          <a:ln/>
        </p:spPr>
        <p:txBody>
          <a:bodyPr wrap="square" lIns="0" tIns="0" rIns="0" bIns="0" rtlCol="0" anchor="ctr">
            <a:spAutoFit/>
          </a:bodyPr>
          <a:lstStyle/>
          <a:p>
            <a:pPr indent="0" marL="0">
              <a:buNone/>
            </a:pPr>
            <a:r>
              <a:rPr lang="en-US" sz="1050" b="1" spc="110" kern="0" dirty="0">
                <a:solidFill>
                  <a:srgbClr val="9C8FFF"/>
                </a:solidFill>
                <a:latin typeface="Inter" pitchFamily="34" charset="0"/>
                <a:ea typeface="Inter" pitchFamily="34" charset="-122"/>
                <a:cs typeface="Inter" pitchFamily="34" charset="-120"/>
              </a:rPr>
              <a:t>EXECUTIVE TAKEAWAY</a:t>
            </a:r>
            <a:endParaRPr lang="en-US" sz="1050" dirty="0"/>
          </a:p>
        </p:txBody>
      </p:sp>
      <p:sp>
        <p:nvSpPr>
          <p:cNvPr id="4" name="Text 2"/>
          <p:cNvSpPr/>
          <p:nvPr/>
        </p:nvSpPr>
        <p:spPr>
          <a:xfrm>
            <a:off x="594360" y="822960"/>
            <a:ext cx="10972800" cy="1042416"/>
          </a:xfrm>
          <a:prstGeom prst="rect">
            <a:avLst/>
          </a:prstGeom>
          <a:noFill/>
          <a:ln/>
        </p:spPr>
        <p:txBody>
          <a:bodyPr wrap="square" lIns="0" tIns="0" rIns="0" bIns="0" rtlCol="0" anchor="t">
            <a:spAutoFit/>
          </a:bodyPr>
          <a:lstStyle/>
          <a:p>
            <a:pPr indent="0" marL="0">
              <a:buNone/>
            </a:pPr>
            <a:r>
              <a:rPr lang="en-US" sz="4200" b="1" dirty="0">
                <a:solidFill>
                  <a:srgbClr val="FFFFFF"/>
                </a:solidFill>
                <a:latin typeface="Inter" pitchFamily="34" charset="0"/>
                <a:ea typeface="Inter" pitchFamily="34" charset="-122"/>
                <a:cs typeface="Inter" pitchFamily="34" charset="-120"/>
              </a:rPr>
              <a:t>Connect once.</a:t>
            </a:r>
            <a:endParaRPr lang="en-US" sz="4200" dirty="0"/>
          </a:p>
          <a:p>
            <a:pPr indent="0" marL="0">
              <a:buNone/>
            </a:pPr>
            <a:r>
              <a:rPr lang="en-US" sz="4200" b="1" dirty="0">
                <a:solidFill>
                  <a:srgbClr val="FFFFFF"/>
                </a:solidFill>
                <a:latin typeface="Inter" pitchFamily="34" charset="0"/>
                <a:ea typeface="Inter" pitchFamily="34" charset="-122"/>
                <a:cs typeface="Inter" pitchFamily="34" charset="-120"/>
              </a:rPr>
              <a:t>Let the business evolve.</a:t>
            </a:r>
            <a:endParaRPr lang="en-US" sz="4200" dirty="0"/>
          </a:p>
        </p:txBody>
      </p:sp>
      <p:sp>
        <p:nvSpPr>
          <p:cNvPr id="5" name="Shape 3"/>
          <p:cNvSpPr/>
          <p:nvPr/>
        </p:nvSpPr>
        <p:spPr>
          <a:xfrm>
            <a:off x="594360" y="6483096"/>
            <a:ext cx="11000232" cy="0"/>
          </a:xfrm>
          <a:prstGeom prst="line">
            <a:avLst/>
          </a:prstGeom>
          <a:noFill/>
          <a:ln w="6985">
            <a:solidFill>
              <a:srgbClr val="2D3652"/>
            </a:solidFill>
            <a:prstDash val="solid"/>
            <a:headEnd type="none"/>
            <a:tailEnd type="none"/>
          </a:ln>
        </p:spPr>
      </p:sp>
      <p:pic>
        <p:nvPicPr>
          <p:cNvPr id="6" name="Image 0" descr="/mnt/data/kaleido_v5_work/assets/s1_5.png">    </p:cNvPr>
          <p:cNvPicPr>
            <a:picLocks noChangeAspect="1"/>
          </p:cNvPicPr>
          <p:nvPr/>
        </p:nvPicPr>
        <p:blipFill>
          <a:blip r:embed="rId1"/>
          <a:stretch>
            <a:fillRect/>
          </a:stretch>
        </p:blipFill>
        <p:spPr>
          <a:xfrm>
            <a:off x="594360" y="6583680"/>
            <a:ext cx="164592" cy="164592"/>
          </a:xfrm>
          <a:prstGeom prst="rect">
            <a:avLst/>
          </a:prstGeom>
        </p:spPr>
      </p:pic>
      <p:sp>
        <p:nvSpPr>
          <p:cNvPr id="7" name="Text 4"/>
          <p:cNvSpPr/>
          <p:nvPr/>
        </p:nvSpPr>
        <p:spPr>
          <a:xfrm>
            <a:off x="859536" y="6565392"/>
            <a:ext cx="4572000" cy="182880"/>
          </a:xfrm>
          <a:prstGeom prst="rect">
            <a:avLst/>
          </a:prstGeom>
          <a:noFill/>
          <a:ln/>
        </p:spPr>
        <p:txBody>
          <a:bodyPr wrap="square" lIns="0" tIns="0" rIns="0" bIns="0" rtlCol="0" anchor="ctr">
            <a:spAutoFit/>
          </a:bodyPr>
          <a:lstStyle/>
          <a:p>
            <a:pPr indent="0" marL="0">
              <a:buNone/>
            </a:pPr>
            <a:r>
              <a:rPr lang="en-US" sz="830" dirty="0">
                <a:solidFill>
                  <a:srgbClr val="B7C2D8"/>
                </a:solidFill>
                <a:latin typeface="Inter" pitchFamily="34" charset="0"/>
                <a:ea typeface="Inter" pitchFamily="34" charset="-122"/>
                <a:cs typeface="Inter" pitchFamily="34" charset="-120"/>
              </a:rPr>
              <a:t>Kaleido  |  Executive overview</a:t>
            </a:r>
            <a:endParaRPr lang="en-US" sz="830" dirty="0"/>
          </a:p>
        </p:txBody>
      </p:sp>
      <p:sp>
        <p:nvSpPr>
          <p:cNvPr id="8" name="Text 5"/>
          <p:cNvSpPr/>
          <p:nvPr/>
        </p:nvSpPr>
        <p:spPr>
          <a:xfrm>
            <a:off x="7589520" y="6565392"/>
            <a:ext cx="4005072" cy="182880"/>
          </a:xfrm>
          <a:prstGeom prst="rect">
            <a:avLst/>
          </a:prstGeom>
          <a:noFill/>
          <a:ln/>
        </p:spPr>
        <p:txBody>
          <a:bodyPr wrap="square" lIns="0" tIns="0" rIns="0" bIns="0" rtlCol="0" anchor="ctr">
            <a:spAutoFit/>
          </a:bodyPr>
          <a:lstStyle/>
          <a:p>
            <a:pPr algn="r" indent="0" marL="0">
              <a:buNone/>
            </a:pPr>
            <a:r>
              <a:rPr lang="en-US" sz="830" dirty="0">
                <a:solidFill>
                  <a:srgbClr val="B7C2D8"/>
                </a:solidFill>
                <a:latin typeface="Inter" pitchFamily="34" charset="0"/>
                <a:ea typeface="Inter" pitchFamily="34" charset="-122"/>
                <a:cs typeface="Inter" pitchFamily="34" charset="-120"/>
              </a:rPr>
              <a:t>PRE-1.0 PROJECT PREVIEW  |  09</a:t>
            </a:r>
            <a:endParaRPr lang="en-US" sz="830" dirty="0"/>
          </a:p>
        </p:txBody>
      </p:sp>
      <p:pic>
        <p:nvPicPr>
          <p:cNvPr id="9" name="Image 1" descr="/mnt/data/kaleido_v5_work/assets/s1_5.png">    </p:cNvPr>
          <p:cNvPicPr>
            <a:picLocks noChangeAspect="1"/>
          </p:cNvPicPr>
          <p:nvPr/>
        </p:nvPicPr>
        <p:blipFill>
          <a:blip r:embed="rId2"/>
          <a:stretch>
            <a:fillRect/>
          </a:stretch>
        </p:blipFill>
        <p:spPr>
          <a:xfrm>
            <a:off x="9601200" y="822960"/>
            <a:ext cx="1664208" cy="1664208"/>
          </a:xfrm>
          <a:prstGeom prst="rect">
            <a:avLst/>
          </a:prstGeom>
        </p:spPr>
      </p:pic>
      <p:sp>
        <p:nvSpPr>
          <p:cNvPr id="10" name="Shape 6"/>
          <p:cNvSpPr/>
          <p:nvPr/>
        </p:nvSpPr>
        <p:spPr>
          <a:xfrm>
            <a:off x="676656" y="2761488"/>
            <a:ext cx="10762488" cy="0"/>
          </a:xfrm>
          <a:prstGeom prst="line">
            <a:avLst/>
          </a:prstGeom>
          <a:noFill/>
          <a:ln w="8890">
            <a:solidFill>
              <a:srgbClr val="28334D"/>
            </a:solidFill>
            <a:prstDash val="solid"/>
            <a:headEnd type="none"/>
            <a:tailEnd type="none"/>
          </a:ln>
        </p:spPr>
      </p:sp>
      <p:sp>
        <p:nvSpPr>
          <p:cNvPr id="11" name="Text 7"/>
          <p:cNvSpPr/>
          <p:nvPr/>
        </p:nvSpPr>
        <p:spPr>
          <a:xfrm>
            <a:off x="731520" y="2953512"/>
            <a:ext cx="621792" cy="320040"/>
          </a:xfrm>
          <a:prstGeom prst="rect">
            <a:avLst/>
          </a:prstGeom>
          <a:noFill/>
          <a:ln/>
        </p:spPr>
        <p:txBody>
          <a:bodyPr wrap="square" lIns="0" tIns="0" rIns="0" bIns="0" rtlCol="0" anchor="ctr">
            <a:spAutoFit/>
          </a:bodyPr>
          <a:lstStyle/>
          <a:p>
            <a:pPr indent="0" marL="0">
              <a:buNone/>
            </a:pPr>
            <a:r>
              <a:rPr lang="en-US" sz="1550" b="1" dirty="0">
                <a:solidFill>
                  <a:srgbClr val="9C8FFF"/>
                </a:solidFill>
                <a:latin typeface="Inter" pitchFamily="34" charset="0"/>
                <a:ea typeface="Inter" pitchFamily="34" charset="-122"/>
                <a:cs typeface="Inter" pitchFamily="34" charset="-120"/>
              </a:rPr>
              <a:t>01</a:t>
            </a:r>
            <a:endParaRPr lang="en-US" sz="1550" dirty="0"/>
          </a:p>
        </p:txBody>
      </p:sp>
      <p:sp>
        <p:nvSpPr>
          <p:cNvPr id="12" name="Text 8"/>
          <p:cNvSpPr/>
          <p:nvPr/>
        </p:nvSpPr>
        <p:spPr>
          <a:xfrm>
            <a:off x="1609344" y="2926080"/>
            <a:ext cx="9710928" cy="475488"/>
          </a:xfrm>
          <a:prstGeom prst="rect">
            <a:avLst/>
          </a:prstGeom>
          <a:noFill/>
          <a:ln/>
        </p:spPr>
        <p:txBody>
          <a:bodyPr wrap="square" lIns="0" tIns="0" rIns="0" bIns="0" rtlCol="0" anchor="ctr">
            <a:spAutoFit/>
          </a:bodyPr>
          <a:lstStyle/>
          <a:p>
            <a:pPr indent="0" marL="0">
              <a:buNone/>
            </a:pPr>
            <a:r>
              <a:rPr lang="en-US" sz="2500" b="1" dirty="0">
                <a:solidFill>
                  <a:srgbClr val="FFFFFF"/>
                </a:solidFill>
                <a:latin typeface="Inter" pitchFamily="34" charset="0"/>
                <a:ea typeface="Inter" pitchFamily="34" charset="-122"/>
                <a:cs typeface="Inter" pitchFamily="34" charset="-120"/>
              </a:rPr>
              <a:t>Connect without a bespoke workflow.</a:t>
            </a:r>
            <a:endParaRPr lang="en-US" sz="2500" dirty="0"/>
          </a:p>
        </p:txBody>
      </p:sp>
      <p:sp>
        <p:nvSpPr>
          <p:cNvPr id="13" name="Shape 9"/>
          <p:cNvSpPr/>
          <p:nvPr/>
        </p:nvSpPr>
        <p:spPr>
          <a:xfrm>
            <a:off x="676656" y="3703320"/>
            <a:ext cx="10762488" cy="0"/>
          </a:xfrm>
          <a:prstGeom prst="line">
            <a:avLst/>
          </a:prstGeom>
          <a:noFill/>
          <a:ln w="8890">
            <a:solidFill>
              <a:srgbClr val="28334D"/>
            </a:solidFill>
            <a:prstDash val="solid"/>
            <a:headEnd type="none"/>
            <a:tailEnd type="none"/>
          </a:ln>
        </p:spPr>
      </p:sp>
      <p:sp>
        <p:nvSpPr>
          <p:cNvPr id="14" name="Text 10"/>
          <p:cNvSpPr/>
          <p:nvPr/>
        </p:nvSpPr>
        <p:spPr>
          <a:xfrm>
            <a:off x="731520" y="3895344"/>
            <a:ext cx="621792" cy="320040"/>
          </a:xfrm>
          <a:prstGeom prst="rect">
            <a:avLst/>
          </a:prstGeom>
          <a:noFill/>
          <a:ln/>
        </p:spPr>
        <p:txBody>
          <a:bodyPr wrap="square" lIns="0" tIns="0" rIns="0" bIns="0" rtlCol="0" anchor="ctr">
            <a:spAutoFit/>
          </a:bodyPr>
          <a:lstStyle/>
          <a:p>
            <a:pPr indent="0" marL="0">
              <a:buNone/>
            </a:pPr>
            <a:r>
              <a:rPr lang="en-US" sz="1550" b="1" dirty="0">
                <a:solidFill>
                  <a:srgbClr val="21B6D7"/>
                </a:solidFill>
                <a:latin typeface="Inter" pitchFamily="34" charset="0"/>
                <a:ea typeface="Inter" pitchFamily="34" charset="-122"/>
                <a:cs typeface="Inter" pitchFamily="34" charset="-120"/>
              </a:rPr>
              <a:t>02</a:t>
            </a:r>
            <a:endParaRPr lang="en-US" sz="1550" dirty="0"/>
          </a:p>
        </p:txBody>
      </p:sp>
      <p:sp>
        <p:nvSpPr>
          <p:cNvPr id="15" name="Text 11"/>
          <p:cNvSpPr/>
          <p:nvPr/>
        </p:nvSpPr>
        <p:spPr>
          <a:xfrm>
            <a:off x="1609344" y="3867912"/>
            <a:ext cx="9710928" cy="475488"/>
          </a:xfrm>
          <a:prstGeom prst="rect">
            <a:avLst/>
          </a:prstGeom>
          <a:noFill/>
          <a:ln/>
        </p:spPr>
        <p:txBody>
          <a:bodyPr wrap="square" lIns="0" tIns="0" rIns="0" bIns="0" rtlCol="0" anchor="ctr">
            <a:spAutoFit/>
          </a:bodyPr>
          <a:lstStyle/>
          <a:p>
            <a:pPr indent="0" marL="0">
              <a:buNone/>
            </a:pPr>
            <a:r>
              <a:rPr lang="en-US" sz="2500" b="1" dirty="0">
                <a:solidFill>
                  <a:srgbClr val="FFFFFF"/>
                </a:solidFill>
                <a:latin typeface="Inter" pitchFamily="34" charset="0"/>
                <a:ea typeface="Inter" pitchFamily="34" charset="-122"/>
                <a:cs typeface="Inter" pitchFamily="34" charset="-120"/>
              </a:rPr>
              <a:t>Evolve without duplicating the change.</a:t>
            </a:r>
            <a:endParaRPr lang="en-US" sz="2500" dirty="0"/>
          </a:p>
        </p:txBody>
      </p:sp>
      <p:sp>
        <p:nvSpPr>
          <p:cNvPr id="16" name="Shape 12"/>
          <p:cNvSpPr/>
          <p:nvPr/>
        </p:nvSpPr>
        <p:spPr>
          <a:xfrm>
            <a:off x="676656" y="4645152"/>
            <a:ext cx="10762488" cy="0"/>
          </a:xfrm>
          <a:prstGeom prst="line">
            <a:avLst/>
          </a:prstGeom>
          <a:noFill/>
          <a:ln w="8890">
            <a:solidFill>
              <a:srgbClr val="28334D"/>
            </a:solidFill>
            <a:prstDash val="solid"/>
            <a:headEnd type="none"/>
            <a:tailEnd type="none"/>
          </a:ln>
        </p:spPr>
      </p:sp>
      <p:sp>
        <p:nvSpPr>
          <p:cNvPr id="17" name="Text 13"/>
          <p:cNvSpPr/>
          <p:nvPr/>
        </p:nvSpPr>
        <p:spPr>
          <a:xfrm>
            <a:off x="731520" y="4837176"/>
            <a:ext cx="621792" cy="320040"/>
          </a:xfrm>
          <a:prstGeom prst="rect">
            <a:avLst/>
          </a:prstGeom>
          <a:noFill/>
          <a:ln/>
        </p:spPr>
        <p:txBody>
          <a:bodyPr wrap="square" lIns="0" tIns="0" rIns="0" bIns="0" rtlCol="0" anchor="ctr">
            <a:spAutoFit/>
          </a:bodyPr>
          <a:lstStyle/>
          <a:p>
            <a:pPr indent="0" marL="0">
              <a:buNone/>
            </a:pPr>
            <a:r>
              <a:rPr lang="en-US" sz="1550" b="1" dirty="0">
                <a:solidFill>
                  <a:srgbClr val="19C4A7"/>
                </a:solidFill>
                <a:latin typeface="Inter" pitchFamily="34" charset="0"/>
                <a:ea typeface="Inter" pitchFamily="34" charset="-122"/>
                <a:cs typeface="Inter" pitchFamily="34" charset="-120"/>
              </a:rPr>
              <a:t>03</a:t>
            </a:r>
            <a:endParaRPr lang="en-US" sz="1550" dirty="0"/>
          </a:p>
        </p:txBody>
      </p:sp>
      <p:sp>
        <p:nvSpPr>
          <p:cNvPr id="18" name="Text 14"/>
          <p:cNvSpPr/>
          <p:nvPr/>
        </p:nvSpPr>
        <p:spPr>
          <a:xfrm>
            <a:off x="1609344" y="4809744"/>
            <a:ext cx="9710928" cy="475488"/>
          </a:xfrm>
          <a:prstGeom prst="rect">
            <a:avLst/>
          </a:prstGeom>
          <a:noFill/>
          <a:ln/>
        </p:spPr>
        <p:txBody>
          <a:bodyPr wrap="square" lIns="0" tIns="0" rIns="0" bIns="0" rtlCol="0" anchor="ctr">
            <a:spAutoFit/>
          </a:bodyPr>
          <a:lstStyle/>
          <a:p>
            <a:pPr indent="0" marL="0">
              <a:buNone/>
            </a:pPr>
            <a:r>
              <a:rPr lang="en-US" sz="2500" b="1" dirty="0">
                <a:solidFill>
                  <a:srgbClr val="FFFFFF"/>
                </a:solidFill>
                <a:latin typeface="Inter" pitchFamily="34" charset="0"/>
                <a:ea typeface="Inter" pitchFamily="34" charset="-122"/>
                <a:cs typeface="Inter" pitchFamily="34" charset="-120"/>
              </a:rPr>
              <a:t>Add products without another agent project.</a:t>
            </a:r>
            <a:endParaRPr lang="en-US" sz="2500" dirty="0"/>
          </a:p>
        </p:txBody>
      </p:sp>
      <p:sp>
        <p:nvSpPr>
          <p:cNvPr id="19" name="Shape 15"/>
          <p:cNvSpPr/>
          <p:nvPr/>
        </p:nvSpPr>
        <p:spPr>
          <a:xfrm>
            <a:off x="658368" y="5952744"/>
            <a:ext cx="10844784" cy="347472"/>
          </a:xfrm>
          <a:prstGeom prst="rect">
            <a:avLst/>
          </a:prstGeom>
          <a:solidFill>
            <a:srgbClr val="17223D"/>
          </a:solidFill>
          <a:ln w="7620">
            <a:solidFill>
              <a:srgbClr val="17223D"/>
            </a:solidFill>
            <a:prstDash val="solid"/>
          </a:ln>
        </p:spPr>
      </p:sp>
      <p:sp>
        <p:nvSpPr>
          <p:cNvPr id="20" name="Text 16"/>
          <p:cNvSpPr/>
          <p:nvPr/>
        </p:nvSpPr>
        <p:spPr>
          <a:xfrm>
            <a:off x="850392" y="6035040"/>
            <a:ext cx="10451592" cy="182880"/>
          </a:xfrm>
          <a:prstGeom prst="rect">
            <a:avLst/>
          </a:prstGeom>
          <a:noFill/>
          <a:ln/>
        </p:spPr>
        <p:txBody>
          <a:bodyPr wrap="square" lIns="0" tIns="0" rIns="0" bIns="0" rtlCol="0" anchor="ctr">
            <a:spAutoFit/>
          </a:bodyPr>
          <a:lstStyle/>
          <a:p>
            <a:pPr algn="ctr" indent="0" marL="0">
              <a:buNone/>
            </a:pPr>
            <a:r>
              <a:rPr lang="en-US" sz="1600" dirty="0">
                <a:solidFill>
                  <a:srgbClr val="B7C2D8"/>
                </a:solidFill>
                <a:latin typeface="Inter" pitchFamily="34" charset="0"/>
                <a:ea typeface="Inter" pitchFamily="34" charset="-122"/>
                <a:cs typeface="Inter" pitchFamily="34" charset="-120"/>
              </a:rPr>
              <a:t>The product service remains the source of truth.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Kaleido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Kaleido - Executive Overview v5</dc:title>
  <dc:subject>Kaleido executive overview: service-owned processes and runtime guidance for AI</dc:subject>
  <dc:creator>Andrew Ross</dc:creator>
  <cp:lastModifiedBy>Andrew Ross</cp:lastModifiedBy>
  <cp:revision>1</cp:revision>
  <dcterms:created xsi:type="dcterms:W3CDTF">2026-10-16T15:03:02Z</dcterms:created>
  <dcterms:modified xsi:type="dcterms:W3CDTF">2026-10-16T15:03:02Z</dcterms:modified>
</cp:coreProperties>
</file>