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8" r:id="rId20"/>
    <p:sldId id="259" r:id="rId11"/>
    <p:sldId id="257" r:id="rId9"/>
    <p:sldId id="258" r:id="rId10"/>
    <p:sldId id="260" r:id="rId12"/>
    <p:sldId id="269" r:id="rId21"/>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A .NET framework for business services.</a:t>
            </a:r>
          </a:p>
          <a:p/>
          <a:p>
            <a:r>
              <a:t>QUICK CUE</a:t>
            </a:r>
          </a:p>
          <a:p>
            <a:r>
              <a:t>Name the category first: a .NET framework that runs business steps, not just a catalog.</a:t>
            </a:r>
          </a:p>
          <a:p/>
          <a:p>
            <a:r>
              <a:t>SUGGESTED PACE</a:t>
            </a:r>
          </a:p>
          <a:p>
            <a:r>
              <a:t>45-60 seconds</a:t>
            </a:r>
          </a:p>
          <a:p/>
          <a:p>
            <a:r>
              <a:t>ON-SCREEN CUE</a:t>
            </a:r>
          </a:p>
          <a:p>
            <a:r>
              <a:t>Start with the framework definition. Then point to discover, act, ask, and continue.</a:t>
            </a:r>
          </a:p>
          <a:p/>
          <a:p>
            <a:r>
              <a:t>SAY</a:t>
            </a:r>
          </a:p>
          <a:p>
            <a:r>
              <a:t>Kaleido is a .NET framework for building business services. It lets us define the information a business can provide and the actions it can perform, then make those operations usable by applications and AI assistants.</a:t>
            </a:r>
          </a:p>
          <a:p/>
          <a:p>
            <a:r>
              <a:t>It does more than publish a list of operations. It runs our business handlers, tracks process progress, and returns what can happen next. So the website or the assistant does not have to invent a separate process model.</a:t>
            </a:r>
          </a:p>
          <a:p/>
          <a:p>
            <a:r>
              <a:t>Think of an action like selecting a provider or submitting a request. We write the business behavior in the service. Kaleido supplies the common mechanisms around that behavior, including the process state and the interface an AI can use.</a:t>
            </a:r>
          </a:p>
          <a:p/>
          <a:p>
            <a:r>
              <a:t>This is a pre-1.0 preview. I will explain what it is, the problem it addresses, and then walk through how a step actually works.</a:t>
            </a:r>
          </a:p>
          <a:p/>
          <a:p>
            <a:r>
              <a:t>TRANSITION</a:t>
            </a:r>
          </a:p>
          <a:p>
            <a:r>
              <a:t>Let me separate the three parts of the framework before we look at the problem.</a:t>
            </a:r>
          </a:p>
          <a:p/>
          <a:p>
            <a:r>
              <a:t>PRESENTER REMINDER - NOT SPOKEN</a:t>
            </a:r>
          </a:p>
          <a:p>
            <a:r>
              <a:t>AI-native refers to the implemented MCP adapter. Kaleido is not a built-in language model or a completed production application.</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Source: cleanup-chatgpt.md, sections 3, 5 and 15; cleanup-devin.md, KAL-REL-001 and KAL-SEC-001. Review recommendations are not implemented fixes. Credential delegation, retry/completion behavior and real-client interactions remain release-validation work.</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The idea needed a working example.</a:t>
            </a:r>
          </a:p>
          <a:p/>
          <a:p>
            <a:r>
              <a:t>QUICK CUE</a:t>
            </a:r>
          </a:p>
          <a:p>
            <a:r>
              <a:t>I built Kaleido to make the step concept tangible, not just explain it again.</a:t>
            </a:r>
          </a:p>
          <a:p/>
          <a:p>
            <a:r>
              <a:t>SUGGESTED PACE</a:t>
            </a:r>
          </a:p>
          <a:p>
            <a:r>
              <a:t>60-75 seconds</a:t>
            </a:r>
          </a:p>
          <a:p/>
          <a:p>
            <a:r>
              <a:t>ON-SCREEN CUE</a:t>
            </a:r>
          </a:p>
          <a:p>
            <a:r>
              <a:t>Speak personally. Pause after the communication gap, then move through action, behavior, and reuse.</a:t>
            </a:r>
          </a:p>
          <a:p/>
          <a:p>
            <a:r>
              <a:t>SAY</a:t>
            </a:r>
          </a:p>
          <a:p>
            <a:r>
              <a:t>For the past few years, I have been trying to explain this idea of steps. I could describe the concept, but when we got into specific scenarios, I was not making it clear how the pieces would actually work together.</a:t>
            </a:r>
          </a:p>
          <a:p/>
          <a:p>
            <a:r>
              <a:t>What I wanted people to see was the behavior: what an action needs, what happens when it runs, what becomes available afterward, and what happens when the process needs more information.</a:t>
            </a:r>
          </a:p>
          <a:p/>
          <a:p>
            <a:r>
              <a:t>That is the main reason I started Kaleido. Instead of asking people to imagine the model from another explanation, I wanted an executable example we could run, inspect, and discuss. The point was to make the idea concrete.</a:t>
            </a:r>
          </a:p>
          <a:p/>
          <a:p>
            <a:r>
              <a:t>The AI importance has grown from that foundation. Once the actions, inputs, and ways to continue are explicit, an AI assistant has something structured to work with too.</a:t>
            </a:r>
          </a:p>
          <a:p/>
          <a:p>
            <a:r>
              <a:t>TRANSITION</a:t>
            </a:r>
          </a:p>
          <a:p>
            <a:r>
              <a:t>Here is the distinction that makes the whole model easier to understand: a step is an action, not a screen.</a:t>
            </a:r>
          </a:p>
          <a:p/>
          <a:p>
            <a:r>
              <a:t>PRESENTER REMINDER - NOT SPOKEN</a:t>
            </a:r>
          </a:p>
          <a:p>
            <a:r>
              <a:t>First-person wording is a paraphrase of your account. Do not attribute it to a repository quotation or imply that AI was the original motivation.</a:t>
            </a:r>
          </a:p>
          <a:p/>
          <a:p>
            <a:r>
              <a:t>SOURCE BASIS - REFERENCE ONLY</a:t>
            </a:r>
          </a:p>
          <a:p>
            <a:r>
              <a:t>Founder account in the conversation, paraphrased. No repository origin quotation is claimed.</a:t>
            </a:r>
          </a:p>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A step is a business action - not a screen.</a:t>
            </a:r>
          </a:p>
          <a:p/>
          <a:p>
            <a:r>
              <a:t>QUICK CUE</a:t>
            </a:r>
          </a:p>
          <a:p>
            <a:r>
              <a:t>Inputs + current progress go into an action; an outcome + next work come back.</a:t>
            </a:r>
          </a:p>
          <a:p/>
          <a:p>
            <a:r>
              <a:t>SUGGESTED PACE</a:t>
            </a:r>
          </a:p>
          <a:p>
            <a:r>
              <a:t>90-120 seconds</a:t>
            </a:r>
          </a:p>
          <a:p/>
          <a:p>
            <a:r>
              <a:t>ON-SCREEN CUE</a:t>
            </a:r>
          </a:p>
          <a:p>
            <a:r>
              <a:t>Trace left to right. Then use the three continuation cards to explain that the process is not a page sequence.</a:t>
            </a:r>
          </a:p>
          <a:p/>
          <a:p>
            <a:r>
              <a:t>SAY</a:t>
            </a:r>
          </a:p>
          <a:p>
            <a:r>
              <a:t>Take selecting a provider. A website might show a list. A contact-center employee might help someone make the selection. An AI assistant might search and present the matching records. Those are different interactions around the same business action.</a:t>
            </a:r>
          </a:p>
          <a:p/>
          <a:p>
            <a:r>
              <a:t>The step is that business action. It has declared inputs, relationships to other steps, and a handler that implements what it means. It is not the screen, the button, or the chat message used to request it.</a:t>
            </a:r>
          </a:p>
          <a:p/>
          <a:p>
            <a:r>
              <a:t>The order comes from the declared relationships, the recorded progress, and any next direction returned by the handler. As an illustration, imagine that adding contact details and selecting a provider are both available after intake. Either could happen first if the rules allow it, while a review step could depend on both being complete.</a:t>
            </a:r>
          </a:p>
          <a:p/>
          <a:p>
            <a:r>
              <a:t>That is how flexibility and order coexist. Sometimes one particular step is required next. Sometimes there are several allowed choices. Sometimes the process needs answers to specific questions. The runtime checks those constraints; the interface presents the work.</a:t>
            </a:r>
          </a:p>
          <a:p/>
          <a:p>
            <a:r>
              <a:t>The framework does not decide which provider is best or whether a request deserves approval. That business meaning stays in the application and with the people or systems authorized to decide it.</a:t>
            </a:r>
          </a:p>
          <a:p/>
          <a:p>
            <a:r>
              <a:t>TRANSITION</a:t>
            </a:r>
          </a:p>
          <a:p>
            <a:r>
              <a:t>Now let me show what a developer actually writes to create one of those steps.</a:t>
            </a:r>
          </a:p>
          <a:p/>
          <a:p>
            <a:r>
              <a:t>PRESENTER REMINDER - NOT SPOKEN</a:t>
            </a:r>
          </a:p>
          <a:p>
            <a:r>
              <a:t>The contact-details example is hypothetical and illustrates the relationship model; it is not a claim about the exact PriorAuth sequence. The three cards are not an exhaustive state list.</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Stop rebuilding the process in every consumer.</a:t>
            </a:r>
          </a:p>
          <a:p/>
          <a:p>
            <a:r>
              <a:t>QUICK CUE</a:t>
            </a:r>
          </a:p>
          <a:p>
            <a:r>
              <a:t>The target is duplicated process plumbing, not the removal of all integration work.</a:t>
            </a:r>
          </a:p>
          <a:p/>
          <a:p>
            <a:r>
              <a:t>SUGGESTED PACE</a:t>
            </a:r>
          </a:p>
          <a:p>
            <a:r>
              <a:t>60-75 seconds</a:t>
            </a:r>
          </a:p>
          <a:p/>
          <a:p>
            <a:r>
              <a:t>ON-SCREEN CUE</a:t>
            </a:r>
          </a:p>
          <a:p>
            <a:r>
              <a:t>Contrast the three paths on the left with shared execution and state on the right.</a:t>
            </a:r>
          </a:p>
          <a:p/>
          <a:p>
            <a:r>
              <a:t>SAY</a:t>
            </a:r>
          </a:p>
          <a:p>
            <a:r>
              <a:t>The problem I am trying to solve is not simply that we need another API. It is that every new consumer can become another place where we rebuild the same understanding of the business.</a:t>
            </a:r>
          </a:p>
          <a:p/>
          <a:p>
            <a:r>
              <a:t>The website has to know which inputs to send, which action is valid, and what to show next. A workflow integration needs similar knowledge. Then an AI assistant arrives, and we risk rebuilding those assumptions in another adapter or prompt.</a:t>
            </a:r>
          </a:p>
          <a:p/>
          <a:p>
            <a:r>
              <a:t>Kaleido gives those consumers a common place to obtain that information and perform the work. The service owns the action and its process state. The consumer calls the action and reads the returned guidance instead of maintaining a separate version of the journey.</a:t>
            </a:r>
          </a:p>
          <a:p/>
          <a:p>
            <a:r>
              <a:t>We could build these mechanisms ourselves without Kaleido. The framework is intended to make them reusable and consistent across services. It does not eliminate domain code, user-interface design, or boundary mapping, and I am not claiming a measured cost saving yet.</a:t>
            </a:r>
          </a:p>
          <a:p/>
          <a:p>
            <a:r>
              <a:t>TRANSITION</a:t>
            </a:r>
          </a:p>
          <a:p>
            <a:r>
              <a:t>That same communication problem is also part of why I started the project.</a:t>
            </a:r>
          </a:p>
          <a:p/>
          <a:p>
            <a:r>
              <a:t>PRESENTER REMINDER - NOT SPOKEN</a:t>
            </a:r>
          </a:p>
          <a:p>
            <a:r>
              <a:t>This is the architectural value proposition, not a claim that all existing systems duplicate logic or that Kaleido is the only way to avoid duplication.</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Framing carried forward from the supplied executive deck. Integration savings are intended value, not measured results. Named platforms are illustrative fit, not delivered connectors or certifications.</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You write the action. Kaleido supplies the runtime.</a:t>
            </a:r>
          </a:p>
          <a:p/>
          <a:p>
            <a:r>
              <a:t>QUICK CUE</a:t>
            </a:r>
          </a:p>
          <a:p>
            <a:r>
              <a:t>Declare the contract, implement the handler, then register and expose the model.</a:t>
            </a:r>
          </a:p>
          <a:p/>
          <a:p>
            <a:r>
              <a:t>SUGGESTED PACE</a:t>
            </a:r>
          </a:p>
          <a:p>
            <a:r>
              <a:t>90-120 seconds</a:t>
            </a:r>
          </a:p>
          <a:p/>
          <a:p>
            <a:r>
              <a:t>ON-SCREEN CUE</a:t>
            </a:r>
          </a:p>
          <a:p>
            <a:r>
              <a:t>Walk across the three columns. Clearly distinguish what the developer writes from what the framework derives.</a:t>
            </a:r>
          </a:p>
          <a:p/>
          <a:p>
            <a:r>
              <a:t>SAY</a:t>
            </a:r>
          </a:p>
          <a:p>
            <a:r>
              <a:t>This is the build-time view. First, we declare the operation in C#: its input type, a meaningful name and description, and the process relationships that apply. We also define the query sources or views needed to find information. That is what code-first means here.</a:t>
            </a:r>
          </a:p>
          <a:p/>
          <a:p>
            <a:r>
              <a:t>Second, we implement the business handler. For provider selection, that code checks the business meaning of the selection, reads or writes the appropriate systems, and returns an outcome. The business code can also direct the process to a required next step or request more information.</a:t>
            </a:r>
          </a:p>
          <a:p/>
          <a:p>
            <a:r>
              <a:t>Third, we register the relevant assemblies with Kaleido and configure the host adapters we need. The framework builds registries from those declarations. The HTTP layer exposes the query and step operations. The MCP adapter translates the registry into tools with input schemas and descriptions.</a:t>
            </a:r>
          </a:p>
          <a:p/>
          <a:p>
            <a:r>
              <a:t>The important point is what we do not have to define independently: a business action for the website and a second business action for the AI. Both can reach the same implementation.</a:t>
            </a:r>
          </a:p>
          <a:p/>
          <a:p>
            <a:r>
              <a:t>This is not automatic conversion of an arbitrary existing API. Developers adopt the contracts, supply the handlers or query implementations, and configure the host. Kaleido supplies the reusable execution and discovery machinery around that work.</a:t>
            </a:r>
          </a:p>
          <a:p/>
          <a:p>
            <a:r>
              <a:t>TRANSITION</a:t>
            </a:r>
          </a:p>
          <a:p>
            <a:r>
              <a:t>That is how we build the action. Here is what happens when somebody calls it.</a:t>
            </a:r>
          </a:p>
          <a:p/>
          <a:p>
            <a:r>
              <a:t>PRESENTER REMINDER - NOT SPOKEN</a:t>
            </a:r>
          </a:p>
          <a:p>
            <a:r>
              <a:t>No executable code snippet is shown. The source export contains stale internal names, so this explanation intentionally uses the documented public step/handler/registration concepts.</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Different interfaces. The same business execution.</a:t>
            </a:r>
          </a:p>
          <a:p/>
          <a:p>
            <a:r>
              <a:t>QUICK CUE</a:t>
            </a:r>
          </a:p>
          <a:p>
            <a:r>
              <a:t>The interface changes; the framework and business handler underneath do not.</a:t>
            </a:r>
          </a:p>
          <a:p/>
          <a:p>
            <a:r>
              <a:t>SUGGESTED PACE</a:t>
            </a:r>
          </a:p>
          <a:p>
            <a:r>
              <a:t>60-75 seconds</a:t>
            </a:r>
          </a:p>
          <a:p/>
          <a:p>
            <a:r>
              <a:t>ON-SCREEN CUE</a:t>
            </a:r>
          </a:p>
          <a:p>
            <a:r>
              <a:t>Follow the AI lane through MCP, then the HTTP lanes. Point to the runtime and then the business implementations.</a:t>
            </a:r>
          </a:p>
          <a:p/>
          <a:p>
            <a:r>
              <a:t>SAY</a:t>
            </a:r>
          </a:p>
          <a:p>
            <a:r>
              <a:t>This picture puts the framework in context. An AI assistant comes through the MCP adapter. Web applications, workflow integrations, assisted channels, and partner adapters can come through HTTP. They reach the same query and process model.</a:t>
            </a:r>
          </a:p>
          <a:p/>
          <a:p>
            <a:r>
              <a:t>The middle is not just a passive catalog. Kaleido includes the runtime we just walked through, along with the registries and information contracts. At the bottom are the business handlers, domain services, and persistence that implement the actual business.</a:t>
            </a:r>
          </a:p>
          <a:p/>
          <a:p>
            <a:r>
              <a:t>The language model stays outside Kaleido. The application still owns the business meaning. An assistant can help someone interact with a process without becoming the place where the rules and state live.</a:t>
            </a:r>
          </a:p>
          <a:p/>
          <a:p>
            <a:r>
              <a:t>These are categories of consumers, not a claim that every connector shown is packaged with the project. The important architectural choice is to keep execution independent of presentation.</a:t>
            </a:r>
          </a:p>
          <a:p/>
          <a:p>
            <a:r>
              <a:t>TRANSITION</a:t>
            </a:r>
          </a:p>
          <a:p>
            <a:r>
              <a:t>Now the AI story should be easier to explain, because it uses the same mechanism rather than introducing another one.</a:t>
            </a:r>
          </a:p>
          <a:p/>
          <a:p>
            <a:r>
              <a:t>PRESENTER REMINDER - NOT SPOKEN</a:t>
            </a:r>
          </a:p>
          <a:p>
            <a:r>
              <a:t>The drawing omits detailed deployment and credential topology. It is not evidence of completed downstream delegation or delivered vendor integrations.</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AI gets tools from the same declared business model.</a:t>
            </a:r>
          </a:p>
          <a:p/>
          <a:p>
            <a:r>
              <a:t>QUICK CUE</a:t>
            </a:r>
          </a:p>
          <a:p>
            <a:r>
              <a:t>Metadata becomes tools; tool calls reach business handlers; returned state guides continuation.</a:t>
            </a:r>
          </a:p>
          <a:p/>
          <a:p>
            <a:r>
              <a:t>SUGGESTED PACE</a:t>
            </a:r>
          </a:p>
          <a:p>
            <a:r>
              <a:t>90-105 seconds</a:t>
            </a:r>
          </a:p>
          <a:p/>
          <a:p>
            <a:r>
              <a:t>ON-SCREEN CUE</a:t>
            </a:r>
          </a:p>
          <a:p>
            <a:r>
              <a:t>Point to the subtitle for the mechanism, then walk through discover, look up, act, ask, and continue.</a:t>
            </a:r>
          </a:p>
          <a:p/>
          <a:p>
            <a:r>
              <a:t>SAY</a:t>
            </a:r>
          </a:p>
          <a:p>
            <a:r>
              <a:t>The MCP adapter turns the caller-visible registry into tools. It uses the names, descriptions, input schemas, and constraints we declared for the business operations. Tool calls then go through the Kaleido HTTP clients to the business services.</a:t>
            </a:r>
          </a:p>
          <a:p/>
          <a:p>
            <a:r>
              <a:t>A lookup tells the interaction where an input value comes from. Rather than guessing an internal identifier, the assistant can search for a real record and let the user choose. Where the client supports forms, the adapter can guide that selection directly.</a:t>
            </a:r>
          </a:p>
          <a:p/>
          <a:p>
            <a:r>
              <a:t>When the assistant invokes a step, it reaches the runtime and the business handler we already discussed. If information is missing, the service can return specific questions. The model is guided to obtain the user's answers, not invent the business facts.</a:t>
            </a:r>
          </a:p>
          <a:p/>
          <a:p>
            <a:r>
              <a:t>Afterward, the returned state says what is required or available. The default guidance tells the assistant to offer available choices to the user and follow that process information.</a:t>
            </a:r>
          </a:p>
          <a:p/>
          <a:p>
            <a:r>
              <a:t>That is the AI importance here: the business publishes a usable interface for action, not just text for the assistant to read. But instructions and tool hints remain guidance; they do not replace server-side validation or authorization.</a:t>
            </a:r>
          </a:p>
          <a:p/>
          <a:p>
            <a:r>
              <a:t>TRANSITION</a:t>
            </a:r>
          </a:p>
          <a:p>
            <a:r>
              <a:t>Let us follow one small example all the way through, without changing the action halfway through the explanation.</a:t>
            </a:r>
          </a:p>
          <a:p/>
          <a:p>
            <a:r>
              <a:t>PRESENTER REMINDER - NOT SPOKEN</a:t>
            </a:r>
          </a:p>
          <a:p>
            <a:r>
              <a:t>Form behavior depends on the MCP client. AI-native does not imply built-in inference, autonomous planning, or guaranteed model compliance.</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Watch one action: selecting a provider.</a:t>
            </a:r>
          </a:p>
          <a:p/>
          <a:p>
            <a:r>
              <a:t>QUICK CUE</a:t>
            </a:r>
          </a:p>
          <a:p>
            <a:r>
              <a:t>Search reads. Selection acts. Returned state tells us how to continue.</a:t>
            </a:r>
          </a:p>
          <a:p/>
          <a:p>
            <a:r>
              <a:t>SUGGESTED PACE</a:t>
            </a:r>
          </a:p>
          <a:p>
            <a:r>
              <a:t>90-105 seconds</a:t>
            </a:r>
          </a:p>
          <a:p/>
          <a:p>
            <a:r>
              <a:t>ON-SCREEN CUE</a:t>
            </a:r>
          </a:p>
          <a:p>
            <a:r>
              <a:t>For each row, say the person/AI interaction on the left and immediately explain the mechanism on the right.</a:t>
            </a:r>
          </a:p>
          <a:p/>
          <a:p>
            <a:r>
              <a:t>SAY</a:t>
            </a:r>
          </a:p>
          <a:p>
            <a:r>
              <a:t>This is an illustrative interaction based on the provider-selection pattern in the sample, not a recording of a live run.</a:t>
            </a:r>
          </a:p>
          <a:p/>
          <a:p>
            <a:r>
              <a:t>Person: "Help me find the provider location for this request." The assistant searches and shows matching records. Underneath, that is a query. It reads information; it has not yet changed the provider selection on the request.</a:t>
            </a:r>
          </a:p>
          <a:p/>
          <a:p>
            <a:r>
              <a:t>Person: "Use this location." Now there is a business action to perform. The consumer takes the related provider and location identifiers from the selected result and calls the step with the process ID.</a:t>
            </a:r>
          </a:p>
          <a:p/>
          <a:p>
            <a:r>
              <a:t>Kaleido checks the process constraints and the input structure. The business handler checks the relationship and whether the selection is valid for the request, then performs the action. Merely displaying a valid-looking choice in a form is not a substitute for those server-side checks.</a:t>
            </a:r>
          </a:p>
          <a:p/>
          <a:p>
            <a:r>
              <a:t>The consumer then reads the outcome and next-step guidance. It might need to present a required action, offer allowed choices, or collect service-owned information. It should use the actual response, not assume which screen comes next.</a:t>
            </a:r>
          </a:p>
          <a:p/>
          <a:p>
            <a:r>
              <a:t>A website could perform the same search, selection, and continuation with different controls. The business action stays in the service; the conversation is only one interface to it.</a:t>
            </a:r>
          </a:p>
          <a:p/>
          <a:p>
            <a:r>
              <a:t>TRANSITION</a:t>
            </a:r>
          </a:p>
          <a:p>
            <a:r>
              <a:t>Because the progress belongs to the process, it can also survive a change of interface.</a:t>
            </a:r>
          </a:p>
          <a:p/>
          <a:p>
            <a:r>
              <a:t>PRESENTER REMINDER - NOT SPOKEN</a:t>
            </a:r>
          </a:p>
          <a:p>
            <a:r>
              <a:t>The dialogue and labels are explanatory, not literal tool names, API payloads, or a fixed PriorAuth workflow. No actual service-owned question or attestation is invented.</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Source: kaleido-context(3).xml, samples/PriorAuth/Common/Radiology/Process/Steps/CaptureRequestingProviderStep.cs and CaptureServicingProviderStep.cs; MCP README, Lookups. Example is explanatory, not a live execution or a literal wire payload.</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The process should outlive the conversation.</a:t>
            </a:r>
          </a:p>
          <a:p/>
          <a:p>
            <a:r>
              <a:t>QUICK CUE</a:t>
            </a:r>
          </a:p>
          <a:p>
            <a:r>
              <a:t>The next authorized consumer reloads process state, not just chat history.</a:t>
            </a:r>
          </a:p>
          <a:p/>
          <a:p>
            <a:r>
              <a:t>SUGGESTED PACE</a:t>
            </a:r>
          </a:p>
          <a:p>
            <a:r>
              <a:t>60-75 seconds</a:t>
            </a:r>
          </a:p>
          <a:p/>
          <a:p>
            <a:r>
              <a:t>ON-SCREEN CUE</a:t>
            </a:r>
          </a:p>
          <a:p>
            <a:r>
              <a:t>Trace the three consumers, then point to the one-process-ID bar underneath.</a:t>
            </a:r>
          </a:p>
          <a:p/>
          <a:p>
            <a:r>
              <a:t>SAY</a:t>
            </a:r>
          </a:p>
          <a:p>
            <a:r>
              <a:t>A conversation is one way to interact with the business. It should not be the only place where the business knows what has happened.</a:t>
            </a:r>
          </a:p>
          <a:p/>
          <a:p>
            <a:r>
              <a:t>The process has its own identity and current recorded state, including pending information and next steps. A subsequent authorized consumer can use that identity to read the state before continuing.</a:t>
            </a:r>
          </a:p>
          <a:p/>
          <a:p>
            <a:r>
              <a:t>The picture shows an AI-assisted start, a web continuation, and human assistance. The important idea is not those particular channels. It is that changing the interface should not require reconstructing the business process from a transcript.</a:t>
            </a:r>
          </a:p>
          <a:p/>
          <a:p>
            <a:r>
              <a:t>That pattern depends on durable storage and appropriate access control in the deployment. The process ID identifies the work; it does not by itself prove that the person has permission to access that case. It is also current process state, not a claim that every historical business fact is stored there.</a:t>
            </a:r>
          </a:p>
          <a:p/>
          <a:p>
            <a:r>
              <a:t>TRANSITION</a:t>
            </a:r>
          </a:p>
          <a:p>
            <a:r>
              <a:t>This is why I see Kaleido working alongside existing platforms, rather than replacing everything around it.</a:t>
            </a:r>
          </a:p>
          <a:p/>
          <a:p>
            <a:r>
              <a:t>PRESENTER REMINDER - NOT SPOKEN</a:t>
            </a:r>
          </a:p>
          <a:p>
            <a:r>
              <a:t>Cross-channel continuation is distinct from cross-processor handoff. The sample documents open handoff validation work. Do not claim every transfer path has been proven.</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Source: kaleido-context(3).xml, samples/PriorAuth/Common/Radiology/Process/Steps/CaptureRequestingProviderStep.cs and CaptureServicingProviderStep.cs; MCP README, Lookups. Example is explanatory, not a live execution or a literal wire payload.</a:t>
            </a:r>
          </a:p>
          <a:p/>
          <a:p>
            <a:r>
              <a:t>Source: cleanup-chatgpt.md, sections 3, 5 and 15; cleanup-devin.md, KAL-REL-001 and KAL-SEC-001. Review recommendations are not implemented fixes. Credential delegation, retry/completion behavior and real-client interactions remain release-validation work.</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 process runtime - not a whole case-management platform.</a:t>
            </a:r>
          </a:p>
          <a:p/>
          <a:p>
            <a:r>
              <a:t>QUICK CUE</a:t>
            </a:r>
          </a:p>
          <a:p>
            <a:r>
              <a:t>Be precise: Kaleido executes business processes, but is not the entire work-management environment.</a:t>
            </a:r>
          </a:p>
          <a:p/>
          <a:p>
            <a:r>
              <a:t>SUGGESTED PACE</a:t>
            </a:r>
          </a:p>
          <a:p>
            <a:r>
              <a:t>60-75 seconds</a:t>
            </a:r>
          </a:p>
          <a:p/>
          <a:p>
            <a:r>
              <a:t>ON-SCREEN CUE</a:t>
            </a:r>
          </a:p>
          <a:p>
            <a:r>
              <a:t>Start with the title distinction, then briefly cover the three platform boundaries.</a:t>
            </a:r>
          </a:p>
          <a:p/>
          <a:p>
            <a:r>
              <a:t>SAY</a:t>
            </a:r>
          </a:p>
          <a:p>
            <a:r>
              <a:t>There is a wording trap I want to avoid. Saying Kaleido is not an engine can make it sound like it is only an API description. It does include a process runtime: it checks step rules, runs handlers, and records progress.</a:t>
            </a:r>
          </a:p>
          <a:p/>
          <a:p>
            <a:r>
              <a:t>What this presentation does not position it as is a replacement for an entire workflow or case-management platform. That platform can retain its assignments, human tasks, and service-level management while calling reusable business information and actions.</a:t>
            </a:r>
          </a:p>
          <a:p/>
          <a:p>
            <a:r>
              <a:t>Voice, web, and assisted channels retain their presentation and interaction responsibilities. Standards and partner adapters retain their external exchange boundary. They can map into the business operations rather than define those operations again.</a:t>
            </a:r>
          </a:p>
          <a:p/>
          <a:p>
            <a:r>
              <a:t>The AI assistant is another first-class consumer through the implemented MCP adapter. The categories here describe integration fit, not bundled connectors or a standards certification.</a:t>
            </a:r>
          </a:p>
          <a:p/>
          <a:p>
            <a:r>
              <a:t>TRANSITION</a:t>
            </a:r>
          </a:p>
          <a:p>
            <a:r>
              <a:t>The remaining boundary is authority: who can act, what the action means, and what the preview is ready to promise.</a:t>
            </a:r>
          </a:p>
          <a:p/>
          <a:p>
            <a:r>
              <a:t>PRESENTER REMINDER - NOT SPOKEN</a:t>
            </a:r>
          </a:p>
          <a:p>
            <a:r>
              <a:t>Do not describe Kaleido as having no process execution, or imply that Pega, IVR, or Da Vinci integrations are delivered and certified.</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Framing carried forward from the supplied executive deck. Integration savings are intended value, not measured results. Named platforms are illustrative fit, not delivered connectors or certifications.</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AI-native does not mean unbounded.</a:t>
            </a:r>
          </a:p>
          <a:p/>
          <a:p>
            <a:r>
              <a:t>QUICK CUE</a:t>
            </a:r>
          </a:p>
          <a:p>
            <a:r>
              <a:t>The framework provides mechanisms; the host and business retain authority and release responsibilities.</a:t>
            </a:r>
          </a:p>
          <a:p/>
          <a:p>
            <a:r>
              <a:t>SUGGESTED PACE</a:t>
            </a:r>
          </a:p>
          <a:p>
            <a:r>
              <a:t>75-90 seconds</a:t>
            </a:r>
          </a:p>
          <a:p/>
          <a:p>
            <a:r>
              <a:t>ON-SCREEN CUE</a:t>
            </a:r>
          </a:p>
          <a:p>
            <a:r>
              <a:t>Separate implemented mechanisms on the left from deployment and business responsibilities on the right.</a:t>
            </a:r>
          </a:p>
          <a:p/>
          <a:p>
            <a:r>
              <a:t>SAY</a:t>
            </a:r>
          </a:p>
          <a:p>
            <a:r>
              <a:t>The left side lists implemented mechanisms: tool schemas, caller-filtered discovery, input validation, process rules, lookups, and continuation guidance. Those mechanisms make the interaction more explicit.</a:t>
            </a:r>
          </a:p>
          <a:p/>
          <a:p>
            <a:r>
              <a:t>They do not transfer authority to the model. The host and application must establish who may act, which records they may access, what an action means, and whether an approval or confirmed consent is required.</a:t>
            </a:r>
          </a:p>
          <a:p/>
          <a:p>
            <a:r>
              <a:t>A prompt that says "ask for confirmation" is useful guidance. It is not proof that a person consented. And storing a process outcome does not automatically guarantee that every external side effect happens exactly once.</a:t>
            </a:r>
          </a:p>
          <a:p/>
          <a:p>
            <a:r>
              <a:t>That is also why the deck remains a pre-1.0 preview. The reviews identify unresolved work around MCP credential delegation, retries and completion, and real-client consent behavior. Those need to be resolved and tested against the actual release candidate.</a:t>
            </a:r>
          </a:p>
          <a:p/>
          <a:p>
            <a:r>
              <a:t>I am presenting an implemented framework and an AI interface, not claiming that every production guarantee has already been established.</a:t>
            </a:r>
          </a:p>
          <a:p/>
          <a:p>
            <a:r>
              <a:t>TRANSITION</a:t>
            </a:r>
          </a:p>
          <a:p>
            <a:r>
              <a:t>So the takeaway is a concrete framework, a repeatable execution model, and a shared interface for applications and AI.</a:t>
            </a:r>
          </a:p>
          <a:p/>
          <a:p>
            <a:r>
              <a:t>PRESENTER REMINDER - NOT SPOKEN</a:t>
            </a:r>
          </a:p>
          <a:p>
            <a:r>
              <a:t>No cleanup recommendation is treated as implemented. Do not promise prompt-injection immunity, automatic business approval, or arbitrary exactly-once external effects.</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Source: cleanup-chatgpt.md, sections 3, 5 and 15; cleanup-devin.md, KAL-REL-001 and KAL-SEC-001. Review recommendations are not implemented fixes. Credential delegation, retry/completion behavior and real-client interactions remain release-validation work.</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Build the business action once. Use it from applications and AI.</a:t>
            </a:r>
          </a:p>
          <a:p/>
          <a:p>
            <a:r>
              <a:t>QUICK CUE</a:t>
            </a:r>
          </a:p>
          <a:p>
            <a:r>
              <a:t>Define the work. Execute and continue. Reuse through HTTP and MCP.</a:t>
            </a:r>
          </a:p>
          <a:p/>
          <a:p>
            <a:r>
              <a:t>SUGGESTED PACE</a:t>
            </a:r>
          </a:p>
          <a:p>
            <a:r>
              <a:t>45-60 seconds</a:t>
            </a:r>
          </a:p>
          <a:p/>
          <a:p>
            <a:r>
              <a:t>ON-SCREEN CUE</a:t>
            </a:r>
          </a:p>
          <a:p>
            <a:r>
              <a:t>Return to the concrete definition, then finish on the four verbs along the bottom.</a:t>
            </a:r>
          </a:p>
          <a:p/>
          <a:p>
            <a:r>
              <a:t>SAY</a:t>
            </a:r>
          </a:p>
          <a:p>
            <a:r>
              <a:t>If someone asks what Kaleido is, this is the answer I want them to leave with: it is a .NET framework for building business services as discoverable queries and executable steps, with process state and guidance about what comes next.</a:t>
            </a:r>
          </a:p>
          <a:p/>
          <a:p>
            <a:r>
              <a:t>We define the action and its business handler in the service. Kaleido runs it within the declared process rules, records progress, and exposes the model to applications through HTTP and to AI assistants through MCP.</a:t>
            </a:r>
          </a:p>
          <a:p/>
          <a:p>
            <a:r>
              <a:t>The problem it addresses is having to rebuild that same process plumbing and understanding for every new consumer.</a:t>
            </a:r>
          </a:p>
          <a:p/>
          <a:p>
            <a:r>
              <a:t>I started the project to make the step concept something people could see working. The AI opportunity makes that explicit model even more useful, without moving business authority into a chatbot.</a:t>
            </a:r>
          </a:p>
          <a:p/>
          <a:p>
            <a:r>
              <a:t>Define the work. Discover it. Execute the action. Continue the process.</a:t>
            </a:r>
          </a:p>
          <a:p/>
          <a:p>
            <a:r>
              <a:t>TRANSITION</a:t>
            </a:r>
          </a:p>
          <a:p>
            <a:r>
              <a:t>Pause, then invite the audience to describe a concrete process they would like to walk through.</a:t>
            </a:r>
          </a:p>
          <a:p/>
          <a:p>
            <a:r>
              <a:t>PRESENTER REMINDER - NOT SPOKEN</a:t>
            </a:r>
          </a:p>
          <a:p>
            <a:r>
              <a:t>Close on the supported mechanism and intended value, not an unmeasured saving or a 1.0 release commitment.</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It describes the work. It also runs the work.</a:t>
            </a:r>
          </a:p>
          <a:p/>
          <a:p>
            <a:r>
              <a:t>QUICK CUE</a:t>
            </a:r>
          </a:p>
          <a:p>
            <a:r>
              <a:t>Queryable reads. Process acts. Registry describes how to call them.</a:t>
            </a:r>
          </a:p>
          <a:p/>
          <a:p>
            <a:r>
              <a:t>SUGGESTED PACE</a:t>
            </a:r>
          </a:p>
          <a:p>
            <a:r>
              <a:t>60-90 seconds</a:t>
            </a:r>
          </a:p>
          <a:p/>
          <a:p>
            <a:r>
              <a:t>ON-SCREEN CUE</a:t>
            </a:r>
          </a:p>
          <a:p>
            <a:r>
              <a:t>Point to each card in order. Finish on the dark strip: more than a catalog.</a:t>
            </a:r>
          </a:p>
          <a:p/>
          <a:p>
            <a:r>
              <a:t>SAY</a:t>
            </a:r>
          </a:p>
          <a:p>
            <a:r>
              <a:t>There are three things working together here. Queryable exposes business information: for example, searching for a member or finding provider locations. Process executes business actions: for example, recording the provider selected for a request. Registry describes those operations so a consumer can discover their names, inputs, and how to call them.</a:t>
            </a:r>
          </a:p>
          <a:p/>
          <a:p>
            <a:r>
              <a:t>When I use the word capability, I simply mean one of those things the business can provide or do. It is not a separate product we have to buy or a new kind of business rule.</a:t>
            </a:r>
          </a:p>
          <a:p/>
          <a:p>
            <a:r>
              <a:t>The important distinction is that Kaleido includes execution. It is not only documentation for an API. For a process step, the framework checks the declared rules, invokes our handler, maintains process state, and returns guidance about the next work.</a:t>
            </a:r>
          </a:p>
          <a:p/>
          <a:p>
            <a:r>
              <a:t>Developers use it inside their .NET services. We still supply the business code, connect the real systems, configure identity and access, and choose production storage. HTTP exposes the model to applications; the MCP adapter exposes it as tools to an AI assistant.</a:t>
            </a:r>
          </a:p>
          <a:p/>
          <a:p>
            <a:r>
              <a:t>TRANSITION</a:t>
            </a:r>
          </a:p>
          <a:p>
            <a:r>
              <a:t>The reason to put those mechanisms in one framework is the duplication they can otherwise create.</a:t>
            </a:r>
          </a:p>
          <a:p/>
          <a:p>
            <a:r>
              <a:t>PRESENTER REMINDER - NOT SPOKEN</a:t>
            </a:r>
          </a:p>
          <a:p>
            <a:r>
              <a:t>The three cards describe complementary roles, not three separately deployed products. Registry discovery does not replace execution-time process or authorization checks.</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What happens when someone calls a step?</a:t>
            </a:r>
          </a:p>
          <a:p/>
          <a:p>
            <a:r>
              <a:t>QUICK CUE</a:t>
            </a:r>
          </a:p>
          <a:p>
            <a:r>
              <a:t>Load state, check the request, run the handler, record the outcome, return next work.</a:t>
            </a:r>
          </a:p>
          <a:p/>
          <a:p>
            <a:r>
              <a:t>SUGGESTED PACE</a:t>
            </a:r>
          </a:p>
          <a:p>
            <a:r>
              <a:t>90-120 seconds</a:t>
            </a:r>
          </a:p>
          <a:p/>
          <a:p>
            <a:r>
              <a:t>ON-SCREEN CUE</a:t>
            </a:r>
          </a:p>
          <a:p>
            <a:r>
              <a:t>Start on the request bar. Move through all five boxes, then land on the three kinds of continuation data.</a:t>
            </a:r>
          </a:p>
          <a:p/>
          <a:p>
            <a:r>
              <a:t>SAY</a:t>
            </a:r>
          </a:p>
          <a:p>
            <a:r>
              <a:t>Imagine the caller requests our provider-selection action. It sends the selected values and, when continuing existing work, the process ID. The host must establish the appropriate identity and authorization; the diagram focuses on the process execution after that boundary.</a:t>
            </a:r>
          </a:p>
          <a:p/>
          <a:p>
            <a:r>
              <a:t>First, Kaleido loads the current process state, or creates a process when an initial step starts new work. Second, it checks the request: does the input match the declared structure, have required earlier steps happened, and is this step currently permitted?</a:t>
            </a:r>
          </a:p>
          <a:p/>
          <a:p>
            <a:r>
              <a:t>Third, the runtime invokes our business handler. This is where our code checks that the selected provider location belongs to the provider and is valid for this request. Framework validation and business validation are different responsibilities.</a:t>
            </a:r>
          </a:p>
          <a:p/>
          <a:p>
            <a:r>
              <a:t>Fourth, on the normal completion path, Kaleido records the outcome and saves the updated framework process state. Fifth, it returns the result, the process identity, and how to continue.</a:t>
            </a:r>
          </a:p>
          <a:p/>
          <a:p>
            <a:r>
              <a:t>That last part is the key. The response is more than a success code. It can identify required work, available choices, or questions that need answers. The next interaction follows that information rather than a hardcoded page number.</a:t>
            </a:r>
          </a:p>
          <a:p/>
          <a:p>
            <a:r>
              <a:t>If the request is not valid or not available, it does not simply follow this happy path. The framework reports the relevant failure or process condition instead.</a:t>
            </a:r>
          </a:p>
          <a:p/>
          <a:p>
            <a:r>
              <a:t>TRANSITION</a:t>
            </a:r>
          </a:p>
          <a:p>
            <a:r>
              <a:t>The same execution mechanism sits underneath all of these interfaces.</a:t>
            </a:r>
          </a:p>
          <a:p/>
          <a:p>
            <a:r>
              <a:t>PRESENTER REMINDER - NOT SPOKEN</a:t>
            </a:r>
          </a:p>
          <a:p>
            <a:r>
              <a:t>This is a conceptual happy path, not a live trace. Arbitrary business side effects and framework-state saves are not automatically one transaction; retry/completion validation remains pre-1.0 work.</a:t>
            </a:r>
          </a:p>
          <a:p/>
          <a:p>
            <a:r>
              <a:t>SOURCE BASIS - REFERENCE ONLY</a:t>
            </a:r>
          </a:p>
          <a:p>
            <a:r>
              <a:t>Source: kaleido-context(3).xml, src/Kaleido/README.md, Process execution model (export lines 71269-71287). Runtime planning, typed handlers, state persistence and next-step guidance. The source export is partial and compressed; no source was executed for this presentation.</a:t>
            </a:r>
          </a:p>
          <a:p/>
          <a:p>
            <a:r>
              <a:t>Source: kaleido-context(3).xml, src/Kaleido.Http.Mcp/README.md (export lines 71861-72032), Instructions/DefaultInstructions.md (23561-23574). Registry-derived query/step tools, information requests, lookups and continuation. Tool guidance is not authorization or proof of human consent.</a:t>
            </a:r>
          </a:p>
          <a:p/>
          <a:p>
            <a:r>
              <a:t>Source: cleanup-chatgpt.md, sections 3, 5 and 15; cleanup-devin.md, KAL-REL-001 and KAL-SEC-001. Review recommendations are not implemented fixes. Credential delegation, retry/completion behavior and real-client interactions remain release-validation work.</a:t>
            </a:r>
          </a:p>
          <a:p/>
          <a:p>
            <a:r>
              <a:t>DECK STATUS</a:t>
            </a:r>
          </a:p>
          <a:p>
            <a:r>
              <a:t>Pre-1.0 project preview. This presentation is not a release approval, a benchmark, or a recording of a live execution.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6.png"/><Relationship Id="rId8" Type="http://schemas.openxmlformats.org/officeDocument/2006/relationships/image" Target="../media/image1.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9.png"/><Relationship Id="rId7" Type="http://schemas.openxmlformats.org/officeDocument/2006/relationships/image" Target="../media/image4.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7.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Rectangle 1"/>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7452360" y="41148"/>
            <a:ext cx="4739639" cy="6816852"/>
          </a:xfrm>
          <a:prstGeom prst="rect">
            <a:avLst/>
          </a:prstGeom>
          <a:solidFill>
            <a:srgbClr val="161D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7589520" y="585216"/>
            <a:ext cx="4114800" cy="4114800"/>
          </a:xfrm>
          <a:prstGeom prst="ellipse">
            <a:avLst/>
          </a:prstGeom>
          <a:solidFill>
            <a:srgbClr val="2424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Oval 4"/>
          <p:cNvSpPr/>
          <p:nvPr/>
        </p:nvSpPr>
        <p:spPr>
          <a:xfrm>
            <a:off x="7827264" y="841248"/>
            <a:ext cx="3602736" cy="3602736"/>
          </a:xfrm>
          <a:prstGeom prst="ellipse">
            <a:avLst/>
          </a:prstGeom>
          <a:noFill/>
          <a:ln w="10160">
            <a:solidFill>
              <a:srgbClr val="51528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8083296" y="1097280"/>
            <a:ext cx="3090672" cy="3090672"/>
          </a:xfrm>
          <a:prstGeom prst="ellipse">
            <a:avLst/>
          </a:prstGeom>
          <a:noFill/>
          <a:ln w="10160">
            <a:solidFill>
              <a:srgbClr val="4249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Picture 6" descr="image-4-11.png"/>
          <p:cNvPicPr>
            <a:picLocks noChangeAspect="1"/>
          </p:cNvPicPr>
          <p:nvPr/>
        </p:nvPicPr>
        <p:blipFill>
          <a:blip r:embed="rId2"/>
          <a:stretch>
            <a:fillRect/>
          </a:stretch>
        </p:blipFill>
        <p:spPr>
          <a:xfrm>
            <a:off x="7955279" y="1143000"/>
            <a:ext cx="3383280" cy="3383280"/>
          </a:xfrm>
          <a:prstGeom prst="rect">
            <a:avLst/>
          </a:prstGeom>
          <a:effectLst/>
        </p:spPr>
      </p:pic>
      <p:pic>
        <p:nvPicPr>
          <p:cNvPr id="8" name="Picture 7" descr="image-4-11.png"/>
          <p:cNvPicPr>
            <a:picLocks noChangeAspect="1"/>
          </p:cNvPicPr>
          <p:nvPr/>
        </p:nvPicPr>
        <p:blipFill>
          <a:blip r:embed="rId2"/>
          <a:stretch>
            <a:fillRect/>
          </a:stretch>
        </p:blipFill>
        <p:spPr>
          <a:xfrm>
            <a:off x="585216" y="548640"/>
            <a:ext cx="685800" cy="685800"/>
          </a:xfrm>
          <a:prstGeom prst="rect">
            <a:avLst/>
          </a:prstGeom>
          <a:effectLst/>
        </p:spPr>
      </p:pic>
      <p:sp>
        <p:nvSpPr>
          <p:cNvPr id="9" name="S01 Text 08 - Kaleido"/>
          <p:cNvSpPr txBox="1"/>
          <p:nvPr/>
        </p:nvSpPr>
        <p:spPr>
          <a:xfrm>
            <a:off x="1408176" y="676656"/>
            <a:ext cx="4572000"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3600" b="1">
                <a:solidFill>
                  <a:srgbClr val="FFFFFF"/>
                </a:solidFill>
                <a:latin typeface="Inter"/>
              </a:rPr>
              <a:t>Kaleido</a:t>
            </a:r>
          </a:p>
        </p:txBody>
      </p:sp>
      <p:sp>
        <p:nvSpPr>
          <p:cNvPr id="10" name="Rounded Rectangle 9"/>
          <p:cNvSpPr/>
          <p:nvPr/>
        </p:nvSpPr>
        <p:spPr>
          <a:xfrm>
            <a:off x="667512" y="1554480"/>
            <a:ext cx="225856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01 Text 10 - EXECUTIVE OVERVIEW"/>
          <p:cNvSpPr txBox="1"/>
          <p:nvPr/>
        </p:nvSpPr>
        <p:spPr>
          <a:xfrm>
            <a:off x="740664" y="1568195"/>
            <a:ext cx="211226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969" b="1">
                <a:solidFill>
                  <a:srgbClr val="B8C3DC"/>
                </a:solidFill>
                <a:latin typeface="Inter"/>
              </a:rPr>
              <a:t>.NET FRAMEWORK OVERVIEW</a:t>
            </a:r>
          </a:p>
        </p:txBody>
      </p:sp>
      <p:sp>
        <p:nvSpPr>
          <p:cNvPr id="12" name="S01 Text 11 - Business capabilities. Built for people and AI."/>
          <p:cNvSpPr txBox="1"/>
          <p:nvPr/>
        </p:nvSpPr>
        <p:spPr>
          <a:xfrm>
            <a:off x="658368" y="2231136"/>
            <a:ext cx="6766560" cy="1938528"/>
          </a:xfrm>
          <a:prstGeom prst="rect">
            <a:avLst/>
          </a:prstGeom>
          <a:noFill/>
          <a:effectLst/>
        </p:spPr>
        <p:txBody>
          <a:bodyPr wrap="square" lIns="0" rIns="0" tIns="0" bIns="0" anchor="t">
            <a:noAutofit/>
          </a:bodyPr>
          <a:lstStyle/>
          <a:p>
            <a:pPr algn="l">
              <a:lnSpc>
                <a:spcPct val="110000"/>
              </a:lnSpc>
              <a:spcBef>
                <a:spcPts val="0"/>
              </a:spcBef>
              <a:spcAft>
                <a:spcPts val="0"/>
              </a:spcAft>
            </a:pPr>
            <a:r>
              <a:rPr sz="3800" b="1">
                <a:solidFill>
                  <a:srgbClr val="FFFFFF"/>
                </a:solidFill>
                <a:latin typeface="Inter"/>
              </a:rPr>
              <a:t>A .NET framework</a:t>
            </a:r>
          </a:p>
          <a:p>
            <a:pPr algn="l">
              <a:lnSpc>
                <a:spcPct val="110000"/>
              </a:lnSpc>
              <a:spcBef>
                <a:spcPts val="0"/>
              </a:spcBef>
              <a:spcAft>
                <a:spcPts val="0"/>
              </a:spcAft>
            </a:pPr>
            <a:r>
              <a:rPr sz="3800" b="1">
                <a:solidFill>
                  <a:srgbClr val="FFFFFF"/>
                </a:solidFill>
                <a:latin typeface="Inter"/>
              </a:rPr>
              <a:t>for business</a:t>
            </a:r>
          </a:p>
          <a:p>
            <a:pPr algn="l">
              <a:lnSpc>
                <a:spcPct val="110000"/>
              </a:lnSpc>
              <a:spcBef>
                <a:spcPts val="0"/>
              </a:spcBef>
              <a:spcAft>
                <a:spcPts val="0"/>
              </a:spcAft>
            </a:pPr>
            <a:r>
              <a:rPr sz="3800" b="1">
                <a:solidFill>
                  <a:srgbClr val="FFFFFF"/>
                </a:solidFill>
                <a:latin typeface="Inter"/>
              </a:rPr>
              <a:t>services.</a:t>
            </a:r>
          </a:p>
        </p:txBody>
      </p:sp>
      <p:sp>
        <p:nvSpPr>
          <p:cNvPr id="13" name="S01 Text 12 - Typed. Discoverable. Stateful."/>
          <p:cNvSpPr txBox="1"/>
          <p:nvPr/>
        </p:nvSpPr>
        <p:spPr>
          <a:xfrm>
            <a:off x="685800" y="4526280"/>
            <a:ext cx="6400800" cy="39319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B8C3DC"/>
                </a:solidFill>
                <a:latin typeface="Inter"/>
              </a:rPr>
              <a:t>Discover data. Execute steps. Continue.</a:t>
            </a:r>
          </a:p>
        </p:txBody>
      </p:sp>
      <p:sp>
        <p:nvSpPr>
          <p:cNvPr id="14" name="S01 Text 13 - A shared contract for business information and actions,"/>
          <p:cNvSpPr txBox="1"/>
          <p:nvPr/>
        </p:nvSpPr>
        <p:spPr>
          <a:xfrm>
            <a:off x="685800" y="5084064"/>
            <a:ext cx="6446520" cy="722376"/>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0">
                <a:solidFill>
                  <a:srgbClr val="B8C3DC"/>
                </a:solidFill>
                <a:latin typeface="Inter"/>
              </a:rPr>
              <a:t>Run your business code with shared process state.</a:t>
            </a:r>
          </a:p>
          <a:p>
            <a:pPr algn="l">
              <a:lnSpc>
                <a:spcPct val="110000"/>
              </a:lnSpc>
              <a:spcBef>
                <a:spcPts val="0"/>
              </a:spcBef>
              <a:spcAft>
                <a:spcPts val="0"/>
              </a:spcAft>
            </a:pPr>
            <a:r>
              <a:rPr sz="1639" b="0">
                <a:solidFill>
                  <a:srgbClr val="B8C3DC"/>
                </a:solidFill>
                <a:latin typeface="Inter"/>
              </a:rPr>
              <a:t>HTTP for applications. MCP tools for AI.</a:t>
            </a:r>
          </a:p>
        </p:txBody>
      </p:sp>
      <p:sp>
        <p:nvSpPr>
          <p:cNvPr id="15" name="Rounded Rectangle 14"/>
          <p:cNvSpPr/>
          <p:nvPr/>
        </p:nvSpPr>
        <p:spPr>
          <a:xfrm>
            <a:off x="8001000" y="4956048"/>
            <a:ext cx="1508760" cy="329184"/>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01 Text 15 - DISCOVER"/>
          <p:cNvSpPr txBox="1"/>
          <p:nvPr/>
        </p:nvSpPr>
        <p:spPr>
          <a:xfrm>
            <a:off x="8074152" y="4969764"/>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DISCOVER</a:t>
            </a:r>
          </a:p>
        </p:txBody>
      </p:sp>
      <p:sp>
        <p:nvSpPr>
          <p:cNvPr id="17" name="Rounded Rectangle 16"/>
          <p:cNvSpPr/>
          <p:nvPr/>
        </p:nvSpPr>
        <p:spPr>
          <a:xfrm>
            <a:off x="9701784" y="4956048"/>
            <a:ext cx="1508760" cy="329184"/>
          </a:xfrm>
          <a:prstGeom prst="roundRect">
            <a:avLst>
              <a:gd name="adj" fmla="val 14000"/>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01 Text 17 - ACT"/>
          <p:cNvSpPr txBox="1"/>
          <p:nvPr/>
        </p:nvSpPr>
        <p:spPr>
          <a:xfrm>
            <a:off x="9774936" y="4969764"/>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ACT</a:t>
            </a:r>
          </a:p>
        </p:txBody>
      </p:sp>
      <p:sp>
        <p:nvSpPr>
          <p:cNvPr id="19" name="Rounded Rectangle 18"/>
          <p:cNvSpPr/>
          <p:nvPr/>
        </p:nvSpPr>
        <p:spPr>
          <a:xfrm>
            <a:off x="8001000" y="5468112"/>
            <a:ext cx="1508760" cy="329184"/>
          </a:xfrm>
          <a:prstGeom prst="roundRect">
            <a:avLst>
              <a:gd name="adj" fmla="val 14000"/>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S01 Text 19 - ASK"/>
          <p:cNvSpPr txBox="1"/>
          <p:nvPr/>
        </p:nvSpPr>
        <p:spPr>
          <a:xfrm>
            <a:off x="8074152" y="5481828"/>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ASK</a:t>
            </a:r>
          </a:p>
        </p:txBody>
      </p:sp>
      <p:sp>
        <p:nvSpPr>
          <p:cNvPr id="21" name="Rounded Rectangle 20"/>
          <p:cNvSpPr/>
          <p:nvPr/>
        </p:nvSpPr>
        <p:spPr>
          <a:xfrm>
            <a:off x="9701784" y="5468112"/>
            <a:ext cx="1508760" cy="329184"/>
          </a:xfrm>
          <a:prstGeom prst="roundRect">
            <a:avLst>
              <a:gd name="adj" fmla="val 14000"/>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01 Text 21 - CONTINUE"/>
          <p:cNvSpPr txBox="1"/>
          <p:nvPr/>
        </p:nvSpPr>
        <p:spPr>
          <a:xfrm>
            <a:off x="9774936" y="5481828"/>
            <a:ext cx="1362456" cy="310896"/>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CONTINUE</a:t>
            </a:r>
          </a:p>
        </p:txBody>
      </p:sp>
      <p:sp>
        <p:nvSpPr>
          <p:cNvPr id="23" name="S01 Text 22 - AI-native interface. Business-owned decisions."/>
          <p:cNvSpPr txBox="1"/>
          <p:nvPr/>
        </p:nvSpPr>
        <p:spPr>
          <a:xfrm>
            <a:off x="685800" y="6309360"/>
            <a:ext cx="6629400" cy="246888"/>
          </a:xfrm>
          <a:prstGeom prst="rect">
            <a:avLst/>
          </a:prstGeom>
          <a:noFill/>
          <a:effectLst/>
        </p:spPr>
        <p:txBody>
          <a:bodyPr wrap="square" lIns="0" rIns="0" tIns="0" bIns="0" anchor="t">
            <a:noAutofit/>
          </a:bodyPr>
          <a:lstStyle/>
          <a:p>
            <a:pPr algn="l">
              <a:lnSpc>
                <a:spcPct val="110000"/>
              </a:lnSpc>
              <a:spcBef>
                <a:spcPts val="0"/>
              </a:spcBef>
              <a:spcAft>
                <a:spcPts val="0"/>
              </a:spcAft>
            </a:pPr>
            <a:r>
              <a:rPr sz="1220" b="1">
                <a:solidFill>
                  <a:srgbClr val="FFFFFF"/>
                </a:solidFill>
                <a:latin typeface="Inter"/>
              </a:rPr>
              <a:t>Reusable business actions. AI-native access.</a:t>
            </a:r>
          </a:p>
        </p:txBody>
      </p:sp>
      <p:sp>
        <p:nvSpPr>
          <p:cNvPr id="24" name="S01 Text 23 - PRE-1.0 PROJECT PREVIEW  |  01"/>
          <p:cNvSpPr txBox="1"/>
          <p:nvPr/>
        </p:nvSpPr>
        <p:spPr>
          <a:xfrm>
            <a:off x="8238744" y="6373368"/>
            <a:ext cx="3218688" cy="201168"/>
          </a:xfrm>
          <a:prstGeom prst="rect">
            <a:avLst/>
          </a:prstGeom>
          <a:noFill/>
          <a:effectLst/>
        </p:spPr>
        <p:txBody>
          <a:bodyPr wrap="square" lIns="0" rIns="0" tIns="0" bIns="0" anchor="t">
            <a:noAutofit/>
          </a:bodyPr>
          <a:lstStyle/>
          <a:p>
            <a:pPr algn="r">
              <a:lnSpc>
                <a:spcPct val="110000"/>
              </a:lnSpc>
              <a:spcBef>
                <a:spcPts val="0"/>
              </a:spcBef>
              <a:spcAft>
                <a:spcPts val="0"/>
              </a:spcAft>
            </a:pPr>
            <a:r>
              <a:rPr sz="869" b="0">
                <a:solidFill>
                  <a:srgbClr val="B8C3DC"/>
                </a:solidFill>
                <a:latin typeface="Inter"/>
              </a:rPr>
              <a:t>PRE-1.0 PROJECT PREVIEW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2 Text 04 - WHY KALEIDO WAS STARTED"/>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WHY KALEIDO WAS STARTED</a:t>
            </a:r>
          </a:p>
        </p:txBody>
      </p:sp>
      <p:sp>
        <p:nvSpPr>
          <p:cNvPr id="6" name="S02 Text 05 - The idea needed a working exampl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The idea needed a working example.</a:t>
            </a:r>
          </a:p>
        </p:txBody>
      </p:sp>
      <p:cxnSp>
        <p:nvCxnSpPr>
          <p:cNvPr id="7" name="Connector 6"/>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8" name="Picture 7"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9" name="S02 Text 08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0" name="S02 Text 09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1" name="S02 Text 10 - 02"/>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04</a:t>
            </a:r>
          </a:p>
        </p:txBody>
      </p:sp>
      <p:sp>
        <p:nvSpPr>
          <p:cNvPr id="12" name="S02 Text 11 - Origin story: founder account, paraphrased; technical f"/>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Origin story: founder account, paraphrased; technical framing from the step model.</a:t>
            </a:r>
          </a:p>
        </p:txBody>
      </p:sp>
      <p:sp>
        <p:nvSpPr>
          <p:cNvPr id="13" name="Rounded Rectangle 12"/>
          <p:cNvSpPr/>
          <p:nvPr/>
        </p:nvSpPr>
        <p:spPr>
          <a:xfrm>
            <a:off x="612648" y="1892807"/>
            <a:ext cx="5102352" cy="3474720"/>
          </a:xfrm>
          <a:prstGeom prst="roundRect">
            <a:avLst>
              <a:gd name="adj" fmla="val 5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886968" y="2167128"/>
            <a:ext cx="267004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02 Text 14 - THE COMMUNICATION GAP"/>
          <p:cNvSpPr txBox="1"/>
          <p:nvPr/>
        </p:nvSpPr>
        <p:spPr>
          <a:xfrm>
            <a:off x="960120" y="2180844"/>
            <a:ext cx="252374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19" b="1">
                <a:solidFill>
                  <a:srgbClr val="B8C3DC"/>
                </a:solidFill>
                <a:latin typeface="Inter"/>
              </a:rPr>
              <a:t>THE COMMUNICATION GAP</a:t>
            </a:r>
          </a:p>
        </p:txBody>
      </p:sp>
      <p:sp>
        <p:nvSpPr>
          <p:cNvPr id="16" name="S02 Text 15 - Explaining the step concept was not making the real sce"/>
          <p:cNvSpPr txBox="1"/>
          <p:nvPr/>
        </p:nvSpPr>
        <p:spPr>
          <a:xfrm>
            <a:off x="905256" y="2706624"/>
            <a:ext cx="4517136" cy="1389888"/>
          </a:xfrm>
          <a:prstGeom prst="rect">
            <a:avLst/>
          </a:prstGeom>
          <a:noFill/>
          <a:effectLst/>
        </p:spPr>
        <p:txBody>
          <a:bodyPr wrap="square" lIns="0" rIns="0" tIns="0" bIns="0" anchor="t">
            <a:noAutofit/>
          </a:bodyPr>
          <a:lstStyle/>
          <a:p>
            <a:pPr algn="l">
              <a:lnSpc>
                <a:spcPct val="110000"/>
              </a:lnSpc>
              <a:spcBef>
                <a:spcPts val="0"/>
              </a:spcBef>
              <a:spcAft>
                <a:spcPts val="0"/>
              </a:spcAft>
            </a:pPr>
            <a:r>
              <a:rPr sz="2600" b="1">
                <a:solidFill>
                  <a:srgbClr val="FFFFFF"/>
                </a:solidFill>
                <a:latin typeface="Inter"/>
              </a:rPr>
              <a:t>Explaining the step concept</a:t>
            </a:r>
          </a:p>
          <a:p>
            <a:pPr algn="l">
              <a:lnSpc>
                <a:spcPct val="110000"/>
              </a:lnSpc>
              <a:spcBef>
                <a:spcPts val="0"/>
              </a:spcBef>
              <a:spcAft>
                <a:spcPts val="0"/>
              </a:spcAft>
            </a:pPr>
            <a:r>
              <a:rPr sz="2600" b="1">
                <a:solidFill>
                  <a:srgbClr val="FFFFFF"/>
                </a:solidFill>
                <a:latin typeface="Inter"/>
              </a:rPr>
              <a:t>was not making the real</a:t>
            </a:r>
          </a:p>
          <a:p>
            <a:pPr algn="l">
              <a:lnSpc>
                <a:spcPct val="110000"/>
              </a:lnSpc>
              <a:spcBef>
                <a:spcPts val="0"/>
              </a:spcBef>
              <a:spcAft>
                <a:spcPts val="0"/>
              </a:spcAft>
            </a:pPr>
            <a:r>
              <a:rPr sz="2600" b="1">
                <a:solidFill>
                  <a:srgbClr val="FFFFFF"/>
                </a:solidFill>
                <a:latin typeface="Inter"/>
              </a:rPr>
              <a:t>scenarios click.</a:t>
            </a:r>
          </a:p>
        </p:txBody>
      </p:sp>
      <p:sp>
        <p:nvSpPr>
          <p:cNvPr id="17" name="S02 Text 16 - After several years of explaining the idea, the missing"/>
          <p:cNvSpPr txBox="1"/>
          <p:nvPr/>
        </p:nvSpPr>
        <p:spPr>
          <a:xfrm>
            <a:off x="905256" y="4416552"/>
            <a:ext cx="4434840" cy="749808"/>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0">
                <a:solidFill>
                  <a:srgbClr val="B8C3DC"/>
                </a:solidFill>
                <a:latin typeface="Inter"/>
              </a:rPr>
              <a:t>After several years of explaining the idea, the missing piece was something people could see working.</a:t>
            </a:r>
          </a:p>
        </p:txBody>
      </p:sp>
      <p:sp>
        <p:nvSpPr>
          <p:cNvPr id="18" name="Oval 17"/>
          <p:cNvSpPr/>
          <p:nvPr/>
        </p:nvSpPr>
        <p:spPr>
          <a:xfrm>
            <a:off x="6208776" y="1984248"/>
            <a:ext cx="603504" cy="603504"/>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diagram-project_FFFFFF.png"/>
          <p:cNvPicPr>
            <a:picLocks noChangeAspect="1"/>
          </p:cNvPicPr>
          <p:nvPr/>
        </p:nvPicPr>
        <p:blipFill>
          <a:blip r:embed="rId3"/>
          <a:stretch>
            <a:fillRect/>
          </a:stretch>
        </p:blipFill>
        <p:spPr>
          <a:xfrm>
            <a:off x="6353616" y="2129088"/>
            <a:ext cx="313822" cy="313822"/>
          </a:xfrm>
          <a:prstGeom prst="rect">
            <a:avLst/>
          </a:prstGeom>
          <a:effectLst/>
        </p:spPr>
      </p:pic>
      <p:sp>
        <p:nvSpPr>
          <p:cNvPr id="20" name="S02 Text 19 - MAKE THE ACTION VISIBLE"/>
          <p:cNvSpPr txBox="1"/>
          <p:nvPr/>
        </p:nvSpPr>
        <p:spPr>
          <a:xfrm>
            <a:off x="7013448" y="2020824"/>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8B5CF6"/>
                </a:solidFill>
                <a:latin typeface="Inter"/>
              </a:rPr>
              <a:t>MAKE THE ACTION VISIBLE</a:t>
            </a:r>
          </a:p>
        </p:txBody>
      </p:sp>
      <p:sp>
        <p:nvSpPr>
          <p:cNvPr id="21" name="S02 Text 20 - Show what a step needs and what it does."/>
          <p:cNvSpPr txBox="1"/>
          <p:nvPr/>
        </p:nvSpPr>
        <p:spPr>
          <a:xfrm>
            <a:off x="7013448" y="2432304"/>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Show what a step needs and what it does.</a:t>
            </a:r>
          </a:p>
        </p:txBody>
      </p:sp>
      <p:sp>
        <p:nvSpPr>
          <p:cNvPr id="22" name="Oval 21"/>
          <p:cNvSpPr/>
          <p:nvPr/>
        </p:nvSpPr>
        <p:spPr>
          <a:xfrm>
            <a:off x="6208776" y="3163824"/>
            <a:ext cx="603504" cy="603504"/>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_route_FFFFFF.png"/>
          <p:cNvPicPr>
            <a:picLocks noChangeAspect="1"/>
          </p:cNvPicPr>
          <p:nvPr/>
        </p:nvPicPr>
        <p:blipFill>
          <a:blip r:embed="rId4"/>
          <a:stretch>
            <a:fillRect/>
          </a:stretch>
        </p:blipFill>
        <p:spPr>
          <a:xfrm>
            <a:off x="6353616" y="3308664"/>
            <a:ext cx="313822" cy="313822"/>
          </a:xfrm>
          <a:prstGeom prst="rect">
            <a:avLst/>
          </a:prstGeom>
          <a:effectLst/>
        </p:spPr>
      </p:pic>
      <p:sp>
        <p:nvSpPr>
          <p:cNvPr id="24" name="S02 Text 23 - MAKE THE BEHAVIOR VISIBLE"/>
          <p:cNvSpPr txBox="1"/>
          <p:nvPr/>
        </p:nvSpPr>
        <p:spPr>
          <a:xfrm>
            <a:off x="7013448" y="3200400"/>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21B6D7"/>
                </a:solidFill>
                <a:latin typeface="Inter"/>
              </a:rPr>
              <a:t>MAKE THE BEHAVIOR VISIBLE</a:t>
            </a:r>
          </a:p>
        </p:txBody>
      </p:sp>
      <p:sp>
        <p:nvSpPr>
          <p:cNvPr id="25" name="S02 Text 24 - Show what is required, available, or waiting."/>
          <p:cNvSpPr txBox="1"/>
          <p:nvPr/>
        </p:nvSpPr>
        <p:spPr>
          <a:xfrm>
            <a:off x="7013448" y="3611880"/>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Show what is required, available, or waiting.</a:t>
            </a:r>
          </a:p>
        </p:txBody>
      </p:sp>
      <p:sp>
        <p:nvSpPr>
          <p:cNvPr id="26" name="Oval 25"/>
          <p:cNvSpPr/>
          <p:nvPr/>
        </p:nvSpPr>
        <p:spPr>
          <a:xfrm>
            <a:off x="6208776" y="4343400"/>
            <a:ext cx="603504" cy="603504"/>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code-branch_FFFFFF.png"/>
          <p:cNvPicPr>
            <a:picLocks noChangeAspect="1"/>
          </p:cNvPicPr>
          <p:nvPr/>
        </p:nvPicPr>
        <p:blipFill>
          <a:blip r:embed="rId5"/>
          <a:stretch>
            <a:fillRect/>
          </a:stretch>
        </p:blipFill>
        <p:spPr>
          <a:xfrm>
            <a:off x="6353616" y="4488240"/>
            <a:ext cx="313822" cy="313822"/>
          </a:xfrm>
          <a:prstGeom prst="rect">
            <a:avLst/>
          </a:prstGeom>
          <a:effectLst/>
        </p:spPr>
      </p:pic>
      <p:sp>
        <p:nvSpPr>
          <p:cNvPr id="28" name="S02 Text 27 - MAKE THE REUSE VISIBLE"/>
          <p:cNvSpPr txBox="1"/>
          <p:nvPr/>
        </p:nvSpPr>
        <p:spPr>
          <a:xfrm>
            <a:off x="7013448" y="4379976"/>
            <a:ext cx="420624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19C4A7"/>
                </a:solidFill>
                <a:latin typeface="Inter"/>
              </a:rPr>
              <a:t>MAKE THE REUSE VISIBLE</a:t>
            </a:r>
          </a:p>
        </p:txBody>
      </p:sp>
      <p:sp>
        <p:nvSpPr>
          <p:cNvPr id="29" name="S02 Text 28 - Run the same model through different consumers."/>
          <p:cNvSpPr txBox="1"/>
          <p:nvPr/>
        </p:nvSpPr>
        <p:spPr>
          <a:xfrm>
            <a:off x="7013448" y="4791456"/>
            <a:ext cx="4178808"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0">
                <a:solidFill>
                  <a:srgbClr val="FFFFFF"/>
                </a:solidFill>
                <a:latin typeface="Inter"/>
              </a:rPr>
              <a:t>Run the same model through different consumers.</a:t>
            </a:r>
          </a:p>
        </p:txBody>
      </p:sp>
      <p:sp>
        <p:nvSpPr>
          <p:cNvPr id="30" name="Rounded Rectangle 29"/>
          <p:cNvSpPr/>
          <p:nvPr/>
        </p:nvSpPr>
        <p:spPr>
          <a:xfrm>
            <a:off x="603504" y="5715000"/>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02 Text 30 - Kaleido turns an abstract step concept into an executab"/>
          <p:cNvSpPr txBox="1"/>
          <p:nvPr/>
        </p:nvSpPr>
        <p:spPr>
          <a:xfrm>
            <a:off x="786384" y="5783580"/>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Kaleido turns an abstract step concept into an executable model people can understand.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3 Text 04 - THE STEP CONCEPT"/>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THE STEP CONCEPT</a:t>
            </a:r>
          </a:p>
        </p:txBody>
      </p:sp>
      <p:sp>
        <p:nvSpPr>
          <p:cNvPr id="6" name="S03 Text 05 - A step is a business action—not a scree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A step is a business action—not a screen.</a:t>
            </a:r>
          </a:p>
        </p:txBody>
      </p:sp>
      <p:sp>
        <p:nvSpPr>
          <p:cNvPr id="7" name="S03 Text 06 - Select a provider. Capture answers. Submit a request. 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Select a provider. Capture answers. Submit a request. Each action runs against the current process state.</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3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Framework overview</a:t>
            </a:r>
          </a:p>
        </p:txBody>
      </p:sp>
      <p:sp>
        <p:nvSpPr>
          <p:cNvPr id="11" name="S03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3 Text 11 - 03"/>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05</a:t>
            </a:r>
          </a:p>
        </p:txBody>
      </p:sp>
      <p:sp>
        <p:nvSpPr>
          <p:cNvPr id="13" name="S03 Text 12 - Conceptual view of the Process contract; the examples a"/>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Conceptual view of the Process contract; the examples are not a fixed PriorAuth sequence.</a:t>
            </a:r>
          </a:p>
        </p:txBody>
      </p:sp>
      <p:cxnSp>
        <p:nvCxnSpPr>
          <p:cNvPr id="14" name="Connector 13"/>
          <p:cNvCxnSpPr/>
          <p:nvPr/>
        </p:nvCxnSpPr>
        <p:spPr>
          <a:xfrm>
            <a:off x="3054096" y="3044952"/>
            <a:ext cx="914400" cy="0"/>
          </a:xfrm>
          <a:prstGeom prst="line">
            <a:avLst/>
          </a:prstGeom>
          <a:ln w="25400">
            <a:solidFill>
              <a:srgbClr val="21B6D7"/>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8156448" y="3044952"/>
            <a:ext cx="822960" cy="0"/>
          </a:xfrm>
          <a:prstGeom prst="line">
            <a:avLst/>
          </a:prstGeom>
          <a:ln w="25400">
            <a:solidFill>
              <a:srgbClr val="6257FA"/>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621792" y="2249424"/>
            <a:ext cx="2414016" cy="164592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_database_21B6D7.png"/>
          <p:cNvPicPr>
            <a:picLocks noChangeAspect="1"/>
          </p:cNvPicPr>
          <p:nvPr/>
        </p:nvPicPr>
        <p:blipFill>
          <a:blip r:embed="rId3"/>
          <a:stretch>
            <a:fillRect/>
          </a:stretch>
        </p:blipFill>
        <p:spPr>
          <a:xfrm>
            <a:off x="868680" y="2496312"/>
            <a:ext cx="329184" cy="329184"/>
          </a:xfrm>
          <a:prstGeom prst="rect">
            <a:avLst/>
          </a:prstGeom>
          <a:effectLst/>
        </p:spPr>
      </p:pic>
      <p:sp>
        <p:nvSpPr>
          <p:cNvPr id="18" name="S03 Text 17 - INPUT + CONTEXT"/>
          <p:cNvSpPr txBox="1"/>
          <p:nvPr/>
        </p:nvSpPr>
        <p:spPr>
          <a:xfrm>
            <a:off x="1353312" y="2514600"/>
            <a:ext cx="1453896"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5F6B82"/>
                </a:solidFill>
                <a:latin typeface="Inter"/>
              </a:rPr>
              <a:t>INPUT + CONTEXT</a:t>
            </a:r>
          </a:p>
        </p:txBody>
      </p:sp>
      <p:sp>
        <p:nvSpPr>
          <p:cNvPr id="19" name="S03 Text 18 - Provided values Process state"/>
          <p:cNvSpPr txBox="1"/>
          <p:nvPr/>
        </p:nvSpPr>
        <p:spPr>
          <a:xfrm>
            <a:off x="886968" y="2953512"/>
            <a:ext cx="1901952" cy="640080"/>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1">
                <a:solidFill>
                  <a:srgbClr val="111827"/>
                </a:solidFill>
                <a:latin typeface="Inter"/>
              </a:rPr>
              <a:t>Provided values</a:t>
            </a:r>
          </a:p>
          <a:p>
            <a:pPr algn="l">
              <a:lnSpc>
                <a:spcPct val="110000"/>
              </a:lnSpc>
              <a:spcBef>
                <a:spcPts val="0"/>
              </a:spcBef>
              <a:spcAft>
                <a:spcPts val="0"/>
              </a:spcAft>
            </a:pPr>
            <a:r>
              <a:rPr sz="1639" b="1">
                <a:solidFill>
                  <a:srgbClr val="111827"/>
                </a:solidFill>
                <a:latin typeface="Inter"/>
              </a:rPr>
              <a:t>Process state</a:t>
            </a:r>
          </a:p>
        </p:txBody>
      </p:sp>
      <p:sp>
        <p:nvSpPr>
          <p:cNvPr id="20" name="Rounded Rectangle 19"/>
          <p:cNvSpPr/>
          <p:nvPr/>
        </p:nvSpPr>
        <p:spPr>
          <a:xfrm>
            <a:off x="3694176" y="1993392"/>
            <a:ext cx="4700016" cy="2121408"/>
          </a:xfrm>
          <a:prstGeom prst="roundRect">
            <a:avLst>
              <a:gd name="adj" fmla="val 6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3977639" y="2240280"/>
            <a:ext cx="2194560"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03 Text 21 - ONE BUSINESS ACTION"/>
          <p:cNvSpPr txBox="1"/>
          <p:nvPr/>
        </p:nvSpPr>
        <p:spPr>
          <a:xfrm>
            <a:off x="4050791" y="2253996"/>
            <a:ext cx="2048255"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50" b="1">
                <a:solidFill>
                  <a:srgbClr val="FFFFFF"/>
                </a:solidFill>
                <a:latin typeface="Inter"/>
              </a:rPr>
              <a:t>ONE BUSINESS ACTION</a:t>
            </a:r>
          </a:p>
        </p:txBody>
      </p:sp>
      <p:sp>
        <p:nvSpPr>
          <p:cNvPr id="23" name="Oval 22"/>
          <p:cNvSpPr/>
          <p:nvPr/>
        </p:nvSpPr>
        <p:spPr>
          <a:xfrm>
            <a:off x="7461504" y="2295144"/>
            <a:ext cx="502920" cy="502920"/>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_bolt_FFFFFF.png"/>
          <p:cNvPicPr>
            <a:picLocks noChangeAspect="1"/>
          </p:cNvPicPr>
          <p:nvPr/>
        </p:nvPicPr>
        <p:blipFill>
          <a:blip r:embed="rId4"/>
          <a:stretch>
            <a:fillRect/>
          </a:stretch>
        </p:blipFill>
        <p:spPr>
          <a:xfrm>
            <a:off x="7582204" y="2415844"/>
            <a:ext cx="261518" cy="261518"/>
          </a:xfrm>
          <a:prstGeom prst="rect">
            <a:avLst/>
          </a:prstGeom>
          <a:effectLst/>
        </p:spPr>
      </p:pic>
      <p:sp>
        <p:nvSpPr>
          <p:cNvPr id="25" name="S03 Text 24 - Declared inputs and rules Business-owned handler Record"/>
          <p:cNvSpPr txBox="1"/>
          <p:nvPr/>
        </p:nvSpPr>
        <p:spPr>
          <a:xfrm>
            <a:off x="4005072" y="2770632"/>
            <a:ext cx="3794760" cy="1033271"/>
          </a:xfrm>
          <a:prstGeom prst="rect">
            <a:avLst/>
          </a:prstGeom>
          <a:noFill/>
          <a:effectLst/>
        </p:spPr>
        <p:txBody>
          <a:bodyPr wrap="square" lIns="0" rIns="0" tIns="0" bIns="0" anchor="t">
            <a:noAutofit/>
          </a:bodyPr>
          <a:lstStyle/>
          <a:p>
            <a:pPr algn="l">
              <a:lnSpc>
                <a:spcPct val="115000"/>
              </a:lnSpc>
              <a:spcBef>
                <a:spcPts val="0"/>
              </a:spcBef>
              <a:spcAft>
                <a:spcPts val="0"/>
              </a:spcAft>
            </a:pPr>
            <a:r>
              <a:rPr sz="1900" b="1">
                <a:solidFill>
                  <a:srgbClr val="FFFFFF"/>
                </a:solidFill>
                <a:latin typeface="Inter"/>
              </a:rPr>
              <a:t>Declared inputs and rules</a:t>
            </a:r>
          </a:p>
          <a:p>
            <a:pPr algn="l">
              <a:lnSpc>
                <a:spcPct val="115000"/>
              </a:lnSpc>
              <a:spcBef>
                <a:spcPts val="0"/>
              </a:spcBef>
              <a:spcAft>
                <a:spcPts val="0"/>
              </a:spcAft>
            </a:pPr>
            <a:r>
              <a:rPr sz="1900" b="1">
                <a:solidFill>
                  <a:srgbClr val="FFFFFF"/>
                </a:solidFill>
                <a:latin typeface="Inter"/>
              </a:rPr>
              <a:t>Business-owned handler</a:t>
            </a:r>
          </a:p>
          <a:p>
            <a:pPr algn="l">
              <a:lnSpc>
                <a:spcPct val="115000"/>
              </a:lnSpc>
              <a:spcBef>
                <a:spcPts val="0"/>
              </a:spcBef>
              <a:spcAft>
                <a:spcPts val="0"/>
              </a:spcAft>
            </a:pPr>
            <a:r>
              <a:rPr sz="1900" b="1">
                <a:solidFill>
                  <a:srgbClr val="FFFFFF"/>
                </a:solidFill>
                <a:latin typeface="Inter"/>
              </a:rPr>
              <a:t>Recorded outcome</a:t>
            </a:r>
          </a:p>
        </p:txBody>
      </p:sp>
      <p:sp>
        <p:nvSpPr>
          <p:cNvPr id="26" name="Rounded Rectangle 25"/>
          <p:cNvSpPr/>
          <p:nvPr/>
        </p:nvSpPr>
        <p:spPr>
          <a:xfrm>
            <a:off x="8979408" y="2249424"/>
            <a:ext cx="2596896" cy="164592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route_8B5CF6.png"/>
          <p:cNvPicPr>
            <a:picLocks noChangeAspect="1"/>
          </p:cNvPicPr>
          <p:nvPr/>
        </p:nvPicPr>
        <p:blipFill>
          <a:blip r:embed="rId5"/>
          <a:stretch>
            <a:fillRect/>
          </a:stretch>
        </p:blipFill>
        <p:spPr>
          <a:xfrm>
            <a:off x="9244584" y="2496312"/>
            <a:ext cx="329184" cy="329184"/>
          </a:xfrm>
          <a:prstGeom prst="rect">
            <a:avLst/>
          </a:prstGeom>
          <a:effectLst/>
        </p:spPr>
      </p:pic>
      <p:sp>
        <p:nvSpPr>
          <p:cNvPr id="28" name="S03 Text 27 - RESULT + NEXT"/>
          <p:cNvSpPr txBox="1"/>
          <p:nvPr/>
        </p:nvSpPr>
        <p:spPr>
          <a:xfrm>
            <a:off x="9729216" y="2514600"/>
            <a:ext cx="1600200"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5F6B82"/>
                </a:solidFill>
                <a:latin typeface="Inter"/>
              </a:rPr>
              <a:t>RESULT + NEXT</a:t>
            </a:r>
          </a:p>
        </p:txBody>
      </p:sp>
      <p:sp>
        <p:nvSpPr>
          <p:cNvPr id="29" name="S03 Text 28 - What happened How to continue"/>
          <p:cNvSpPr txBox="1"/>
          <p:nvPr/>
        </p:nvSpPr>
        <p:spPr>
          <a:xfrm>
            <a:off x="9244584" y="2953512"/>
            <a:ext cx="1993392" cy="640080"/>
          </a:xfrm>
          <a:prstGeom prst="rect">
            <a:avLst/>
          </a:prstGeom>
          <a:noFill/>
          <a:effectLst/>
        </p:spPr>
        <p:txBody>
          <a:bodyPr wrap="square" lIns="0" rIns="0" tIns="0" bIns="0" anchor="t">
            <a:noAutofit/>
          </a:bodyPr>
          <a:lstStyle/>
          <a:p>
            <a:pPr algn="l">
              <a:lnSpc>
                <a:spcPct val="110000"/>
              </a:lnSpc>
              <a:spcBef>
                <a:spcPts val="0"/>
              </a:spcBef>
              <a:spcAft>
                <a:spcPts val="0"/>
              </a:spcAft>
            </a:pPr>
            <a:r>
              <a:rPr sz="1639" b="1">
                <a:solidFill>
                  <a:srgbClr val="111827"/>
                </a:solidFill>
                <a:latin typeface="Inter"/>
              </a:rPr>
              <a:t>What happened</a:t>
            </a:r>
          </a:p>
          <a:p>
            <a:pPr algn="l">
              <a:lnSpc>
                <a:spcPct val="110000"/>
              </a:lnSpc>
              <a:spcBef>
                <a:spcPts val="0"/>
              </a:spcBef>
              <a:spcAft>
                <a:spcPts val="0"/>
              </a:spcAft>
            </a:pPr>
            <a:r>
              <a:rPr sz="1639" b="1">
                <a:solidFill>
                  <a:srgbClr val="111827"/>
                </a:solidFill>
                <a:latin typeface="Inter"/>
              </a:rPr>
              <a:t>How to continue</a:t>
            </a:r>
          </a:p>
        </p:txBody>
      </p:sp>
      <p:sp>
        <p:nvSpPr>
          <p:cNvPr id="30" name="Rounded Rectangle 29"/>
          <p:cNvSpPr/>
          <p:nvPr/>
        </p:nvSpPr>
        <p:spPr>
          <a:xfrm>
            <a:off x="621792"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21792" y="4498848"/>
            <a:ext cx="50292" cy="1051560"/>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03 Text 31 - REQUIRED"/>
          <p:cNvSpPr txBox="1"/>
          <p:nvPr/>
        </p:nvSpPr>
        <p:spPr>
          <a:xfrm>
            <a:off x="813816"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6257FA"/>
                </a:solidFill>
                <a:latin typeface="Inter"/>
              </a:rPr>
              <a:t>REQUIRED</a:t>
            </a:r>
          </a:p>
        </p:txBody>
      </p:sp>
      <p:sp>
        <p:nvSpPr>
          <p:cNvPr id="33" name="S03 Text 32 - A particular step must happen next."/>
          <p:cNvSpPr txBox="1"/>
          <p:nvPr/>
        </p:nvSpPr>
        <p:spPr>
          <a:xfrm>
            <a:off x="813816"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A particular step must happen next.</a:t>
            </a:r>
          </a:p>
        </p:txBody>
      </p:sp>
      <p:sp>
        <p:nvSpPr>
          <p:cNvPr id="34" name="Rounded Rectangle 33"/>
          <p:cNvSpPr/>
          <p:nvPr/>
        </p:nvSpPr>
        <p:spPr>
          <a:xfrm>
            <a:off x="4370832"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4370832" y="4498848"/>
            <a:ext cx="50292" cy="1051560"/>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03 Text 35 - AVAILABLE"/>
          <p:cNvSpPr txBox="1"/>
          <p:nvPr/>
        </p:nvSpPr>
        <p:spPr>
          <a:xfrm>
            <a:off x="4562856"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19C4A7"/>
                </a:solidFill>
                <a:latin typeface="Inter"/>
              </a:rPr>
              <a:t>AVAILABLE</a:t>
            </a:r>
          </a:p>
        </p:txBody>
      </p:sp>
      <p:sp>
        <p:nvSpPr>
          <p:cNvPr id="37" name="S03 Text 36 - The caller chooses among allowed steps."/>
          <p:cNvSpPr txBox="1"/>
          <p:nvPr/>
        </p:nvSpPr>
        <p:spPr>
          <a:xfrm>
            <a:off x="4562856"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The caller chooses among allowed steps.</a:t>
            </a:r>
          </a:p>
        </p:txBody>
      </p:sp>
      <p:sp>
        <p:nvSpPr>
          <p:cNvPr id="38" name="Rounded Rectangle 37"/>
          <p:cNvSpPr/>
          <p:nvPr/>
        </p:nvSpPr>
        <p:spPr>
          <a:xfrm>
            <a:off x="8110727" y="4498848"/>
            <a:ext cx="3465576" cy="1051560"/>
          </a:xfrm>
          <a:prstGeom prst="roundRect">
            <a:avLst>
              <a:gd name="adj" fmla="val 50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8110727" y="4498848"/>
            <a:ext cx="50292" cy="1051560"/>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03 Text 39 - AWAITING INFORMATION"/>
          <p:cNvSpPr txBox="1"/>
          <p:nvPr/>
        </p:nvSpPr>
        <p:spPr>
          <a:xfrm>
            <a:off x="8302752" y="4663440"/>
            <a:ext cx="3063240" cy="210312"/>
          </a:xfrm>
          <a:prstGeom prst="rect">
            <a:avLst/>
          </a:prstGeom>
          <a:noFill/>
          <a:effectLst/>
        </p:spPr>
        <p:txBody>
          <a:bodyPr wrap="square" lIns="0" rIns="0" tIns="0" bIns="0" anchor="t">
            <a:noAutofit/>
          </a:bodyPr>
          <a:lstStyle/>
          <a:p>
            <a:pPr algn="l">
              <a:lnSpc>
                <a:spcPct val="110000"/>
              </a:lnSpc>
              <a:spcBef>
                <a:spcPts val="0"/>
              </a:spcBef>
              <a:spcAft>
                <a:spcPts val="0"/>
              </a:spcAft>
            </a:pPr>
            <a:r>
              <a:rPr sz="1060" b="1">
                <a:solidFill>
                  <a:srgbClr val="21B6D7"/>
                </a:solidFill>
                <a:latin typeface="Inter"/>
              </a:rPr>
              <a:t>AWAITING INFORMATION</a:t>
            </a:r>
          </a:p>
        </p:txBody>
      </p:sp>
      <p:sp>
        <p:nvSpPr>
          <p:cNvPr id="41" name="S03 Text 40 - Specific questions need answers."/>
          <p:cNvSpPr txBox="1"/>
          <p:nvPr/>
        </p:nvSpPr>
        <p:spPr>
          <a:xfrm>
            <a:off x="8302752" y="4956048"/>
            <a:ext cx="3017520" cy="539496"/>
          </a:xfrm>
          <a:prstGeom prst="rect">
            <a:avLst/>
          </a:prstGeom>
          <a:noFill/>
          <a:effectLst/>
        </p:spPr>
        <p:txBody>
          <a:bodyPr wrap="square" lIns="0" rIns="0" tIns="0" bIns="0" anchor="t">
            <a:noAutofit/>
          </a:bodyPr>
          <a:lstStyle/>
          <a:p>
            <a:pPr algn="l">
              <a:lnSpc>
                <a:spcPct val="110000"/>
              </a:lnSpc>
              <a:spcBef>
                <a:spcPts val="0"/>
              </a:spcBef>
              <a:spcAft>
                <a:spcPts val="0"/>
              </a:spcAft>
            </a:pPr>
            <a:r>
              <a:rPr sz="1440" b="0">
                <a:solidFill>
                  <a:srgbClr val="111827"/>
                </a:solidFill>
                <a:latin typeface="Inter"/>
              </a:rPr>
              <a:t>Specific questions need answers.</a:t>
            </a:r>
          </a:p>
        </p:txBody>
      </p:sp>
      <p:sp>
        <p:nvSpPr>
          <p:cNvPr id="42" name="Rounded Rectangle 41"/>
          <p:cNvSpPr/>
          <p:nvPr/>
        </p:nvSpPr>
        <p:spPr>
          <a:xfrm>
            <a:off x="603504" y="5760720"/>
            <a:ext cx="10972800" cy="393192"/>
          </a:xfrm>
          <a:prstGeom prst="roundRect">
            <a:avLst>
              <a:gd name="adj" fmla="val 7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3 Text 42 - The channel presents the action. The process contract d"/>
          <p:cNvSpPr txBox="1"/>
          <p:nvPr/>
        </p:nvSpPr>
        <p:spPr>
          <a:xfrm>
            <a:off x="786384" y="5829300"/>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10" b="1">
                <a:solidFill>
                  <a:srgbClr val="FFFFFF"/>
                </a:solidFill>
                <a:latin typeface="Inter"/>
              </a:rPr>
              <a:t>Declared relationships + recorded progress + handler outcomes determine how the process may continue.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4 Text 04 - WHY THE MODEL MATTERS MORE WITH AI"/>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THE PROBLEM IT SOLVES</a:t>
            </a:r>
          </a:p>
        </p:txBody>
      </p:sp>
      <p:sp>
        <p:nvSpPr>
          <p:cNvPr id="6" name="S04 Text 05 - Do not create another integration path for AI."/>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800" b="1">
                <a:solidFill>
                  <a:srgbClr val="FFFFFF"/>
                </a:solidFill>
                <a:latin typeface="Inter"/>
              </a:rPr>
              <a:t>Stop rebuilding the process in every consumer.</a:t>
            </a:r>
          </a:p>
        </p:txBody>
      </p:sp>
      <p:sp>
        <p:nvSpPr>
          <p:cNvPr id="7" name="S04 Text 06 - Make business capabilities understandable once—then reu"/>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Inputs, process rules, and next-step logic should not be redefined in each screen, integration, or AI prompt.</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4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1" name="S04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4 Text 11 - 04"/>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03</a:t>
            </a:r>
          </a:p>
        </p:txBody>
      </p:sp>
      <p:sp>
        <p:nvSpPr>
          <p:cNvPr id="13" name="S04 Text 12 - Architecture rationale and intended value; no quantifie"/>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Architecture rationale and intended value; no quantified savings or live integration result is asserted.</a:t>
            </a:r>
          </a:p>
        </p:txBody>
      </p:sp>
      <p:sp>
        <p:nvSpPr>
          <p:cNvPr id="14" name="Rounded Rectangle 13"/>
          <p:cNvSpPr/>
          <p:nvPr/>
        </p:nvSpPr>
        <p:spPr>
          <a:xfrm>
            <a:off x="621792" y="1993392"/>
            <a:ext cx="4965192" cy="3346704"/>
          </a:xfrm>
          <a:prstGeom prst="roundRect">
            <a:avLst>
              <a:gd name="adj" fmla="val 5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86968" y="2240280"/>
            <a:ext cx="1938528"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04 Text 15 - SEPARATE PATHS"/>
          <p:cNvSpPr txBox="1"/>
          <p:nvPr/>
        </p:nvSpPr>
        <p:spPr>
          <a:xfrm>
            <a:off x="960120" y="2253996"/>
            <a:ext cx="1792224"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SEPARATE PATHS</a:t>
            </a:r>
          </a:p>
        </p:txBody>
      </p:sp>
      <p:pic>
        <p:nvPicPr>
          <p:cNvPr id="17" name="Picture 16" descr="icon_sitemap_8B5CF6.png"/>
          <p:cNvPicPr>
            <a:picLocks noChangeAspect="1"/>
          </p:cNvPicPr>
          <p:nvPr/>
        </p:nvPicPr>
        <p:blipFill>
          <a:blip r:embed="rId3"/>
          <a:stretch>
            <a:fillRect/>
          </a:stretch>
        </p:blipFill>
        <p:spPr>
          <a:xfrm>
            <a:off x="914400" y="2816352"/>
            <a:ext cx="329184" cy="329184"/>
          </a:xfrm>
          <a:prstGeom prst="rect">
            <a:avLst/>
          </a:prstGeom>
          <a:effectLst/>
        </p:spPr>
      </p:pic>
      <p:sp>
        <p:nvSpPr>
          <p:cNvPr id="18" name="S04 Text 17 - Workflow"/>
          <p:cNvSpPr txBox="1"/>
          <p:nvPr/>
        </p:nvSpPr>
        <p:spPr>
          <a:xfrm>
            <a:off x="1444752" y="28300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Workflow</a:t>
            </a:r>
          </a:p>
        </p:txBody>
      </p:sp>
      <p:sp>
        <p:nvSpPr>
          <p:cNvPr id="19" name="S04 Text 18 - own adapter + rules"/>
          <p:cNvSpPr txBox="1"/>
          <p:nvPr/>
        </p:nvSpPr>
        <p:spPr>
          <a:xfrm>
            <a:off x="3337560" y="28437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pic>
        <p:nvPicPr>
          <p:cNvPr id="20" name="Picture 19" descr="icon_laptop-code_3182F6.png"/>
          <p:cNvPicPr>
            <a:picLocks noChangeAspect="1"/>
          </p:cNvPicPr>
          <p:nvPr/>
        </p:nvPicPr>
        <p:blipFill>
          <a:blip r:embed="rId4"/>
          <a:stretch>
            <a:fillRect/>
          </a:stretch>
        </p:blipFill>
        <p:spPr>
          <a:xfrm>
            <a:off x="914400" y="3502152"/>
            <a:ext cx="329184" cy="329184"/>
          </a:xfrm>
          <a:prstGeom prst="rect">
            <a:avLst/>
          </a:prstGeom>
          <a:effectLst/>
        </p:spPr>
      </p:pic>
      <p:sp>
        <p:nvSpPr>
          <p:cNvPr id="21" name="S04 Text 20 - Digital channels"/>
          <p:cNvSpPr txBox="1"/>
          <p:nvPr/>
        </p:nvSpPr>
        <p:spPr>
          <a:xfrm>
            <a:off x="1444752" y="35158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Digital channels</a:t>
            </a:r>
          </a:p>
        </p:txBody>
      </p:sp>
      <p:sp>
        <p:nvSpPr>
          <p:cNvPr id="22" name="S04 Text 21 - own adapter + rules"/>
          <p:cNvSpPr txBox="1"/>
          <p:nvPr/>
        </p:nvSpPr>
        <p:spPr>
          <a:xfrm>
            <a:off x="3337560" y="35295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pic>
        <p:nvPicPr>
          <p:cNvPr id="23" name="Picture 22" descr="icon_robot_B64FD9.png"/>
          <p:cNvPicPr>
            <a:picLocks noChangeAspect="1"/>
          </p:cNvPicPr>
          <p:nvPr/>
        </p:nvPicPr>
        <p:blipFill>
          <a:blip r:embed="rId5"/>
          <a:stretch>
            <a:fillRect/>
          </a:stretch>
        </p:blipFill>
        <p:spPr>
          <a:xfrm>
            <a:off x="914400" y="4187952"/>
            <a:ext cx="329184" cy="329184"/>
          </a:xfrm>
          <a:prstGeom prst="rect">
            <a:avLst/>
          </a:prstGeom>
          <a:effectLst/>
        </p:spPr>
      </p:pic>
      <p:sp>
        <p:nvSpPr>
          <p:cNvPr id="24" name="S04 Text 23 - AI agents"/>
          <p:cNvSpPr txBox="1"/>
          <p:nvPr/>
        </p:nvSpPr>
        <p:spPr>
          <a:xfrm>
            <a:off x="1444752" y="4201668"/>
            <a:ext cx="1828800"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570" b="1">
                <a:solidFill>
                  <a:srgbClr val="FFFFFF"/>
                </a:solidFill>
                <a:latin typeface="Inter"/>
              </a:rPr>
              <a:t>AI agents</a:t>
            </a:r>
          </a:p>
        </p:txBody>
      </p:sp>
      <p:sp>
        <p:nvSpPr>
          <p:cNvPr id="25" name="S04 Text 24 - own adapter + rules"/>
          <p:cNvSpPr txBox="1"/>
          <p:nvPr/>
        </p:nvSpPr>
        <p:spPr>
          <a:xfrm>
            <a:off x="3337560" y="4215384"/>
            <a:ext cx="1874519"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0">
                <a:solidFill>
                  <a:srgbClr val="B8C3DC"/>
                </a:solidFill>
                <a:latin typeface="Inter"/>
              </a:rPr>
              <a:t>own adapter + rules</a:t>
            </a:r>
          </a:p>
        </p:txBody>
      </p:sp>
      <p:sp>
        <p:nvSpPr>
          <p:cNvPr id="26" name="S04 Text 25 - More copies of integration logic. More places for behav"/>
          <p:cNvSpPr txBox="1"/>
          <p:nvPr/>
        </p:nvSpPr>
        <p:spPr>
          <a:xfrm>
            <a:off x="914400" y="4828032"/>
            <a:ext cx="4279392"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1310" b="0">
                <a:solidFill>
                  <a:srgbClr val="B8C3DC"/>
                </a:solidFill>
                <a:latin typeface="Inter"/>
              </a:rPr>
              <a:t>Repeated state and next-step logic.</a:t>
            </a:r>
          </a:p>
          <a:p>
            <a:pPr algn="l">
              <a:lnSpc>
                <a:spcPct val="110000"/>
              </a:lnSpc>
              <a:spcBef>
                <a:spcPts val="0"/>
              </a:spcBef>
              <a:spcAft>
                <a:spcPts val="0"/>
              </a:spcAft>
            </a:pPr>
            <a:r>
              <a:rPr sz="1310" b="0">
                <a:solidFill>
                  <a:srgbClr val="B8C3DC"/>
                </a:solidFill>
                <a:latin typeface="Inter"/>
              </a:rPr>
              <a:t>More places for behavior to drift.</a:t>
            </a:r>
          </a:p>
        </p:txBody>
      </p:sp>
      <p:cxnSp>
        <p:nvCxnSpPr>
          <p:cNvPr id="27" name="Connector 26"/>
          <p:cNvCxnSpPr/>
          <p:nvPr/>
        </p:nvCxnSpPr>
        <p:spPr>
          <a:xfrm>
            <a:off x="5779008" y="3685032"/>
            <a:ext cx="603504" cy="0"/>
          </a:xfrm>
          <a:prstGeom prst="line">
            <a:avLst/>
          </a:prstGeom>
          <a:ln w="27940">
            <a:solidFill>
              <a:srgbClr val="6257FA"/>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556248" y="1993392"/>
            <a:ext cx="5010912" cy="3346704"/>
          </a:xfrm>
          <a:prstGeom prst="roundRect">
            <a:avLst>
              <a:gd name="adj" fmla="val 5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839712" y="2240280"/>
            <a:ext cx="2523744"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S04 Text 29 - ONE SHARED CONTRACT"/>
          <p:cNvSpPr txBox="1"/>
          <p:nvPr/>
        </p:nvSpPr>
        <p:spPr>
          <a:xfrm>
            <a:off x="6912864" y="2253996"/>
            <a:ext cx="2377439"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ONE SHARED CONTRACT</a:t>
            </a:r>
          </a:p>
        </p:txBody>
      </p:sp>
      <p:pic>
        <p:nvPicPr>
          <p:cNvPr id="31" name="Picture 30" descr="image-4-11.png"/>
          <p:cNvPicPr>
            <a:picLocks noChangeAspect="1"/>
          </p:cNvPicPr>
          <p:nvPr/>
        </p:nvPicPr>
        <p:blipFill>
          <a:blip r:embed="rId6"/>
          <a:stretch>
            <a:fillRect/>
          </a:stretch>
        </p:blipFill>
        <p:spPr>
          <a:xfrm>
            <a:off x="10671048" y="2212848"/>
            <a:ext cx="502920" cy="502920"/>
          </a:xfrm>
          <a:prstGeom prst="rect">
            <a:avLst/>
          </a:prstGeom>
          <a:effectLst/>
        </p:spPr>
      </p:pic>
      <p:sp>
        <p:nvSpPr>
          <p:cNvPr id="32" name="S04 Text 31 - Discover the capability. Understand its inputs. Read st"/>
          <p:cNvSpPr txBox="1"/>
          <p:nvPr/>
        </p:nvSpPr>
        <p:spPr>
          <a:xfrm>
            <a:off x="6885432" y="2788920"/>
            <a:ext cx="4096512" cy="1152144"/>
          </a:xfrm>
          <a:prstGeom prst="rect">
            <a:avLst/>
          </a:prstGeom>
          <a:noFill/>
          <a:effectLst/>
        </p:spPr>
        <p:txBody>
          <a:bodyPr wrap="square" lIns="0" rIns="0" tIns="0" bIns="0" anchor="t">
            <a:noAutofit/>
          </a:bodyPr>
          <a:lstStyle/>
          <a:p>
            <a:pPr algn="l">
              <a:lnSpc>
                <a:spcPct val="114000"/>
              </a:lnSpc>
              <a:spcBef>
                <a:spcPts val="0"/>
              </a:spcBef>
              <a:spcAft>
                <a:spcPts val="0"/>
              </a:spcAft>
            </a:pPr>
            <a:r>
              <a:rPr sz="1980" b="1">
                <a:solidFill>
                  <a:srgbClr val="111827"/>
                </a:solidFill>
                <a:latin typeface="Inter"/>
              </a:rPr>
              <a:t>Declare and execute the action.</a:t>
            </a:r>
          </a:p>
          <a:p>
            <a:pPr algn="l">
              <a:lnSpc>
                <a:spcPct val="114000"/>
              </a:lnSpc>
              <a:spcBef>
                <a:spcPts val="0"/>
              </a:spcBef>
              <a:spcAft>
                <a:spcPts val="0"/>
              </a:spcAft>
            </a:pPr>
            <a:r>
              <a:rPr sz="1980" b="1">
                <a:solidFill>
                  <a:srgbClr val="111827"/>
                </a:solidFill>
                <a:latin typeface="Inter"/>
              </a:rPr>
              <a:t>Keep process state in the service.</a:t>
            </a:r>
          </a:p>
          <a:p>
            <a:pPr algn="l">
              <a:lnSpc>
                <a:spcPct val="114000"/>
              </a:lnSpc>
              <a:spcBef>
                <a:spcPts val="0"/>
              </a:spcBef>
              <a:spcAft>
                <a:spcPts val="0"/>
              </a:spcAft>
            </a:pPr>
            <a:r>
              <a:rPr sz="1980" b="1">
                <a:solidFill>
                  <a:srgbClr val="111827"/>
                </a:solidFill>
                <a:latin typeface="Inter"/>
              </a:rPr>
              <a:t>Return what can happen next.</a:t>
            </a:r>
          </a:p>
        </p:txBody>
      </p:sp>
      <p:cxnSp>
        <p:nvCxnSpPr>
          <p:cNvPr id="33" name="Connector 32"/>
          <p:cNvCxnSpPr/>
          <p:nvPr/>
        </p:nvCxnSpPr>
        <p:spPr>
          <a:xfrm>
            <a:off x="6876288" y="4224528"/>
            <a:ext cx="4315968" cy="0"/>
          </a:xfrm>
          <a:prstGeom prst="line">
            <a:avLst/>
          </a:prstGeom>
          <a:ln w="10160">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34" name="Picture 33" descr="icon_robot_B64FD9.png"/>
          <p:cNvPicPr>
            <a:picLocks noChangeAspect="1"/>
          </p:cNvPicPr>
          <p:nvPr/>
        </p:nvPicPr>
        <p:blipFill>
          <a:blip r:embed="rId5"/>
          <a:stretch>
            <a:fillRect/>
          </a:stretch>
        </p:blipFill>
        <p:spPr>
          <a:xfrm>
            <a:off x="6922008" y="4544568"/>
            <a:ext cx="393192" cy="393192"/>
          </a:xfrm>
          <a:prstGeom prst="rect">
            <a:avLst/>
          </a:prstGeom>
          <a:effectLst/>
        </p:spPr>
      </p:pic>
      <p:sp>
        <p:nvSpPr>
          <p:cNvPr id="35" name="S04 Text 34 - AI uses the business contract— not a second definition "/>
          <p:cNvSpPr txBox="1"/>
          <p:nvPr/>
        </p:nvSpPr>
        <p:spPr>
          <a:xfrm>
            <a:off x="7516368" y="4507992"/>
            <a:ext cx="3584448" cy="603504"/>
          </a:xfrm>
          <a:prstGeom prst="rect">
            <a:avLst/>
          </a:prstGeom>
          <a:noFill/>
          <a:effectLst/>
        </p:spPr>
        <p:txBody>
          <a:bodyPr wrap="square" lIns="0" rIns="0" tIns="0" bIns="0" anchor="t">
            <a:noAutofit/>
          </a:bodyPr>
          <a:lstStyle/>
          <a:p>
            <a:pPr algn="l">
              <a:lnSpc>
                <a:spcPct val="110000"/>
              </a:lnSpc>
              <a:spcBef>
                <a:spcPts val="0"/>
              </a:spcBef>
              <a:spcAft>
                <a:spcPts val="0"/>
              </a:spcAft>
            </a:pPr>
            <a:r>
              <a:rPr sz="1430" b="0">
                <a:solidFill>
                  <a:srgbClr val="111827"/>
                </a:solidFill>
                <a:latin typeface="Inter"/>
              </a:rPr>
              <a:t>Each consumer calls the same action</a:t>
            </a:r>
          </a:p>
          <a:p>
            <a:pPr algn="l">
              <a:lnSpc>
                <a:spcPct val="110000"/>
              </a:lnSpc>
              <a:spcBef>
                <a:spcPts val="0"/>
              </a:spcBef>
              <a:spcAft>
                <a:spcPts val="0"/>
              </a:spcAft>
            </a:pPr>
            <a:r>
              <a:rPr sz="1430" b="0">
                <a:solidFill>
                  <a:srgbClr val="111827"/>
                </a:solidFill>
                <a:latin typeface="Inter"/>
              </a:rPr>
              <a:t>and reads the same process guidance.</a:t>
            </a:r>
          </a:p>
        </p:txBody>
      </p:sp>
      <p:sp>
        <p:nvSpPr>
          <p:cNvPr id="36" name="Rounded Rectangle 35"/>
          <p:cNvSpPr/>
          <p:nvPr/>
        </p:nvSpPr>
        <p:spPr>
          <a:xfrm>
            <a:off x="603504" y="5742432"/>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04 Text 36 - The strategic value: AI access and cross-channel reuse "/>
          <p:cNvSpPr txBox="1"/>
          <p:nvPr/>
        </p:nvSpPr>
        <p:spPr>
          <a:xfrm>
            <a:off x="786384" y="5811012"/>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The goal: less duplicated process plumbing, without replacing the business systems or the channels.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69" cy="36576"/>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03504" y="393192"/>
            <a:ext cx="1005840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019" b="1">
                <a:solidFill>
                  <a:srgbClr val="6257FA"/>
                </a:solidFill>
                <a:latin typeface="Inter"/>
              </a:rPr>
              <a:t>HOW IT WORKS / BUILD TIME</a:t>
            </a:r>
          </a:p>
        </p:txBody>
      </p:sp>
      <p:sp>
        <p:nvSpPr>
          <p:cNvPr id="6" name="TextBox 5"/>
          <p:cNvSpPr txBox="1"/>
          <p:nvPr/>
        </p:nvSpPr>
        <p:spPr>
          <a:xfrm>
            <a:off x="603504" y="832104"/>
            <a:ext cx="10972800" cy="621792"/>
          </a:xfrm>
          <a:prstGeom prst="rect">
            <a:avLst/>
          </a:prstGeom>
          <a:noFill/>
          <a:effectLst/>
        </p:spPr>
        <p:txBody>
          <a:bodyPr wrap="square" lIns="0" rIns="0" tIns="0" bIns="0" anchor="t">
            <a:spAutoFit/>
          </a:bodyPr>
          <a:lstStyle/>
          <a:p>
            <a:pPr algn="l">
              <a:lnSpc>
                <a:spcPct val="104000"/>
              </a:lnSpc>
              <a:spcBef>
                <a:spcPts val="0"/>
              </a:spcBef>
              <a:spcAft>
                <a:spcPts val="200"/>
              </a:spcAft>
            </a:pPr>
            <a:r>
              <a:rPr sz="2800" b="1">
                <a:solidFill>
                  <a:srgbClr val="111827"/>
                </a:solidFill>
                <a:latin typeface="Inter"/>
              </a:rPr>
              <a:t>You write the action. Kaleido supplies the runtime.</a:t>
            </a:r>
          </a:p>
        </p:txBody>
      </p:sp>
      <p:sp>
        <p:nvSpPr>
          <p:cNvPr id="7" name="TextBox 6"/>
          <p:cNvSpPr txBox="1"/>
          <p:nvPr/>
        </p:nvSpPr>
        <p:spPr>
          <a:xfrm>
            <a:off x="603504" y="1508760"/>
            <a:ext cx="10936224" cy="4572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420" b="0">
                <a:solidFill>
                  <a:srgbClr val="5F6B82"/>
                </a:solidFill>
                <a:latin typeface="Inter"/>
              </a:rPr>
              <a:t>Define C# types and metadata, implement the business code, then register them with the framework.</a:t>
            </a:r>
          </a:p>
        </p:txBody>
      </p:sp>
      <p:cxnSp>
        <p:nvCxnSpPr>
          <p:cNvPr id="8" name="Connector 7"/>
          <p:cNvCxnSpPr/>
          <p:nvPr/>
        </p:nvCxnSpPr>
        <p:spPr>
          <a:xfrm>
            <a:off x="603504" y="6492240"/>
            <a:ext cx="10981944" cy="0"/>
          </a:xfrm>
          <a:prstGeom prst="line">
            <a:avLst/>
          </a:prstGeom>
          <a:ln w="6350">
            <a:solidFill>
              <a:srgbClr val="DEE4F2"/>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png"/>
          <p:cNvPicPr>
            <a:picLocks noChangeAspect="1"/>
          </p:cNvPicPr>
          <p:nvPr/>
        </p:nvPicPr>
        <p:blipFill>
          <a:blip r:embed="rId2"/>
          <a:stretch>
            <a:fillRect/>
          </a:stretch>
        </p:blipFill>
        <p:spPr>
          <a:xfrm>
            <a:off x="621792" y="6583680"/>
            <a:ext cx="164592" cy="164592"/>
          </a:xfrm>
          <a:prstGeom prst="rect">
            <a:avLst/>
          </a:prstGeom>
          <a:effectLst/>
        </p:spPr>
      </p:pic>
      <p:sp>
        <p:nvSpPr>
          <p:cNvPr id="10" name="TextBox 9"/>
          <p:cNvSpPr txBox="1"/>
          <p:nvPr/>
        </p:nvSpPr>
        <p:spPr>
          <a:xfrm>
            <a:off x="877824" y="6574536"/>
            <a:ext cx="4572000"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5F6B82"/>
                </a:solidFill>
                <a:latin typeface="Inter"/>
              </a:rPr>
              <a:t>Kaleido  |  Framework overview</a:t>
            </a:r>
          </a:p>
        </p:txBody>
      </p:sp>
      <p:sp>
        <p:nvSpPr>
          <p:cNvPr id="11" name="TextBox 10"/>
          <p:cNvSpPr txBox="1"/>
          <p:nvPr/>
        </p:nvSpPr>
        <p:spPr>
          <a:xfrm>
            <a:off x="8723376" y="6574536"/>
            <a:ext cx="249631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00" b="0">
                <a:solidFill>
                  <a:srgbClr val="5F6B82"/>
                </a:solidFill>
                <a:latin typeface="Inter"/>
              </a:rPr>
              <a:t>PRE-1.0 PROJECT PREVIEW</a:t>
            </a:r>
          </a:p>
        </p:txBody>
      </p:sp>
      <p:sp>
        <p:nvSpPr>
          <p:cNvPr id="12" name="TextBox 11"/>
          <p:cNvSpPr txBox="1"/>
          <p:nvPr/>
        </p:nvSpPr>
        <p:spPr>
          <a:xfrm>
            <a:off x="11274552" y="6574536"/>
            <a:ext cx="30175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5F6B82"/>
                </a:solidFill>
                <a:latin typeface="Inter"/>
              </a:rPr>
              <a:t>06</a:t>
            </a:r>
          </a:p>
        </p:txBody>
      </p:sp>
      <p:sp>
        <p:nvSpPr>
          <p:cNvPr id="13" name="Rounded Rectangle 12"/>
          <p:cNvSpPr/>
          <p:nvPr/>
        </p:nvSpPr>
        <p:spPr>
          <a:xfrm>
            <a:off x="621792" y="2176272"/>
            <a:ext cx="3465576" cy="3163824"/>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1792" y="2176272"/>
            <a:ext cx="3465576" cy="50292"/>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7824" y="2505456"/>
            <a:ext cx="2953512" cy="237744"/>
          </a:xfrm>
          <a:prstGeom prst="rect">
            <a:avLst/>
          </a:prstGeom>
          <a:noFill/>
          <a:effectLst/>
        </p:spPr>
        <p:txBody>
          <a:bodyPr wrap="square" lIns="0" rIns="0" tIns="0" bIns="0" anchor="t">
            <a:spAutoFit/>
          </a:bodyPr>
          <a:lstStyle/>
          <a:p>
            <a:pPr algn="l">
              <a:lnSpc>
                <a:spcPct val="104000"/>
              </a:lnSpc>
              <a:spcBef>
                <a:spcPts val="0"/>
              </a:spcBef>
              <a:spcAft>
                <a:spcPts val="200"/>
              </a:spcAft>
            </a:pPr>
            <a:r>
              <a:rPr sz="1150" b="1">
                <a:solidFill>
                  <a:srgbClr val="21B6D7"/>
                </a:solidFill>
                <a:latin typeface="Inter"/>
              </a:rPr>
              <a:t>01  DECLARE</a:t>
            </a:r>
          </a:p>
        </p:txBody>
      </p:sp>
      <p:sp>
        <p:nvSpPr>
          <p:cNvPr id="16" name="TextBox 15"/>
          <p:cNvSpPr txBox="1"/>
          <p:nvPr/>
        </p:nvSpPr>
        <p:spPr>
          <a:xfrm>
            <a:off x="877824" y="3054096"/>
            <a:ext cx="2953512" cy="658368"/>
          </a:xfrm>
          <a:prstGeom prst="rect">
            <a:avLst/>
          </a:prstGeom>
          <a:noFill/>
          <a:effectLst/>
        </p:spPr>
        <p:txBody>
          <a:bodyPr wrap="square" lIns="0" rIns="0" tIns="0" bIns="0" anchor="t">
            <a:spAutoFit/>
          </a:bodyPr>
          <a:lstStyle/>
          <a:p>
            <a:pPr algn="l">
              <a:lnSpc>
                <a:spcPct val="104000"/>
              </a:lnSpc>
              <a:spcBef>
                <a:spcPts val="0"/>
              </a:spcBef>
              <a:spcAft>
                <a:spcPts val="200"/>
              </a:spcAft>
            </a:pPr>
            <a:r>
              <a:rPr sz="2200" b="1">
                <a:solidFill>
                  <a:srgbClr val="111827"/>
                </a:solidFill>
                <a:latin typeface="Inter"/>
              </a:rPr>
              <a:t>The business contract</a:t>
            </a:r>
          </a:p>
        </p:txBody>
      </p:sp>
      <p:sp>
        <p:nvSpPr>
          <p:cNvPr id="17" name="Oval 16"/>
          <p:cNvSpPr/>
          <p:nvPr/>
        </p:nvSpPr>
        <p:spPr>
          <a:xfrm>
            <a:off x="886968" y="3968496"/>
            <a:ext cx="50292" cy="5029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8" y="3913632"/>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Step inputs and descriptions</a:t>
            </a:r>
          </a:p>
        </p:txBody>
      </p:sp>
      <p:sp>
        <p:nvSpPr>
          <p:cNvPr id="19" name="Oval 18"/>
          <p:cNvSpPr/>
          <p:nvPr/>
        </p:nvSpPr>
        <p:spPr>
          <a:xfrm>
            <a:off x="886968" y="4306824"/>
            <a:ext cx="50292" cy="5029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24128" y="4251960"/>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Dependencies and availability</a:t>
            </a:r>
          </a:p>
        </p:txBody>
      </p:sp>
      <p:sp>
        <p:nvSpPr>
          <p:cNvPr id="21" name="Oval 20"/>
          <p:cNvSpPr/>
          <p:nvPr/>
        </p:nvSpPr>
        <p:spPr>
          <a:xfrm>
            <a:off x="886968" y="4645152"/>
            <a:ext cx="50292" cy="5029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024128" y="4590288"/>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Query sources and views</a:t>
            </a:r>
          </a:p>
        </p:txBody>
      </p:sp>
      <p:sp>
        <p:nvSpPr>
          <p:cNvPr id="23" name="TextBox 22"/>
          <p:cNvSpPr txBox="1"/>
          <p:nvPr/>
        </p:nvSpPr>
        <p:spPr>
          <a:xfrm>
            <a:off x="877824" y="4965192"/>
            <a:ext cx="2953512" cy="210312"/>
          </a:xfrm>
          <a:prstGeom prst="rect">
            <a:avLst/>
          </a:prstGeom>
          <a:noFill/>
          <a:effectLst/>
        </p:spPr>
        <p:txBody>
          <a:bodyPr wrap="square" lIns="0" rIns="0" tIns="0" bIns="0" anchor="t">
            <a:spAutoFit/>
          </a:bodyPr>
          <a:lstStyle/>
          <a:p>
            <a:pPr algn="l">
              <a:lnSpc>
                <a:spcPct val="104000"/>
              </a:lnSpc>
              <a:spcBef>
                <a:spcPts val="0"/>
              </a:spcBef>
              <a:spcAft>
                <a:spcPts val="200"/>
              </a:spcAft>
            </a:pPr>
            <a:r>
              <a:rPr sz="960" b="1">
                <a:solidFill>
                  <a:srgbClr val="21B6D7"/>
                </a:solidFill>
                <a:latin typeface="Inter"/>
              </a:rPr>
              <a:t>YOU DEFINE THE SHAPE</a:t>
            </a:r>
          </a:p>
        </p:txBody>
      </p:sp>
      <p:sp>
        <p:nvSpPr>
          <p:cNvPr id="24" name="Rounded Rectangle 23"/>
          <p:cNvSpPr/>
          <p:nvPr/>
        </p:nvSpPr>
        <p:spPr>
          <a:xfrm>
            <a:off x="4361688" y="2176272"/>
            <a:ext cx="3465576" cy="3163824"/>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4361688" y="2176272"/>
            <a:ext cx="3465576" cy="50292"/>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617720" y="2505456"/>
            <a:ext cx="2953512" cy="237744"/>
          </a:xfrm>
          <a:prstGeom prst="rect">
            <a:avLst/>
          </a:prstGeom>
          <a:noFill/>
          <a:effectLst/>
        </p:spPr>
        <p:txBody>
          <a:bodyPr wrap="square" lIns="0" rIns="0" tIns="0" bIns="0" anchor="t">
            <a:spAutoFit/>
          </a:bodyPr>
          <a:lstStyle/>
          <a:p>
            <a:pPr algn="l">
              <a:lnSpc>
                <a:spcPct val="104000"/>
              </a:lnSpc>
              <a:spcBef>
                <a:spcPts val="0"/>
              </a:spcBef>
              <a:spcAft>
                <a:spcPts val="200"/>
              </a:spcAft>
            </a:pPr>
            <a:r>
              <a:rPr sz="1150" b="1">
                <a:solidFill>
                  <a:srgbClr val="19C4A7"/>
                </a:solidFill>
                <a:latin typeface="Inter"/>
              </a:rPr>
              <a:t>02  IMPLEMENT</a:t>
            </a:r>
          </a:p>
        </p:txBody>
      </p:sp>
      <p:sp>
        <p:nvSpPr>
          <p:cNvPr id="27" name="TextBox 26"/>
          <p:cNvSpPr txBox="1"/>
          <p:nvPr/>
        </p:nvSpPr>
        <p:spPr>
          <a:xfrm>
            <a:off x="4617720" y="3054096"/>
            <a:ext cx="2953512" cy="658368"/>
          </a:xfrm>
          <a:prstGeom prst="rect">
            <a:avLst/>
          </a:prstGeom>
          <a:noFill/>
          <a:effectLst/>
        </p:spPr>
        <p:txBody>
          <a:bodyPr wrap="square" lIns="0" rIns="0" tIns="0" bIns="0" anchor="t">
            <a:spAutoFit/>
          </a:bodyPr>
          <a:lstStyle/>
          <a:p>
            <a:pPr algn="l">
              <a:lnSpc>
                <a:spcPct val="104000"/>
              </a:lnSpc>
              <a:spcBef>
                <a:spcPts val="0"/>
              </a:spcBef>
              <a:spcAft>
                <a:spcPts val="200"/>
              </a:spcAft>
            </a:pPr>
            <a:r>
              <a:rPr sz="2200" b="1">
                <a:solidFill>
                  <a:srgbClr val="111827"/>
                </a:solidFill>
                <a:latin typeface="Inter"/>
              </a:rPr>
              <a:t>Your business handler</a:t>
            </a:r>
          </a:p>
        </p:txBody>
      </p:sp>
      <p:sp>
        <p:nvSpPr>
          <p:cNvPr id="28" name="Oval 27"/>
          <p:cNvSpPr/>
          <p:nvPr/>
        </p:nvSpPr>
        <p:spPr>
          <a:xfrm>
            <a:off x="4626864" y="3968496"/>
            <a:ext cx="50292" cy="5029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64024" y="3913632"/>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Validate business meaning</a:t>
            </a:r>
          </a:p>
        </p:txBody>
      </p:sp>
      <p:sp>
        <p:nvSpPr>
          <p:cNvPr id="30" name="Oval 29"/>
          <p:cNvSpPr/>
          <p:nvPr/>
        </p:nvSpPr>
        <p:spPr>
          <a:xfrm>
            <a:off x="4626864" y="4306824"/>
            <a:ext cx="50292" cy="5029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764024" y="4251960"/>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Read and write your systems</a:t>
            </a:r>
          </a:p>
        </p:txBody>
      </p:sp>
      <p:sp>
        <p:nvSpPr>
          <p:cNvPr id="32" name="Oval 31"/>
          <p:cNvSpPr/>
          <p:nvPr/>
        </p:nvSpPr>
        <p:spPr>
          <a:xfrm>
            <a:off x="4626864" y="4645152"/>
            <a:ext cx="50292" cy="5029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764024" y="4590288"/>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Return a result and next direction</a:t>
            </a:r>
          </a:p>
        </p:txBody>
      </p:sp>
      <p:sp>
        <p:nvSpPr>
          <p:cNvPr id="34" name="TextBox 33"/>
          <p:cNvSpPr txBox="1"/>
          <p:nvPr/>
        </p:nvSpPr>
        <p:spPr>
          <a:xfrm>
            <a:off x="4617720" y="4965192"/>
            <a:ext cx="2953512" cy="210312"/>
          </a:xfrm>
          <a:prstGeom prst="rect">
            <a:avLst/>
          </a:prstGeom>
          <a:noFill/>
          <a:effectLst/>
        </p:spPr>
        <p:txBody>
          <a:bodyPr wrap="square" lIns="0" rIns="0" tIns="0" bIns="0" anchor="t">
            <a:spAutoFit/>
          </a:bodyPr>
          <a:lstStyle/>
          <a:p>
            <a:pPr algn="l">
              <a:lnSpc>
                <a:spcPct val="104000"/>
              </a:lnSpc>
              <a:spcBef>
                <a:spcPts val="0"/>
              </a:spcBef>
              <a:spcAft>
                <a:spcPts val="200"/>
              </a:spcAft>
            </a:pPr>
            <a:r>
              <a:rPr sz="960" b="1">
                <a:solidFill>
                  <a:srgbClr val="19C4A7"/>
                </a:solidFill>
                <a:latin typeface="Inter"/>
              </a:rPr>
              <a:t>YOU OWN THE BUSINESS</a:t>
            </a:r>
          </a:p>
        </p:txBody>
      </p:sp>
      <p:sp>
        <p:nvSpPr>
          <p:cNvPr id="35" name="Rounded Rectangle 34"/>
          <p:cNvSpPr/>
          <p:nvPr/>
        </p:nvSpPr>
        <p:spPr>
          <a:xfrm>
            <a:off x="8101583" y="2176272"/>
            <a:ext cx="3465576" cy="3163824"/>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8101583" y="2176272"/>
            <a:ext cx="3465576" cy="50292"/>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57615" y="2505456"/>
            <a:ext cx="2953512" cy="237744"/>
          </a:xfrm>
          <a:prstGeom prst="rect">
            <a:avLst/>
          </a:prstGeom>
          <a:noFill/>
          <a:effectLst/>
        </p:spPr>
        <p:txBody>
          <a:bodyPr wrap="square" lIns="0" rIns="0" tIns="0" bIns="0" anchor="t">
            <a:spAutoFit/>
          </a:bodyPr>
          <a:lstStyle/>
          <a:p>
            <a:pPr algn="l">
              <a:lnSpc>
                <a:spcPct val="104000"/>
              </a:lnSpc>
              <a:spcBef>
                <a:spcPts val="0"/>
              </a:spcBef>
              <a:spcAft>
                <a:spcPts val="200"/>
              </a:spcAft>
            </a:pPr>
            <a:r>
              <a:rPr sz="1150" b="1">
                <a:solidFill>
                  <a:srgbClr val="8B5CF6"/>
                </a:solidFill>
                <a:latin typeface="Inter"/>
              </a:rPr>
              <a:t>03  REGISTER + EXPOSE</a:t>
            </a:r>
          </a:p>
        </p:txBody>
      </p:sp>
      <p:sp>
        <p:nvSpPr>
          <p:cNvPr id="38" name="TextBox 37"/>
          <p:cNvSpPr txBox="1"/>
          <p:nvPr/>
        </p:nvSpPr>
        <p:spPr>
          <a:xfrm>
            <a:off x="8357615" y="3054096"/>
            <a:ext cx="2953512" cy="658368"/>
          </a:xfrm>
          <a:prstGeom prst="rect">
            <a:avLst/>
          </a:prstGeom>
          <a:noFill/>
          <a:effectLst/>
        </p:spPr>
        <p:txBody>
          <a:bodyPr wrap="square" lIns="0" rIns="0" tIns="0" bIns="0" anchor="t">
            <a:spAutoFit/>
          </a:bodyPr>
          <a:lstStyle/>
          <a:p>
            <a:pPr algn="l">
              <a:lnSpc>
                <a:spcPct val="104000"/>
              </a:lnSpc>
              <a:spcBef>
                <a:spcPts val="0"/>
              </a:spcBef>
              <a:spcAft>
                <a:spcPts val="200"/>
              </a:spcAft>
            </a:pPr>
            <a:r>
              <a:rPr sz="2200" b="1">
                <a:solidFill>
                  <a:srgbClr val="111827"/>
                </a:solidFill>
                <a:latin typeface="Inter"/>
              </a:rPr>
              <a:t>The callable surface</a:t>
            </a:r>
          </a:p>
        </p:txBody>
      </p:sp>
      <p:sp>
        <p:nvSpPr>
          <p:cNvPr id="39" name="Oval 38"/>
          <p:cNvSpPr/>
          <p:nvPr/>
        </p:nvSpPr>
        <p:spPr>
          <a:xfrm>
            <a:off x="8366759" y="3968496"/>
            <a:ext cx="50292" cy="5029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503919" y="3913632"/>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Registry built from declarations</a:t>
            </a:r>
          </a:p>
        </p:txBody>
      </p:sp>
      <p:sp>
        <p:nvSpPr>
          <p:cNvPr id="41" name="Oval 40"/>
          <p:cNvSpPr/>
          <p:nvPr/>
        </p:nvSpPr>
        <p:spPr>
          <a:xfrm>
            <a:off x="8366759" y="4306824"/>
            <a:ext cx="50292" cy="5029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8503919" y="4251960"/>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HTTP query and step endpoints</a:t>
            </a:r>
          </a:p>
        </p:txBody>
      </p:sp>
      <p:sp>
        <p:nvSpPr>
          <p:cNvPr id="43" name="Oval 42"/>
          <p:cNvSpPr/>
          <p:nvPr/>
        </p:nvSpPr>
        <p:spPr>
          <a:xfrm>
            <a:off x="8366759" y="4645152"/>
            <a:ext cx="50292" cy="5029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503919" y="4590288"/>
            <a:ext cx="2788920"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330" b="0">
                <a:solidFill>
                  <a:srgbClr val="5F6B82"/>
                </a:solidFill>
                <a:latin typeface="Inter"/>
              </a:rPr>
              <a:t>MCP tools from the same registry</a:t>
            </a:r>
          </a:p>
        </p:txBody>
      </p:sp>
      <p:sp>
        <p:nvSpPr>
          <p:cNvPr id="45" name="TextBox 44"/>
          <p:cNvSpPr txBox="1"/>
          <p:nvPr/>
        </p:nvSpPr>
        <p:spPr>
          <a:xfrm>
            <a:off x="8357615" y="4965192"/>
            <a:ext cx="2953512" cy="210312"/>
          </a:xfrm>
          <a:prstGeom prst="rect">
            <a:avLst/>
          </a:prstGeom>
          <a:noFill/>
          <a:effectLst/>
        </p:spPr>
        <p:txBody>
          <a:bodyPr wrap="square" lIns="0" rIns="0" tIns="0" bIns="0" anchor="t">
            <a:spAutoFit/>
          </a:bodyPr>
          <a:lstStyle/>
          <a:p>
            <a:pPr algn="l">
              <a:lnSpc>
                <a:spcPct val="104000"/>
              </a:lnSpc>
              <a:spcBef>
                <a:spcPts val="0"/>
              </a:spcBef>
              <a:spcAft>
                <a:spcPts val="200"/>
              </a:spcAft>
            </a:pPr>
            <a:r>
              <a:rPr sz="960" b="1">
                <a:solidFill>
                  <a:srgbClr val="8B5CF6"/>
                </a:solidFill>
                <a:latin typeface="Inter"/>
              </a:rPr>
              <a:t>KALEIDO PUBLISHES THE MODEL</a:t>
            </a:r>
          </a:p>
        </p:txBody>
      </p:sp>
      <p:sp>
        <p:nvSpPr>
          <p:cNvPr id="46" name="Rectangle 45"/>
          <p:cNvSpPr/>
          <p:nvPr/>
        </p:nvSpPr>
        <p:spPr>
          <a:xfrm>
            <a:off x="621792" y="5596128"/>
            <a:ext cx="10945368" cy="475488"/>
          </a:xfrm>
          <a:prstGeom prst="rect">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832104" y="5710428"/>
            <a:ext cx="10515600" cy="265176"/>
          </a:xfrm>
          <a:prstGeom prst="rect">
            <a:avLst/>
          </a:prstGeom>
          <a:noFill/>
          <a:effectLst/>
        </p:spPr>
        <p:txBody>
          <a:bodyPr wrap="square" lIns="0" rIns="0" tIns="0" bIns="0" anchor="t">
            <a:spAutoFit/>
          </a:bodyPr>
          <a:lstStyle/>
          <a:p>
            <a:pPr algn="ctr">
              <a:lnSpc>
                <a:spcPct val="104000"/>
              </a:lnSpc>
              <a:spcBef>
                <a:spcPts val="0"/>
              </a:spcBef>
              <a:spcAft>
                <a:spcPts val="200"/>
              </a:spcAft>
            </a:pPr>
            <a:r>
              <a:rPr sz="1320" b="1">
                <a:solidFill>
                  <a:srgbClr val="FFFFFF"/>
                </a:solidFill>
                <a:latin typeface="Inter"/>
              </a:rPr>
              <a:t>Business logic is written once in the service—not re-created in each channel or prompt.</a:t>
            </a:r>
          </a:p>
        </p:txBody>
      </p:sp>
      <p:sp>
        <p:nvSpPr>
          <p:cNvPr id="48" name="TextBox 47"/>
          <p:cNvSpPr txBox="1"/>
          <p:nvPr/>
        </p:nvSpPr>
        <p:spPr>
          <a:xfrm>
            <a:off x="621792" y="6272784"/>
            <a:ext cx="10881360" cy="164592"/>
          </a:xfrm>
          <a:prstGeom prst="rect">
            <a:avLst/>
          </a:prstGeom>
          <a:noFill/>
          <a:effectLst/>
        </p:spPr>
        <p:txBody>
          <a:bodyPr wrap="square" lIns="0" rIns="0" tIns="0" bIns="0" anchor="t">
            <a:spAutoFit/>
          </a:bodyPr>
          <a:lstStyle/>
          <a:p>
            <a:pPr algn="l">
              <a:lnSpc>
                <a:spcPct val="104000"/>
              </a:lnSpc>
              <a:spcBef>
                <a:spcPts val="0"/>
              </a:spcBef>
              <a:spcAft>
                <a:spcPts val="200"/>
              </a:spcAft>
            </a:pPr>
            <a:r>
              <a:rPr sz="850" b="0">
                <a:solidFill>
                  <a:srgbClr val="5F6B82"/>
                </a:solidFill>
                <a:latin typeface="Inter"/>
              </a:rPr>
              <a:t>HTTP and MCP require their host adapters. Registration does not automatically convert arbitrary existing APIs into Kaleido 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6 Text 04 - OPERATING MODEL"/>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WHERE THE FRAMEWORK RUNS</a:t>
            </a:r>
          </a:p>
        </p:txBody>
      </p:sp>
      <p:sp>
        <p:nvSpPr>
          <p:cNvPr id="6" name="S06 Text 05 - One model for human and AI consumers."/>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800" b="1">
                <a:solidFill>
                  <a:srgbClr val="FFFFFF"/>
                </a:solidFill>
                <a:latin typeface="Inter"/>
              </a:rPr>
              <a:t>Different interfaces. The same business execution.</a:t>
            </a:r>
          </a:p>
        </p:txBody>
      </p:sp>
      <p:sp>
        <p:nvSpPr>
          <p:cNvPr id="7" name="S06 Text 06 - AI uses MCP; applications use HTTP. Both reach the sam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AI uses MCP; applications use HTTP. Both reach the same capability contracts and business implementations.</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6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1" name="S06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6 Text 11 - 06"/>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08</a:t>
            </a:r>
          </a:p>
        </p:txBody>
      </p:sp>
      <p:sp>
        <p:nvSpPr>
          <p:cNvPr id="13" name="S06 Text 12 - Illustrative consumer categories. These are not claims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Illustrative consumer categories. These are not claims of bundled connectors or vendor certifications.</a:t>
            </a:r>
          </a:p>
        </p:txBody>
      </p:sp>
      <p:cxnSp>
        <p:nvCxnSpPr>
          <p:cNvPr id="14" name="Connector 13"/>
          <p:cNvCxnSpPr/>
          <p:nvPr/>
        </p:nvCxnSpPr>
        <p:spPr>
          <a:xfrm>
            <a:off x="1632204" y="2916936"/>
            <a:ext cx="0" cy="594360"/>
          </a:xfrm>
          <a:prstGeom prst="line">
            <a:avLst/>
          </a:prstGeom>
          <a:ln w="21590">
            <a:solidFill>
              <a:srgbClr val="6257FA"/>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863339"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094476"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8325612"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10556748" y="2916936"/>
            <a:ext cx="0" cy="594360"/>
          </a:xfrm>
          <a:prstGeom prst="line">
            <a:avLst/>
          </a:prstGeom>
          <a:ln w="21590">
            <a:solidFill>
              <a:srgbClr val="29334F"/>
            </a:solidFill>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30936" y="2029968"/>
            <a:ext cx="2002536" cy="886968"/>
          </a:xfrm>
          <a:prstGeom prst="roundRect">
            <a:avLst>
              <a:gd name="adj" fmla="val 7000"/>
            </a:avLst>
          </a:prstGeom>
          <a:solidFill>
            <a:srgbClr val="291C45"/>
          </a:solidFill>
          <a:ln w="12700">
            <a:solidFill>
              <a:srgbClr val="8B5CF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_robot_B64FD9.png"/>
          <p:cNvPicPr>
            <a:picLocks noChangeAspect="1"/>
          </p:cNvPicPr>
          <p:nvPr/>
        </p:nvPicPr>
        <p:blipFill>
          <a:blip r:embed="rId3"/>
          <a:stretch>
            <a:fillRect/>
          </a:stretch>
        </p:blipFill>
        <p:spPr>
          <a:xfrm>
            <a:off x="804671" y="2212848"/>
            <a:ext cx="384048" cy="384048"/>
          </a:xfrm>
          <a:prstGeom prst="rect">
            <a:avLst/>
          </a:prstGeom>
          <a:effectLst/>
        </p:spPr>
      </p:pic>
      <p:sp>
        <p:nvSpPr>
          <p:cNvPr id="21" name="S06 Text 20 - AI agents"/>
          <p:cNvSpPr txBox="1"/>
          <p:nvPr/>
        </p:nvSpPr>
        <p:spPr>
          <a:xfrm>
            <a:off x="1335024"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AI agents</a:t>
            </a:r>
          </a:p>
        </p:txBody>
      </p:sp>
      <p:sp>
        <p:nvSpPr>
          <p:cNvPr id="22" name="Rounded Rectangle 21"/>
          <p:cNvSpPr/>
          <p:nvPr/>
        </p:nvSpPr>
        <p:spPr>
          <a:xfrm>
            <a:off x="1143000" y="2999232"/>
            <a:ext cx="987552" cy="256032"/>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06 Text 22 - MCP"/>
          <p:cNvSpPr txBox="1"/>
          <p:nvPr/>
        </p:nvSpPr>
        <p:spPr>
          <a:xfrm>
            <a:off x="1216152"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MCP</a:t>
            </a:r>
          </a:p>
        </p:txBody>
      </p:sp>
      <p:sp>
        <p:nvSpPr>
          <p:cNvPr id="24" name="Rounded Rectangle 23"/>
          <p:cNvSpPr/>
          <p:nvPr/>
        </p:nvSpPr>
        <p:spPr>
          <a:xfrm>
            <a:off x="2862072"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_sitemap_8B5CF6.png"/>
          <p:cNvPicPr>
            <a:picLocks noChangeAspect="1"/>
          </p:cNvPicPr>
          <p:nvPr/>
        </p:nvPicPr>
        <p:blipFill>
          <a:blip r:embed="rId4"/>
          <a:stretch>
            <a:fillRect/>
          </a:stretch>
        </p:blipFill>
        <p:spPr>
          <a:xfrm>
            <a:off x="3035808" y="2212848"/>
            <a:ext cx="384048" cy="384048"/>
          </a:xfrm>
          <a:prstGeom prst="rect">
            <a:avLst/>
          </a:prstGeom>
          <a:effectLst/>
        </p:spPr>
      </p:pic>
      <p:sp>
        <p:nvSpPr>
          <p:cNvPr id="26" name="S06 Text 25 - Workflow / case"/>
          <p:cNvSpPr txBox="1"/>
          <p:nvPr/>
        </p:nvSpPr>
        <p:spPr>
          <a:xfrm>
            <a:off x="3566160"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Workflow / case</a:t>
            </a:r>
          </a:p>
        </p:txBody>
      </p:sp>
      <p:sp>
        <p:nvSpPr>
          <p:cNvPr id="27" name="Rounded Rectangle 26"/>
          <p:cNvSpPr/>
          <p:nvPr/>
        </p:nvSpPr>
        <p:spPr>
          <a:xfrm>
            <a:off x="3374136"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06 Text 27 - HTTP"/>
          <p:cNvSpPr txBox="1"/>
          <p:nvPr/>
        </p:nvSpPr>
        <p:spPr>
          <a:xfrm>
            <a:off x="3447288"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29" name="Rounded Rectangle 28"/>
          <p:cNvSpPr/>
          <p:nvPr/>
        </p:nvSpPr>
        <p:spPr>
          <a:xfrm>
            <a:off x="5093208"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_headset_21B6D7.png"/>
          <p:cNvPicPr>
            <a:picLocks noChangeAspect="1"/>
          </p:cNvPicPr>
          <p:nvPr/>
        </p:nvPicPr>
        <p:blipFill>
          <a:blip r:embed="rId5"/>
          <a:stretch>
            <a:fillRect/>
          </a:stretch>
        </p:blipFill>
        <p:spPr>
          <a:xfrm>
            <a:off x="5266944" y="2212848"/>
            <a:ext cx="384048" cy="384048"/>
          </a:xfrm>
          <a:prstGeom prst="rect">
            <a:avLst/>
          </a:prstGeom>
          <a:effectLst/>
        </p:spPr>
      </p:pic>
      <p:sp>
        <p:nvSpPr>
          <p:cNvPr id="31" name="S06 Text 30 - Voice / assisted"/>
          <p:cNvSpPr txBox="1"/>
          <p:nvPr/>
        </p:nvSpPr>
        <p:spPr>
          <a:xfrm>
            <a:off x="5797296"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Voice / assisted</a:t>
            </a:r>
          </a:p>
        </p:txBody>
      </p:sp>
      <p:sp>
        <p:nvSpPr>
          <p:cNvPr id="32" name="Rounded Rectangle 31"/>
          <p:cNvSpPr/>
          <p:nvPr/>
        </p:nvSpPr>
        <p:spPr>
          <a:xfrm>
            <a:off x="5605272"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06 Text 32 - HTTP"/>
          <p:cNvSpPr txBox="1"/>
          <p:nvPr/>
        </p:nvSpPr>
        <p:spPr>
          <a:xfrm>
            <a:off x="5678424"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34" name="Rounded Rectangle 33"/>
          <p:cNvSpPr/>
          <p:nvPr/>
        </p:nvSpPr>
        <p:spPr>
          <a:xfrm>
            <a:off x="7324344"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_laptop-code_3182F6.png"/>
          <p:cNvPicPr>
            <a:picLocks noChangeAspect="1"/>
          </p:cNvPicPr>
          <p:nvPr/>
        </p:nvPicPr>
        <p:blipFill>
          <a:blip r:embed="rId6"/>
          <a:stretch>
            <a:fillRect/>
          </a:stretch>
        </p:blipFill>
        <p:spPr>
          <a:xfrm>
            <a:off x="7498079" y="2212848"/>
            <a:ext cx="384048" cy="384048"/>
          </a:xfrm>
          <a:prstGeom prst="rect">
            <a:avLst/>
          </a:prstGeom>
          <a:effectLst/>
        </p:spPr>
      </p:pic>
      <p:sp>
        <p:nvSpPr>
          <p:cNvPr id="36" name="S06 Text 35 - Web / mobile"/>
          <p:cNvSpPr txBox="1"/>
          <p:nvPr/>
        </p:nvSpPr>
        <p:spPr>
          <a:xfrm>
            <a:off x="8028431"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Web / mobile</a:t>
            </a:r>
          </a:p>
        </p:txBody>
      </p:sp>
      <p:sp>
        <p:nvSpPr>
          <p:cNvPr id="37" name="Rounded Rectangle 36"/>
          <p:cNvSpPr/>
          <p:nvPr/>
        </p:nvSpPr>
        <p:spPr>
          <a:xfrm>
            <a:off x="7836408"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06 Text 37 - HTTP"/>
          <p:cNvSpPr txBox="1"/>
          <p:nvPr/>
        </p:nvSpPr>
        <p:spPr>
          <a:xfrm>
            <a:off x="7909560"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39" name="Rounded Rectangle 38"/>
          <p:cNvSpPr/>
          <p:nvPr/>
        </p:nvSpPr>
        <p:spPr>
          <a:xfrm>
            <a:off x="9555480" y="2029968"/>
            <a:ext cx="2002536" cy="886968"/>
          </a:xfrm>
          <a:prstGeom prst="roundRect">
            <a:avLst>
              <a:gd name="adj" fmla="val 70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0" name="Picture 39" descr="icon_file-contract_19C4A7.png"/>
          <p:cNvPicPr>
            <a:picLocks noChangeAspect="1"/>
          </p:cNvPicPr>
          <p:nvPr/>
        </p:nvPicPr>
        <p:blipFill>
          <a:blip r:embed="rId7"/>
          <a:stretch>
            <a:fillRect/>
          </a:stretch>
        </p:blipFill>
        <p:spPr>
          <a:xfrm>
            <a:off x="9729215" y="2212848"/>
            <a:ext cx="384048" cy="384048"/>
          </a:xfrm>
          <a:prstGeom prst="rect">
            <a:avLst/>
          </a:prstGeom>
          <a:effectLst/>
        </p:spPr>
      </p:pic>
      <p:sp>
        <p:nvSpPr>
          <p:cNvPr id="41" name="S06 Text 40 - Partners / standards"/>
          <p:cNvSpPr txBox="1"/>
          <p:nvPr/>
        </p:nvSpPr>
        <p:spPr>
          <a:xfrm>
            <a:off x="10259567" y="2185416"/>
            <a:ext cx="1179576" cy="475488"/>
          </a:xfrm>
          <a:prstGeom prst="rect">
            <a:avLst/>
          </a:prstGeom>
          <a:noFill/>
          <a:effectLst/>
        </p:spPr>
        <p:txBody>
          <a:bodyPr wrap="square" lIns="0" rIns="0" tIns="0" bIns="0" anchor="t">
            <a:noAutofit/>
          </a:bodyPr>
          <a:lstStyle/>
          <a:p>
            <a:pPr algn="l">
              <a:lnSpc>
                <a:spcPct val="110000"/>
              </a:lnSpc>
              <a:spcBef>
                <a:spcPts val="0"/>
              </a:spcBef>
              <a:spcAft>
                <a:spcPts val="0"/>
              </a:spcAft>
            </a:pPr>
            <a:r>
              <a:rPr sz="1280" b="1">
                <a:solidFill>
                  <a:srgbClr val="FFFFFF"/>
                </a:solidFill>
                <a:latin typeface="Inter"/>
              </a:rPr>
              <a:t>Partners / standards</a:t>
            </a:r>
          </a:p>
        </p:txBody>
      </p:sp>
      <p:sp>
        <p:nvSpPr>
          <p:cNvPr id="42" name="Rounded Rectangle 41"/>
          <p:cNvSpPr/>
          <p:nvPr/>
        </p:nvSpPr>
        <p:spPr>
          <a:xfrm>
            <a:off x="10067544" y="2999232"/>
            <a:ext cx="987552" cy="256032"/>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6 Text 42 - HTTP"/>
          <p:cNvSpPr txBox="1"/>
          <p:nvPr/>
        </p:nvSpPr>
        <p:spPr>
          <a:xfrm>
            <a:off x="10140696" y="3012948"/>
            <a:ext cx="841248" cy="237744"/>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B8C3DC"/>
                </a:solidFill>
                <a:latin typeface="Inter"/>
              </a:rPr>
              <a:t>HTTP</a:t>
            </a:r>
          </a:p>
        </p:txBody>
      </p:sp>
      <p:sp>
        <p:nvSpPr>
          <p:cNvPr id="44" name="Rounded Rectangle 43"/>
          <p:cNvSpPr/>
          <p:nvPr/>
        </p:nvSpPr>
        <p:spPr>
          <a:xfrm>
            <a:off x="832104" y="3511296"/>
            <a:ext cx="10533888" cy="143560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5" name="Picture 44" descr="image-4-11.png"/>
          <p:cNvPicPr>
            <a:picLocks noChangeAspect="1"/>
          </p:cNvPicPr>
          <p:nvPr/>
        </p:nvPicPr>
        <p:blipFill>
          <a:blip r:embed="rId8"/>
          <a:stretch>
            <a:fillRect/>
          </a:stretch>
        </p:blipFill>
        <p:spPr>
          <a:xfrm>
            <a:off x="1078992" y="3712463"/>
            <a:ext cx="822960" cy="822960"/>
          </a:xfrm>
          <a:prstGeom prst="rect">
            <a:avLst/>
          </a:prstGeom>
          <a:effectLst/>
        </p:spPr>
      </p:pic>
      <p:sp>
        <p:nvSpPr>
          <p:cNvPr id="46" name="S06 Text 45 - KALEIDO"/>
          <p:cNvSpPr txBox="1"/>
          <p:nvPr/>
        </p:nvSpPr>
        <p:spPr>
          <a:xfrm>
            <a:off x="2148840" y="3721608"/>
            <a:ext cx="2743200"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700" b="1">
                <a:solidFill>
                  <a:srgbClr val="111827"/>
                </a:solidFill>
                <a:latin typeface="Inter"/>
              </a:rPr>
              <a:t>KALEIDO</a:t>
            </a:r>
          </a:p>
        </p:txBody>
      </p:sp>
      <p:sp>
        <p:nvSpPr>
          <p:cNvPr id="47" name="S06 Text 46 - Shared business capability contract"/>
          <p:cNvSpPr txBox="1"/>
          <p:nvPr/>
        </p:nvSpPr>
        <p:spPr>
          <a:xfrm>
            <a:off x="2148840" y="4160520"/>
            <a:ext cx="3246120" cy="338328"/>
          </a:xfrm>
          <a:prstGeom prst="rect">
            <a:avLst/>
          </a:prstGeom>
          <a:noFill/>
          <a:effectLst/>
        </p:spPr>
        <p:txBody>
          <a:bodyPr wrap="square" lIns="0" rIns="0" tIns="0" bIns="0" anchor="t">
            <a:noAutofit/>
          </a:bodyPr>
          <a:lstStyle/>
          <a:p>
            <a:pPr algn="l">
              <a:lnSpc>
                <a:spcPct val="110000"/>
              </a:lnSpc>
              <a:spcBef>
                <a:spcPts val="0"/>
              </a:spcBef>
              <a:spcAft>
                <a:spcPts val="0"/>
              </a:spcAft>
            </a:pPr>
            <a:r>
              <a:rPr sz="1200" b="0">
                <a:solidFill>
                  <a:srgbClr val="5F6B82"/>
                </a:solidFill>
                <a:latin typeface="Inter"/>
              </a:rPr>
              <a:t>Query + process runtime and catalog</a:t>
            </a:r>
          </a:p>
        </p:txBody>
      </p:sp>
      <p:sp>
        <p:nvSpPr>
          <p:cNvPr id="48" name="Rectangle 47"/>
          <p:cNvSpPr/>
          <p:nvPr/>
        </p:nvSpPr>
        <p:spPr>
          <a:xfrm>
            <a:off x="5724144" y="3730752"/>
            <a:ext cx="36576" cy="640080"/>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S06 Text 48 - QUERYABLE"/>
          <p:cNvSpPr txBox="1"/>
          <p:nvPr/>
        </p:nvSpPr>
        <p:spPr>
          <a:xfrm>
            <a:off x="5870448"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21B6D7"/>
                </a:solidFill>
                <a:latin typeface="Inter"/>
              </a:rPr>
              <a:t>QUERYABLE</a:t>
            </a:r>
          </a:p>
        </p:txBody>
      </p:sp>
      <p:sp>
        <p:nvSpPr>
          <p:cNvPr id="50" name="S06 Text 49 - Business information"/>
          <p:cNvSpPr txBox="1"/>
          <p:nvPr/>
        </p:nvSpPr>
        <p:spPr>
          <a:xfrm>
            <a:off x="5870448"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Business information</a:t>
            </a:r>
          </a:p>
        </p:txBody>
      </p:sp>
      <p:sp>
        <p:nvSpPr>
          <p:cNvPr id="51" name="Rectangle 50"/>
          <p:cNvSpPr/>
          <p:nvPr/>
        </p:nvSpPr>
        <p:spPr>
          <a:xfrm>
            <a:off x="7543800" y="3730752"/>
            <a:ext cx="36576" cy="640080"/>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S06 Text 51 - PROCESS"/>
          <p:cNvSpPr txBox="1"/>
          <p:nvPr/>
        </p:nvSpPr>
        <p:spPr>
          <a:xfrm>
            <a:off x="7690104"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19C4A7"/>
                </a:solidFill>
                <a:latin typeface="Inter"/>
              </a:rPr>
              <a:t>PROCESS</a:t>
            </a:r>
          </a:p>
        </p:txBody>
      </p:sp>
      <p:sp>
        <p:nvSpPr>
          <p:cNvPr id="53" name="S06 Text 52 - Business actions"/>
          <p:cNvSpPr txBox="1"/>
          <p:nvPr/>
        </p:nvSpPr>
        <p:spPr>
          <a:xfrm>
            <a:off x="7690104"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Business actions</a:t>
            </a:r>
          </a:p>
        </p:txBody>
      </p:sp>
      <p:sp>
        <p:nvSpPr>
          <p:cNvPr id="54" name="Rectangle 53"/>
          <p:cNvSpPr/>
          <p:nvPr/>
        </p:nvSpPr>
        <p:spPr>
          <a:xfrm>
            <a:off x="9363456" y="3730752"/>
            <a:ext cx="36576" cy="640080"/>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S06 Text 54 - REGISTRY"/>
          <p:cNvSpPr txBox="1"/>
          <p:nvPr/>
        </p:nvSpPr>
        <p:spPr>
          <a:xfrm>
            <a:off x="9509760" y="3803904"/>
            <a:ext cx="1581912"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90" b="1">
                <a:solidFill>
                  <a:srgbClr val="8B5CF6"/>
                </a:solidFill>
                <a:latin typeface="Inter"/>
              </a:rPr>
              <a:t>REGISTRY</a:t>
            </a:r>
          </a:p>
        </p:txBody>
      </p:sp>
      <p:sp>
        <p:nvSpPr>
          <p:cNvPr id="56" name="S06 Text 55 - Capability catalog"/>
          <p:cNvSpPr txBox="1"/>
          <p:nvPr/>
        </p:nvSpPr>
        <p:spPr>
          <a:xfrm>
            <a:off x="9509760" y="4178808"/>
            <a:ext cx="1581912" cy="384048"/>
          </a:xfrm>
          <a:prstGeom prst="rect">
            <a:avLst/>
          </a:prstGeom>
          <a:noFill/>
          <a:effectLst/>
        </p:spPr>
        <p:txBody>
          <a:bodyPr wrap="square" lIns="0" rIns="0" tIns="0" bIns="0" anchor="t">
            <a:noAutofit/>
          </a:bodyPr>
          <a:lstStyle/>
          <a:p>
            <a:pPr algn="l">
              <a:lnSpc>
                <a:spcPct val="110000"/>
              </a:lnSpc>
              <a:spcBef>
                <a:spcPts val="0"/>
              </a:spcBef>
              <a:spcAft>
                <a:spcPts val="0"/>
              </a:spcAft>
            </a:pPr>
            <a:r>
              <a:rPr sz="1080" b="0">
                <a:solidFill>
                  <a:srgbClr val="111827"/>
                </a:solidFill>
                <a:latin typeface="Inter"/>
              </a:rPr>
              <a:t>Capability catalog</a:t>
            </a:r>
          </a:p>
        </p:txBody>
      </p:sp>
      <p:cxnSp>
        <p:nvCxnSpPr>
          <p:cNvPr id="57" name="Connector 56"/>
          <p:cNvCxnSpPr/>
          <p:nvPr/>
        </p:nvCxnSpPr>
        <p:spPr>
          <a:xfrm>
            <a:off x="6099048" y="4956048"/>
            <a:ext cx="0" cy="292608"/>
          </a:xfrm>
          <a:prstGeom prst="line">
            <a:avLst/>
          </a:prstGeom>
          <a:ln w="21590">
            <a:solidFill>
              <a:srgbClr val="19C4A7"/>
            </a:solidFill>
          </a:ln>
          <a:effectLst/>
        </p:spPr>
        <p:style>
          <a:lnRef idx="2">
            <a:schemeClr val="accent1"/>
          </a:lnRef>
          <a:fillRef idx="0">
            <a:schemeClr val="accent1"/>
          </a:fillRef>
          <a:effectRef idx="0">
            <a:schemeClr val="accent1"/>
          </a:effectRef>
          <a:fontRef idx="minor">
            <a:schemeClr val="tx1"/>
          </a:fontRef>
        </p:style>
      </p:cxnSp>
      <p:sp>
        <p:nvSpPr>
          <p:cNvPr id="58" name="Rounded Rectangle 57"/>
          <p:cNvSpPr/>
          <p:nvPr/>
        </p:nvSpPr>
        <p:spPr>
          <a:xfrm>
            <a:off x="1682496" y="5321808"/>
            <a:ext cx="8814816" cy="502920"/>
          </a:xfrm>
          <a:prstGeom prst="roundRect">
            <a:avLst>
              <a:gd name="adj" fmla="val 4000"/>
            </a:avLst>
          </a:prstGeom>
          <a:solidFill>
            <a:srgbClr val="17223D"/>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06 Text 58 - BUSINESS HANDLERS + DOMAIN SERVICES + PERSISTENCE"/>
          <p:cNvSpPr txBox="1"/>
          <p:nvPr/>
        </p:nvSpPr>
        <p:spPr>
          <a:xfrm>
            <a:off x="1847088" y="5458968"/>
            <a:ext cx="8494776" cy="210312"/>
          </a:xfrm>
          <a:prstGeom prst="rect">
            <a:avLst/>
          </a:prstGeom>
          <a:noFill/>
          <a:effectLst/>
        </p:spPr>
        <p:txBody>
          <a:bodyPr wrap="square" lIns="0" rIns="0" tIns="0" bIns="0" anchor="t">
            <a:noAutofit/>
          </a:bodyPr>
          <a:lstStyle/>
          <a:p>
            <a:pPr algn="ctr">
              <a:lnSpc>
                <a:spcPct val="110000"/>
              </a:lnSpc>
              <a:spcBef>
                <a:spcPts val="0"/>
              </a:spcBef>
              <a:spcAft>
                <a:spcPts val="0"/>
              </a:spcAft>
            </a:pPr>
            <a:r>
              <a:rPr sz="1230" b="1">
                <a:solidFill>
                  <a:srgbClr val="FFFFFF"/>
                </a:solidFill>
                <a:latin typeface="Inter"/>
              </a:rPr>
              <a:t>BUSINESS HANDLERS + DOMAIN SERVICES + PERSISTENCE</a:t>
            </a:r>
          </a:p>
        </p:txBody>
      </p:sp>
      <p:sp>
        <p:nvSpPr>
          <p:cNvPr id="60" name="S06 Text 59 - The AI model stays outside Kaleido. Business decisions "/>
          <p:cNvSpPr txBox="1"/>
          <p:nvPr/>
        </p:nvSpPr>
        <p:spPr>
          <a:xfrm>
            <a:off x="832104" y="5961888"/>
            <a:ext cx="10515600" cy="265176"/>
          </a:xfrm>
          <a:prstGeom prst="rect">
            <a:avLst/>
          </a:prstGeom>
          <a:noFill/>
          <a:effectLst/>
        </p:spPr>
        <p:txBody>
          <a:bodyPr wrap="square" lIns="0" rIns="0" tIns="0" bIns="0" anchor="t">
            <a:noAutofit/>
          </a:bodyPr>
          <a:lstStyle/>
          <a:p>
            <a:pPr algn="ctr">
              <a:lnSpc>
                <a:spcPct val="110000"/>
              </a:lnSpc>
              <a:spcBef>
                <a:spcPts val="0"/>
              </a:spcBef>
              <a:spcAft>
                <a:spcPts val="0"/>
              </a:spcAft>
            </a:pPr>
            <a:r>
              <a:rPr sz="1450" b="1">
                <a:solidFill>
                  <a:srgbClr val="B8C3DC"/>
                </a:solidFill>
                <a:latin typeface="Inter"/>
              </a:rPr>
              <a:t>The AI model stays outside Kaleido. Business decisions stay in the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7 Text 04 - IMPLEMENTED MCP SURFAC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HOW AI USES IT / IMPLEMENTED MCP SURFACE</a:t>
            </a:r>
          </a:p>
        </p:txBody>
      </p:sp>
      <p:sp>
        <p:nvSpPr>
          <p:cNvPr id="6" name="S07 Text 05 - AI can discover, act, ask, and continu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800" b="1">
                <a:solidFill>
                  <a:srgbClr val="111827"/>
                </a:solidFill>
                <a:latin typeface="Inter"/>
              </a:rPr>
              <a:t>AI gets tools from the same declared business model.</a:t>
            </a:r>
          </a:p>
        </p:txBody>
      </p:sp>
      <p:sp>
        <p:nvSpPr>
          <p:cNvPr id="7" name="S07 Text 06 - The agent reads a machine-readable business contract in"/>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390" b="0">
                <a:solidFill>
                  <a:srgbClr val="5F6B82"/>
                </a:solidFill>
                <a:latin typeface="Inter"/>
              </a:rPr>
              <a:t>MCP turns registry metadata into tool schemas; calls reach the same business handlers through the HTTP clients.</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7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Framework overview</a:t>
            </a:r>
          </a:p>
        </p:txBody>
      </p:sp>
      <p:sp>
        <p:nvSpPr>
          <p:cNvPr id="11" name="S07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7 Text 11 - 07"/>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09</a:t>
            </a:r>
          </a:p>
        </p:txBody>
      </p:sp>
      <p:sp>
        <p:nvSpPr>
          <p:cNvPr id="13" name="S07 Text 12 - Implemented source-level capabilities. Form behavior de"/>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Implemented source-level capabilities. Form behavior depends on the MCP client; release validation remains open.</a:t>
            </a:r>
          </a:p>
        </p:txBody>
      </p:sp>
      <p:cxnSp>
        <p:nvCxnSpPr>
          <p:cNvPr id="14" name="Connector 13"/>
          <p:cNvCxnSpPr/>
          <p:nvPr/>
        </p:nvCxnSpPr>
        <p:spPr>
          <a:xfrm>
            <a:off x="1618488"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3849624"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080760" y="2514600"/>
            <a:ext cx="2103119"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8311896" y="2514600"/>
            <a:ext cx="2103120" cy="0"/>
          </a:xfrm>
          <a:prstGeom prst="line">
            <a:avLst/>
          </a:prstGeom>
          <a:ln w="21590">
            <a:solidFill>
              <a:srgbClr val="DDE3EF"/>
            </a:solidFill>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1298448" y="2167128"/>
            <a:ext cx="713232" cy="71323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compass_FFFFFF.png"/>
          <p:cNvPicPr>
            <a:picLocks noChangeAspect="1"/>
          </p:cNvPicPr>
          <p:nvPr/>
        </p:nvPicPr>
        <p:blipFill>
          <a:blip r:embed="rId3"/>
          <a:stretch>
            <a:fillRect/>
          </a:stretch>
        </p:blipFill>
        <p:spPr>
          <a:xfrm>
            <a:off x="1469623" y="2338303"/>
            <a:ext cx="370880" cy="370880"/>
          </a:xfrm>
          <a:prstGeom prst="rect">
            <a:avLst/>
          </a:prstGeom>
          <a:effectLst/>
        </p:spPr>
      </p:pic>
      <p:sp>
        <p:nvSpPr>
          <p:cNvPr id="20" name="S07 Text 19 - 01  DISCOVER"/>
          <p:cNvSpPr txBox="1"/>
          <p:nvPr/>
        </p:nvSpPr>
        <p:spPr>
          <a:xfrm>
            <a:off x="630936"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8B5CF6"/>
                </a:solidFill>
                <a:latin typeface="Inter"/>
              </a:rPr>
              <a:t>01  DISCOVER</a:t>
            </a:r>
          </a:p>
        </p:txBody>
      </p:sp>
      <p:sp>
        <p:nvSpPr>
          <p:cNvPr id="21" name="S07 Text 20 - Read the tool catalog"/>
          <p:cNvSpPr txBox="1"/>
          <p:nvPr/>
        </p:nvSpPr>
        <p:spPr>
          <a:xfrm>
            <a:off x="649224"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Read the tool catalog</a:t>
            </a:r>
          </a:p>
        </p:txBody>
      </p:sp>
      <p:sp>
        <p:nvSpPr>
          <p:cNvPr id="22" name="S07 Text 21 - Names, descriptions, schemas, and constraints."/>
          <p:cNvSpPr txBox="1"/>
          <p:nvPr/>
        </p:nvSpPr>
        <p:spPr>
          <a:xfrm>
            <a:off x="612647"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Names, descriptions,</a:t>
            </a:r>
          </a:p>
          <a:p>
            <a:pPr algn="ctr">
              <a:lnSpc>
                <a:spcPct val="110000"/>
              </a:lnSpc>
              <a:spcBef>
                <a:spcPts val="0"/>
              </a:spcBef>
              <a:spcAft>
                <a:spcPts val="0"/>
              </a:spcAft>
            </a:pPr>
            <a:r>
              <a:rPr sz="1270" b="0">
                <a:solidFill>
                  <a:srgbClr val="5F6B82"/>
                </a:solidFill>
                <a:latin typeface="Inter"/>
              </a:rPr>
              <a:t>schemas, and constraints.</a:t>
            </a:r>
          </a:p>
        </p:txBody>
      </p:sp>
      <p:sp>
        <p:nvSpPr>
          <p:cNvPr id="23" name="Oval 22"/>
          <p:cNvSpPr/>
          <p:nvPr/>
        </p:nvSpPr>
        <p:spPr>
          <a:xfrm>
            <a:off x="3529584" y="2167128"/>
            <a:ext cx="713232" cy="713232"/>
          </a:xfrm>
          <a:prstGeom prst="ellipse">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_magnifying-glass_FFFFFF.png"/>
          <p:cNvPicPr>
            <a:picLocks noChangeAspect="1"/>
          </p:cNvPicPr>
          <p:nvPr/>
        </p:nvPicPr>
        <p:blipFill>
          <a:blip r:embed="rId4"/>
          <a:stretch>
            <a:fillRect/>
          </a:stretch>
        </p:blipFill>
        <p:spPr>
          <a:xfrm>
            <a:off x="3700759" y="2338303"/>
            <a:ext cx="370880" cy="370880"/>
          </a:xfrm>
          <a:prstGeom prst="rect">
            <a:avLst/>
          </a:prstGeom>
          <a:effectLst/>
        </p:spPr>
      </p:pic>
      <p:sp>
        <p:nvSpPr>
          <p:cNvPr id="25" name="S07 Text 24 - 02  LOOK UP"/>
          <p:cNvSpPr txBox="1"/>
          <p:nvPr/>
        </p:nvSpPr>
        <p:spPr>
          <a:xfrm>
            <a:off x="2862072"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3182F6"/>
                </a:solidFill>
                <a:latin typeface="Inter"/>
              </a:rPr>
              <a:t>02  LOOK UP</a:t>
            </a:r>
          </a:p>
        </p:txBody>
      </p:sp>
      <p:sp>
        <p:nvSpPr>
          <p:cNvPr id="26" name="S07 Text 25 - Find real business data"/>
          <p:cNvSpPr txBox="1"/>
          <p:nvPr/>
        </p:nvSpPr>
        <p:spPr>
          <a:xfrm>
            <a:off x="2880360"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Find real business data</a:t>
            </a:r>
          </a:p>
        </p:txBody>
      </p:sp>
      <p:sp>
        <p:nvSpPr>
          <p:cNvPr id="27" name="S07 Text 26 - Search first; guide the user to a matching record."/>
          <p:cNvSpPr txBox="1"/>
          <p:nvPr/>
        </p:nvSpPr>
        <p:spPr>
          <a:xfrm>
            <a:off x="2843784"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Search first; guide the</a:t>
            </a:r>
          </a:p>
          <a:p>
            <a:pPr algn="ctr">
              <a:lnSpc>
                <a:spcPct val="110000"/>
              </a:lnSpc>
              <a:spcBef>
                <a:spcPts val="0"/>
              </a:spcBef>
              <a:spcAft>
                <a:spcPts val="0"/>
              </a:spcAft>
            </a:pPr>
            <a:r>
              <a:rPr sz="1270" b="0">
                <a:solidFill>
                  <a:srgbClr val="5F6B82"/>
                </a:solidFill>
                <a:latin typeface="Inter"/>
              </a:rPr>
              <a:t>user to a matching record.</a:t>
            </a:r>
          </a:p>
        </p:txBody>
      </p:sp>
      <p:sp>
        <p:nvSpPr>
          <p:cNvPr id="28" name="Oval 27"/>
          <p:cNvSpPr/>
          <p:nvPr/>
        </p:nvSpPr>
        <p:spPr>
          <a:xfrm>
            <a:off x="5760720" y="2167128"/>
            <a:ext cx="713232" cy="713232"/>
          </a:xfrm>
          <a:prstGeom prst="ellipse">
            <a:avLst/>
          </a:prstGeom>
          <a:solidFill>
            <a:srgbClr val="B64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icon_bolt_FFFFFF.png"/>
          <p:cNvPicPr>
            <a:picLocks noChangeAspect="1"/>
          </p:cNvPicPr>
          <p:nvPr/>
        </p:nvPicPr>
        <p:blipFill>
          <a:blip r:embed="rId5"/>
          <a:stretch>
            <a:fillRect/>
          </a:stretch>
        </p:blipFill>
        <p:spPr>
          <a:xfrm>
            <a:off x="5931895" y="2338303"/>
            <a:ext cx="370880" cy="370880"/>
          </a:xfrm>
          <a:prstGeom prst="rect">
            <a:avLst/>
          </a:prstGeom>
          <a:effectLst/>
        </p:spPr>
      </p:pic>
      <p:sp>
        <p:nvSpPr>
          <p:cNvPr id="30" name="S07 Text 29 - 03  ACT"/>
          <p:cNvSpPr txBox="1"/>
          <p:nvPr/>
        </p:nvSpPr>
        <p:spPr>
          <a:xfrm>
            <a:off x="5093208"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B64FD9"/>
                </a:solidFill>
                <a:latin typeface="Inter"/>
              </a:rPr>
              <a:t>03  ACT</a:t>
            </a:r>
          </a:p>
        </p:txBody>
      </p:sp>
      <p:sp>
        <p:nvSpPr>
          <p:cNvPr id="31" name="S07 Text 30 - Invoke a declared step"/>
          <p:cNvSpPr txBox="1"/>
          <p:nvPr/>
        </p:nvSpPr>
        <p:spPr>
          <a:xfrm>
            <a:off x="5111496"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Invoke a declared step</a:t>
            </a:r>
          </a:p>
        </p:txBody>
      </p:sp>
      <p:sp>
        <p:nvSpPr>
          <p:cNvPr id="32" name="S07 Text 31 - Typed arguments enter the Process runtime."/>
          <p:cNvSpPr txBox="1"/>
          <p:nvPr/>
        </p:nvSpPr>
        <p:spPr>
          <a:xfrm>
            <a:off x="5074920"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Typed arguments enter</a:t>
            </a:r>
          </a:p>
          <a:p>
            <a:pPr algn="ctr">
              <a:lnSpc>
                <a:spcPct val="110000"/>
              </a:lnSpc>
              <a:spcBef>
                <a:spcPts val="0"/>
              </a:spcBef>
              <a:spcAft>
                <a:spcPts val="0"/>
              </a:spcAft>
            </a:pPr>
            <a:r>
              <a:rPr sz="1270" b="0">
                <a:solidFill>
                  <a:srgbClr val="5F6B82"/>
                </a:solidFill>
                <a:latin typeface="Inter"/>
              </a:rPr>
              <a:t>the Process runtime.</a:t>
            </a:r>
          </a:p>
        </p:txBody>
      </p:sp>
      <p:sp>
        <p:nvSpPr>
          <p:cNvPr id="33" name="Oval 32"/>
          <p:cNvSpPr/>
          <p:nvPr/>
        </p:nvSpPr>
        <p:spPr>
          <a:xfrm>
            <a:off x="7991856" y="2167128"/>
            <a:ext cx="713232" cy="71323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icon_list-check_FFFFFF.png"/>
          <p:cNvPicPr>
            <a:picLocks noChangeAspect="1"/>
          </p:cNvPicPr>
          <p:nvPr/>
        </p:nvPicPr>
        <p:blipFill>
          <a:blip r:embed="rId6"/>
          <a:stretch>
            <a:fillRect/>
          </a:stretch>
        </p:blipFill>
        <p:spPr>
          <a:xfrm>
            <a:off x="8163031" y="2338303"/>
            <a:ext cx="370880" cy="370880"/>
          </a:xfrm>
          <a:prstGeom prst="rect">
            <a:avLst/>
          </a:prstGeom>
          <a:effectLst/>
        </p:spPr>
      </p:pic>
      <p:sp>
        <p:nvSpPr>
          <p:cNvPr id="35" name="S07 Text 34 - 04  ASK"/>
          <p:cNvSpPr txBox="1"/>
          <p:nvPr/>
        </p:nvSpPr>
        <p:spPr>
          <a:xfrm>
            <a:off x="7324344"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21B6D7"/>
                </a:solidFill>
                <a:latin typeface="Inter"/>
              </a:rPr>
              <a:t>04  ASK</a:t>
            </a:r>
          </a:p>
        </p:txBody>
      </p:sp>
      <p:sp>
        <p:nvSpPr>
          <p:cNvPr id="36" name="S07 Text 35 - Collect missing answers"/>
          <p:cNvSpPr txBox="1"/>
          <p:nvPr/>
        </p:nvSpPr>
        <p:spPr>
          <a:xfrm>
            <a:off x="7342631"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Collect missing answers</a:t>
            </a:r>
          </a:p>
        </p:txBody>
      </p:sp>
      <p:sp>
        <p:nvSpPr>
          <p:cNvPr id="37" name="S07 Text 36 - Information requests; forms when supported."/>
          <p:cNvSpPr txBox="1"/>
          <p:nvPr/>
        </p:nvSpPr>
        <p:spPr>
          <a:xfrm>
            <a:off x="7306056"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Information requests;</a:t>
            </a:r>
          </a:p>
          <a:p>
            <a:pPr algn="ctr">
              <a:lnSpc>
                <a:spcPct val="110000"/>
              </a:lnSpc>
              <a:spcBef>
                <a:spcPts val="0"/>
              </a:spcBef>
              <a:spcAft>
                <a:spcPts val="0"/>
              </a:spcAft>
            </a:pPr>
            <a:r>
              <a:rPr sz="1270" b="0">
                <a:solidFill>
                  <a:srgbClr val="5F6B82"/>
                </a:solidFill>
                <a:latin typeface="Inter"/>
              </a:rPr>
              <a:t>forms when supported.</a:t>
            </a:r>
          </a:p>
        </p:txBody>
      </p:sp>
      <p:sp>
        <p:nvSpPr>
          <p:cNvPr id="38" name="Oval 37"/>
          <p:cNvSpPr/>
          <p:nvPr/>
        </p:nvSpPr>
        <p:spPr>
          <a:xfrm>
            <a:off x="10222992" y="2167128"/>
            <a:ext cx="713232" cy="71323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icon_route_FFFFFF.png"/>
          <p:cNvPicPr>
            <a:picLocks noChangeAspect="1"/>
          </p:cNvPicPr>
          <p:nvPr/>
        </p:nvPicPr>
        <p:blipFill>
          <a:blip r:embed="rId7"/>
          <a:stretch>
            <a:fillRect/>
          </a:stretch>
        </p:blipFill>
        <p:spPr>
          <a:xfrm>
            <a:off x="10394167" y="2338303"/>
            <a:ext cx="370880" cy="370880"/>
          </a:xfrm>
          <a:prstGeom prst="rect">
            <a:avLst/>
          </a:prstGeom>
          <a:effectLst/>
        </p:spPr>
      </p:pic>
      <p:sp>
        <p:nvSpPr>
          <p:cNvPr id="40" name="S07 Text 39 - 05  CONTINUE"/>
          <p:cNvSpPr txBox="1"/>
          <p:nvPr/>
        </p:nvSpPr>
        <p:spPr>
          <a:xfrm>
            <a:off x="9555480" y="3099816"/>
            <a:ext cx="2029968" cy="2560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130" b="1">
                <a:solidFill>
                  <a:srgbClr val="19C4A7"/>
                </a:solidFill>
                <a:latin typeface="Inter"/>
              </a:rPr>
              <a:t>05  CONTINUE</a:t>
            </a:r>
          </a:p>
        </p:txBody>
      </p:sp>
      <p:sp>
        <p:nvSpPr>
          <p:cNvPr id="41" name="S07 Text 40 - Read state and next"/>
          <p:cNvSpPr txBox="1"/>
          <p:nvPr/>
        </p:nvSpPr>
        <p:spPr>
          <a:xfrm>
            <a:off x="9573767" y="3630168"/>
            <a:ext cx="1993392" cy="658368"/>
          </a:xfrm>
          <a:prstGeom prst="rect">
            <a:avLst/>
          </a:prstGeom>
          <a:noFill/>
          <a:effectLst/>
        </p:spPr>
        <p:txBody>
          <a:bodyPr wrap="square" lIns="0" rIns="0" tIns="0" bIns="0" anchor="t">
            <a:noAutofit/>
          </a:bodyPr>
          <a:lstStyle/>
          <a:p>
            <a:pPr algn="ctr">
              <a:lnSpc>
                <a:spcPct val="110000"/>
              </a:lnSpc>
              <a:spcBef>
                <a:spcPts val="0"/>
              </a:spcBef>
              <a:spcAft>
                <a:spcPts val="0"/>
              </a:spcAft>
            </a:pPr>
            <a:r>
              <a:rPr sz="1800" b="1">
                <a:solidFill>
                  <a:srgbClr val="111827"/>
                </a:solidFill>
                <a:latin typeface="Inter"/>
              </a:rPr>
              <a:t>Read state and next</a:t>
            </a:r>
          </a:p>
        </p:txBody>
      </p:sp>
      <p:sp>
        <p:nvSpPr>
          <p:cNvPr id="42" name="S07 Text 41 - Required steps, available choices, and handoffs."/>
          <p:cNvSpPr txBox="1"/>
          <p:nvPr/>
        </p:nvSpPr>
        <p:spPr>
          <a:xfrm>
            <a:off x="9537192" y="4489704"/>
            <a:ext cx="2066543" cy="6400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0">
                <a:solidFill>
                  <a:srgbClr val="5F6B82"/>
                </a:solidFill>
                <a:latin typeface="Inter"/>
              </a:rPr>
              <a:t>Required steps, available</a:t>
            </a:r>
          </a:p>
          <a:p>
            <a:pPr algn="ctr">
              <a:lnSpc>
                <a:spcPct val="110000"/>
              </a:lnSpc>
              <a:spcBef>
                <a:spcPts val="0"/>
              </a:spcBef>
              <a:spcAft>
                <a:spcPts val="0"/>
              </a:spcAft>
            </a:pPr>
            <a:r>
              <a:rPr sz="1270" b="0">
                <a:solidFill>
                  <a:srgbClr val="5F6B82"/>
                </a:solidFill>
                <a:latin typeface="Inter"/>
              </a:rPr>
              <a:t>choices, and handoffs.</a:t>
            </a:r>
          </a:p>
        </p:txBody>
      </p:sp>
      <p:sp>
        <p:nvSpPr>
          <p:cNvPr id="43" name="Rounded Rectangle 42"/>
          <p:cNvSpPr/>
          <p:nvPr/>
        </p:nvSpPr>
        <p:spPr>
          <a:xfrm>
            <a:off x="621792" y="5504688"/>
            <a:ext cx="10945368" cy="548640"/>
          </a:xfrm>
          <a:prstGeom prst="roundRect">
            <a:avLst>
              <a:gd name="adj" fmla="val 4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S07 Text 43 - Human choices and business rules remain authoritative. "/>
          <p:cNvSpPr txBox="1"/>
          <p:nvPr/>
        </p:nvSpPr>
        <p:spPr>
          <a:xfrm>
            <a:off x="841248" y="5669280"/>
            <a:ext cx="10506456" cy="237744"/>
          </a:xfrm>
          <a:prstGeom prst="rect">
            <a:avLst/>
          </a:prstGeom>
          <a:noFill/>
          <a:effectLst/>
        </p:spPr>
        <p:txBody>
          <a:bodyPr wrap="square" lIns="0" rIns="0" tIns="0" bIns="0" anchor="t">
            <a:noAutofit/>
          </a:bodyPr>
          <a:lstStyle/>
          <a:p>
            <a:pPr algn="ctr">
              <a:lnSpc>
                <a:spcPct val="110000"/>
              </a:lnSpc>
              <a:spcBef>
                <a:spcPts val="0"/>
              </a:spcBef>
              <a:spcAft>
                <a:spcPts val="0"/>
              </a:spcAft>
            </a:pPr>
            <a:r>
              <a:rPr sz="1310" b="1">
                <a:solidFill>
                  <a:srgbClr val="FFFFFF"/>
                </a:solidFill>
                <a:latin typeface="Inter"/>
              </a:rPr>
              <a:t>Human choices and business rules remain authoritative. Tool guidance is not authorization.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8 Text 04 - AI-ASSISTED PRIORAUTH EXAMPL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WORKED EXAMPLE / PRIORAUTH PROVIDER SELECTION</a:t>
            </a:r>
          </a:p>
        </p:txBody>
      </p:sp>
      <p:sp>
        <p:nvSpPr>
          <p:cNvPr id="6" name="S08 Text 05 - From a conversation to a real business actio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FFFFFF"/>
                </a:solidFill>
                <a:latin typeface="Inter"/>
              </a:rPr>
              <a:t>Watch one action: selecting a provider.</a:t>
            </a:r>
          </a:p>
        </p:txBody>
      </p:sp>
      <p:sp>
        <p:nvSpPr>
          <p:cNvPr id="7" name="S08 Text 06 - The user chooses and supplies facts. The agent navigate"/>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00" b="0">
                <a:solidFill>
                  <a:srgbClr val="B8C3DC"/>
                </a:solidFill>
                <a:latin typeface="Inter"/>
              </a:rPr>
              <a:t>A query finds candidates. A step changes the request. The response tells the consumer how to continue.</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08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1" name="S08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08 Text 11 - 08"/>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10</a:t>
            </a:r>
          </a:p>
        </p:txBody>
      </p:sp>
      <p:sp>
        <p:nvSpPr>
          <p:cNvPr id="13" name="S08 Text 12 - Illustrative interaction based on the PriorAuth sample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Illustrative provider-selection interaction based on the sample; not a live run or a fixed workflow sequence.</a:t>
            </a:r>
          </a:p>
        </p:txBody>
      </p:sp>
      <p:sp>
        <p:nvSpPr>
          <p:cNvPr id="14" name="Rounded Rectangle 13"/>
          <p:cNvSpPr/>
          <p:nvPr/>
        </p:nvSpPr>
        <p:spPr>
          <a:xfrm>
            <a:off x="640080" y="1984248"/>
            <a:ext cx="2825496"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08 Text 14 - PERSON + AI INTERACTION"/>
          <p:cNvSpPr txBox="1"/>
          <p:nvPr/>
        </p:nvSpPr>
        <p:spPr>
          <a:xfrm>
            <a:off x="713231" y="1997964"/>
            <a:ext cx="2679191"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PERSON + AI INTERACTION</a:t>
            </a:r>
          </a:p>
        </p:txBody>
      </p:sp>
      <p:sp>
        <p:nvSpPr>
          <p:cNvPr id="16" name="Rounded Rectangle 15"/>
          <p:cNvSpPr/>
          <p:nvPr/>
        </p:nvSpPr>
        <p:spPr>
          <a:xfrm>
            <a:off x="6483096" y="1984248"/>
            <a:ext cx="2468880" cy="265176"/>
          </a:xfrm>
          <a:prstGeom prst="roundRect">
            <a:avLst>
              <a:gd name="adj" fmla="val 14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S08 Text 16 - BUSINESS CONTRACT"/>
          <p:cNvSpPr txBox="1"/>
          <p:nvPr/>
        </p:nvSpPr>
        <p:spPr>
          <a:xfrm>
            <a:off x="6556248" y="1997964"/>
            <a:ext cx="2322576"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19C4A7"/>
                </a:solidFill>
                <a:latin typeface="Inter"/>
              </a:rPr>
              <a:t>BUSINESS CONTRACT</a:t>
            </a:r>
          </a:p>
        </p:txBody>
      </p:sp>
      <p:sp>
        <p:nvSpPr>
          <p:cNvPr id="18" name="Rounded Rectangle 17"/>
          <p:cNvSpPr/>
          <p:nvPr/>
        </p:nvSpPr>
        <p:spPr>
          <a:xfrm>
            <a:off x="640080" y="2514600"/>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magnifying-glass_21B6D7.png"/>
          <p:cNvPicPr>
            <a:picLocks noChangeAspect="1"/>
          </p:cNvPicPr>
          <p:nvPr/>
        </p:nvPicPr>
        <p:blipFill>
          <a:blip r:embed="rId3"/>
          <a:stretch>
            <a:fillRect/>
          </a:stretch>
        </p:blipFill>
        <p:spPr>
          <a:xfrm>
            <a:off x="877824" y="2734056"/>
            <a:ext cx="393192" cy="393192"/>
          </a:xfrm>
          <a:prstGeom prst="rect">
            <a:avLst/>
          </a:prstGeom>
          <a:effectLst/>
        </p:spPr>
      </p:pic>
      <p:sp>
        <p:nvSpPr>
          <p:cNvPr id="20" name="S08 Text 19 - Find the right record"/>
          <p:cNvSpPr txBox="1"/>
          <p:nvPr/>
        </p:nvSpPr>
        <p:spPr>
          <a:xfrm>
            <a:off x="1517904" y="2633472"/>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Find a provider</a:t>
            </a:r>
          </a:p>
        </p:txBody>
      </p:sp>
      <p:sp>
        <p:nvSpPr>
          <p:cNvPr id="21" name="S08 Text 20 - Search; show matching records. The user selects the int"/>
          <p:cNvSpPr txBox="1"/>
          <p:nvPr/>
        </p:nvSpPr>
        <p:spPr>
          <a:xfrm>
            <a:off x="1517904" y="2990088"/>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Search for provider locations.</a:t>
            </a:r>
          </a:p>
          <a:p>
            <a:pPr algn="l">
              <a:lnSpc>
                <a:spcPct val="110000"/>
              </a:lnSpc>
              <a:spcBef>
                <a:spcPts val="0"/>
              </a:spcBef>
              <a:spcAft>
                <a:spcPts val="0"/>
              </a:spcAft>
            </a:pPr>
            <a:r>
              <a:rPr sz="1210" b="0">
                <a:solidFill>
                  <a:srgbClr val="B8C3DC"/>
                </a:solidFill>
                <a:latin typeface="Inter"/>
              </a:rPr>
              <a:t>Show the matching records.</a:t>
            </a:r>
          </a:p>
        </p:txBody>
      </p:sp>
      <p:cxnSp>
        <p:nvCxnSpPr>
          <p:cNvPr id="22" name="Connector 21"/>
          <p:cNvCxnSpPr/>
          <p:nvPr/>
        </p:nvCxnSpPr>
        <p:spPr>
          <a:xfrm>
            <a:off x="5925312" y="2962656"/>
            <a:ext cx="393192" cy="0"/>
          </a:xfrm>
          <a:prstGeom prst="line">
            <a:avLst/>
          </a:prstGeom>
          <a:ln w="24130">
            <a:solidFill>
              <a:srgbClr val="21B6D7"/>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6501384" y="2514600"/>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S08 Text 23 - Queryable + lookup metadata"/>
          <p:cNvSpPr txBox="1"/>
          <p:nvPr/>
        </p:nvSpPr>
        <p:spPr>
          <a:xfrm>
            <a:off x="6739128" y="2633472"/>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21B6D7"/>
                </a:solidFill>
                <a:latin typeface="Inter"/>
              </a:rPr>
              <a:t>Queryable + lookup metadata</a:t>
            </a:r>
          </a:p>
        </p:txBody>
      </p:sp>
      <p:sp>
        <p:nvSpPr>
          <p:cNvPr id="25" name="S08 Text 24 - Related IDs come from one result. The step handler chec"/>
          <p:cNvSpPr txBox="1"/>
          <p:nvPr/>
        </p:nvSpPr>
        <p:spPr>
          <a:xfrm>
            <a:off x="6739128" y="2990088"/>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Return related provider and location IDs</a:t>
            </a:r>
          </a:p>
          <a:p>
            <a:pPr algn="l">
              <a:lnSpc>
                <a:spcPct val="110000"/>
              </a:lnSpc>
              <a:spcBef>
                <a:spcPts val="0"/>
              </a:spcBef>
              <a:spcAft>
                <a:spcPts val="0"/>
              </a:spcAft>
            </a:pPr>
            <a:r>
              <a:rPr sz="1210" b="0">
                <a:solidFill>
                  <a:srgbClr val="B8C3DC"/>
                </a:solidFill>
                <a:latin typeface="Inter"/>
              </a:rPr>
              <a:t>from the same query result.</a:t>
            </a:r>
          </a:p>
        </p:txBody>
      </p:sp>
      <p:sp>
        <p:nvSpPr>
          <p:cNvPr id="26" name="Rounded Rectangle 25"/>
          <p:cNvSpPr/>
          <p:nvPr/>
        </p:nvSpPr>
        <p:spPr>
          <a:xfrm>
            <a:off x="640080" y="3593591"/>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_list-check_8B5CF6.png"/>
          <p:cNvPicPr>
            <a:picLocks noChangeAspect="1"/>
          </p:cNvPicPr>
          <p:nvPr/>
        </p:nvPicPr>
        <p:blipFill>
          <a:blip r:embed="rId4"/>
          <a:stretch>
            <a:fillRect/>
          </a:stretch>
        </p:blipFill>
        <p:spPr>
          <a:xfrm>
            <a:off x="877824" y="3813048"/>
            <a:ext cx="393192" cy="393192"/>
          </a:xfrm>
          <a:prstGeom prst="rect">
            <a:avLst/>
          </a:prstGeom>
          <a:effectLst/>
        </p:spPr>
      </p:pic>
      <p:sp>
        <p:nvSpPr>
          <p:cNvPr id="28" name="S08 Text 27 - Collect the missing information"/>
          <p:cNvSpPr txBox="1"/>
          <p:nvPr/>
        </p:nvSpPr>
        <p:spPr>
          <a:xfrm>
            <a:off x="1517904" y="3712463"/>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Choose this location</a:t>
            </a:r>
          </a:p>
        </p:txBody>
      </p:sp>
      <p:sp>
        <p:nvSpPr>
          <p:cNvPr id="29" name="S08 Text 28 - Ask the service’s questions. The user confirms or corre"/>
          <p:cNvSpPr txBox="1"/>
          <p:nvPr/>
        </p:nvSpPr>
        <p:spPr>
          <a:xfrm>
            <a:off x="1517904" y="4069079"/>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The user selects the intended result.</a:t>
            </a:r>
          </a:p>
          <a:p>
            <a:pPr algn="l">
              <a:lnSpc>
                <a:spcPct val="110000"/>
              </a:lnSpc>
              <a:spcBef>
                <a:spcPts val="0"/>
              </a:spcBef>
              <a:spcAft>
                <a:spcPts val="0"/>
              </a:spcAft>
            </a:pPr>
            <a:r>
              <a:rPr sz="1210" b="0">
                <a:solidFill>
                  <a:srgbClr val="B8C3DC"/>
                </a:solidFill>
                <a:latin typeface="Inter"/>
              </a:rPr>
              <a:t>Send its IDs with the process ID.</a:t>
            </a:r>
          </a:p>
        </p:txBody>
      </p:sp>
      <p:cxnSp>
        <p:nvCxnSpPr>
          <p:cNvPr id="30" name="Connector 29"/>
          <p:cNvCxnSpPr/>
          <p:nvPr/>
        </p:nvCxnSpPr>
        <p:spPr>
          <a:xfrm>
            <a:off x="5925312" y="4041648"/>
            <a:ext cx="393192" cy="0"/>
          </a:xfrm>
          <a:prstGeom prst="line">
            <a:avLst/>
          </a:prstGeom>
          <a:ln w="2413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1" name="Rounded Rectangle 30"/>
          <p:cNvSpPr/>
          <p:nvPr/>
        </p:nvSpPr>
        <p:spPr>
          <a:xfrm>
            <a:off x="6501384" y="3593591"/>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08 Text 31 - Information request"/>
          <p:cNvSpPr txBox="1"/>
          <p:nvPr/>
        </p:nvSpPr>
        <p:spPr>
          <a:xfrm>
            <a:off x="6739128" y="3712463"/>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8B5CF6"/>
                </a:solidFill>
                <a:latin typeface="Inter"/>
              </a:rPr>
              <a:t>Process step + business handler</a:t>
            </a:r>
          </a:p>
        </p:txBody>
      </p:sp>
      <p:sp>
        <p:nvSpPr>
          <p:cNvPr id="33" name="S08 Text 32 - Kaleido checks the answer structure. The business handl"/>
          <p:cNvSpPr txBox="1"/>
          <p:nvPr/>
        </p:nvSpPr>
        <p:spPr>
          <a:xfrm>
            <a:off x="6739128" y="4069079"/>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Check process rules and input structure.</a:t>
            </a:r>
          </a:p>
          <a:p>
            <a:pPr algn="l">
              <a:lnSpc>
                <a:spcPct val="110000"/>
              </a:lnSpc>
              <a:spcBef>
                <a:spcPts val="0"/>
              </a:spcBef>
              <a:spcAft>
                <a:spcPts val="0"/>
              </a:spcAft>
            </a:pPr>
            <a:r>
              <a:rPr sz="1210" b="0">
                <a:solidFill>
                  <a:srgbClr val="B8C3DC"/>
                </a:solidFill>
                <a:latin typeface="Inter"/>
              </a:rPr>
              <a:t>The handler validates and saves the selection.</a:t>
            </a:r>
          </a:p>
        </p:txBody>
      </p:sp>
      <p:sp>
        <p:nvSpPr>
          <p:cNvPr id="34" name="Rounded Rectangle 33"/>
          <p:cNvSpPr/>
          <p:nvPr/>
        </p:nvSpPr>
        <p:spPr>
          <a:xfrm>
            <a:off x="640080" y="4672583"/>
            <a:ext cx="5148072"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_paper-plane_19C4A7.png"/>
          <p:cNvPicPr>
            <a:picLocks noChangeAspect="1"/>
          </p:cNvPicPr>
          <p:nvPr/>
        </p:nvPicPr>
        <p:blipFill>
          <a:blip r:embed="rId5"/>
          <a:stretch>
            <a:fillRect/>
          </a:stretch>
        </p:blipFill>
        <p:spPr>
          <a:xfrm>
            <a:off x="877824" y="4892040"/>
            <a:ext cx="393192" cy="393192"/>
          </a:xfrm>
          <a:prstGeom prst="rect">
            <a:avLst/>
          </a:prstGeom>
          <a:effectLst/>
        </p:spPr>
      </p:pic>
      <p:sp>
        <p:nvSpPr>
          <p:cNvPr id="36" name="S08 Text 35 - Review before submission"/>
          <p:cNvSpPr txBox="1"/>
          <p:nvPr/>
        </p:nvSpPr>
        <p:spPr>
          <a:xfrm>
            <a:off x="1517904" y="4791455"/>
            <a:ext cx="3986784"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FFFFFF"/>
                </a:solidFill>
                <a:latin typeface="Inter"/>
              </a:rPr>
              <a:t>Continue the request</a:t>
            </a:r>
          </a:p>
        </p:txBody>
      </p:sp>
      <p:sp>
        <p:nvSpPr>
          <p:cNvPr id="37" name="S08 Text 36 - Present the review and attestation. Continue only with "/>
          <p:cNvSpPr txBox="1"/>
          <p:nvPr/>
        </p:nvSpPr>
        <p:spPr>
          <a:xfrm>
            <a:off x="1517904" y="5148071"/>
            <a:ext cx="3968496"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Show required work or available choices.</a:t>
            </a:r>
          </a:p>
          <a:p>
            <a:pPr algn="l">
              <a:lnSpc>
                <a:spcPct val="110000"/>
              </a:lnSpc>
              <a:spcBef>
                <a:spcPts val="0"/>
              </a:spcBef>
              <a:spcAft>
                <a:spcPts val="0"/>
              </a:spcAft>
            </a:pPr>
            <a:r>
              <a:rPr sz="1210" b="0">
                <a:solidFill>
                  <a:srgbClr val="B8C3DC"/>
                </a:solidFill>
                <a:latin typeface="Inter"/>
              </a:rPr>
              <a:t>Ask for service-owned information.</a:t>
            </a:r>
          </a:p>
        </p:txBody>
      </p:sp>
      <p:cxnSp>
        <p:nvCxnSpPr>
          <p:cNvPr id="38" name="Connector 37"/>
          <p:cNvCxnSpPr/>
          <p:nvPr/>
        </p:nvCxnSpPr>
        <p:spPr>
          <a:xfrm>
            <a:off x="5925312" y="5120640"/>
            <a:ext cx="393192" cy="0"/>
          </a:xfrm>
          <a:prstGeom prst="line">
            <a:avLst/>
          </a:prstGeom>
          <a:ln w="24130">
            <a:solidFill>
              <a:srgbClr val="19C4A7"/>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Rounded Rectangle 38"/>
          <p:cNvSpPr/>
          <p:nvPr/>
        </p:nvSpPr>
        <p:spPr>
          <a:xfrm>
            <a:off x="6501384" y="4672583"/>
            <a:ext cx="5029200" cy="896112"/>
          </a:xfrm>
          <a:prstGeom prst="roundRect">
            <a:avLst>
              <a:gd name="adj" fmla="val 5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S08 Text 39 - Submission step"/>
          <p:cNvSpPr txBox="1"/>
          <p:nvPr/>
        </p:nvSpPr>
        <p:spPr>
          <a:xfrm>
            <a:off x="6739128" y="4791455"/>
            <a:ext cx="4553712"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10" b="1">
                <a:solidFill>
                  <a:srgbClr val="19C4A7"/>
                </a:solidFill>
                <a:latin typeface="Inter"/>
              </a:rPr>
              <a:t>Outcome + process guidance</a:t>
            </a:r>
          </a:p>
        </p:txBody>
      </p:sp>
      <p:sp>
        <p:nvSpPr>
          <p:cNvPr id="41" name="S08 Text 40 - The sample checks attestation. Submission is not an app"/>
          <p:cNvSpPr txBox="1"/>
          <p:nvPr/>
        </p:nvSpPr>
        <p:spPr>
          <a:xfrm>
            <a:off x="6739128" y="5148071"/>
            <a:ext cx="4553712" cy="365760"/>
          </a:xfrm>
          <a:prstGeom prst="rect">
            <a:avLst/>
          </a:prstGeom>
          <a:noFill/>
          <a:effectLst/>
        </p:spPr>
        <p:txBody>
          <a:bodyPr wrap="square" lIns="0" rIns="0" tIns="0" bIns="0" anchor="t">
            <a:noAutofit/>
          </a:bodyPr>
          <a:lstStyle/>
          <a:p>
            <a:pPr algn="l">
              <a:lnSpc>
                <a:spcPct val="110000"/>
              </a:lnSpc>
              <a:spcBef>
                <a:spcPts val="0"/>
              </a:spcBef>
              <a:spcAft>
                <a:spcPts val="0"/>
              </a:spcAft>
            </a:pPr>
            <a:r>
              <a:rPr sz="1210" b="0">
                <a:solidFill>
                  <a:srgbClr val="B8C3DC"/>
                </a:solidFill>
                <a:latin typeface="Inter"/>
              </a:rPr>
              <a:t>Return the result and next-step guidance.</a:t>
            </a:r>
          </a:p>
          <a:p>
            <a:pPr algn="l">
              <a:lnSpc>
                <a:spcPct val="110000"/>
              </a:lnSpc>
              <a:spcBef>
                <a:spcPts val="0"/>
              </a:spcBef>
              <a:spcAft>
                <a:spcPts val="0"/>
              </a:spcAft>
            </a:pPr>
            <a:r>
              <a:rPr sz="1210" b="0">
                <a:solidFill>
                  <a:srgbClr val="B8C3DC"/>
                </a:solidFill>
                <a:latin typeface="Inter"/>
              </a:rPr>
              <a:t>The consumer follows the service response.</a:t>
            </a:r>
          </a:p>
        </p:txBody>
      </p:sp>
      <p:sp>
        <p:nvSpPr>
          <p:cNvPr id="42" name="Rounded Rectangle 41"/>
          <p:cNvSpPr/>
          <p:nvPr/>
        </p:nvSpPr>
        <p:spPr>
          <a:xfrm>
            <a:off x="603504" y="5916168"/>
            <a:ext cx="10972800" cy="34747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08 Text 42 - The interaction changes. The business action and its va"/>
          <p:cNvSpPr txBox="1"/>
          <p:nvPr/>
        </p:nvSpPr>
        <p:spPr>
          <a:xfrm>
            <a:off x="786384" y="5984748"/>
            <a:ext cx="10607040" cy="22860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Search reads information. The step performs the action. The process carries the progress.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09 Text 04 - CONTINUITY ACROSS CONSUMERS"/>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CONTINUITY ACROSS CONSUMERS</a:t>
            </a:r>
          </a:p>
        </p:txBody>
      </p:sp>
      <p:sp>
        <p:nvSpPr>
          <p:cNvPr id="6" name="S09 Text 05 - The process should outlive the conversation."/>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The process should outlive the conversation.</a:t>
            </a:r>
          </a:p>
        </p:txBody>
      </p:sp>
      <p:sp>
        <p:nvSpPr>
          <p:cNvPr id="7" name="S09 Text 06 - A conversation is an interface. The process has its own"/>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A conversation is an interface. The process has its own identity, recorded state, and continuation contract.</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09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Framework overview</a:t>
            </a:r>
          </a:p>
        </p:txBody>
      </p:sp>
      <p:sp>
        <p:nvSpPr>
          <p:cNvPr id="11" name="S09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09 Text 11 - 09"/>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11</a:t>
            </a:r>
          </a:p>
        </p:txBody>
      </p:sp>
      <p:sp>
        <p:nvSpPr>
          <p:cNvPr id="13" name="S09 Text 12 - Supported architectural pattern, not proof of a live ha"/>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Supported architectural pattern, not proof of a live handoff. Durable storage, identity, and access control are deployment responsibilities.</a:t>
            </a:r>
          </a:p>
        </p:txBody>
      </p:sp>
      <p:sp>
        <p:nvSpPr>
          <p:cNvPr id="14" name="Oval 13"/>
          <p:cNvSpPr/>
          <p:nvPr/>
        </p:nvSpPr>
        <p:spPr>
          <a:xfrm>
            <a:off x="1645920" y="2194560"/>
            <a:ext cx="777240" cy="777240"/>
          </a:xfrm>
          <a:prstGeom prst="ellipse">
            <a:avLst/>
          </a:prstGeom>
          <a:solidFill>
            <a:srgbClr val="B64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_robot_FFFFFF.png"/>
          <p:cNvPicPr>
            <a:picLocks noChangeAspect="1"/>
          </p:cNvPicPr>
          <p:nvPr/>
        </p:nvPicPr>
        <p:blipFill>
          <a:blip r:embed="rId3"/>
          <a:stretch>
            <a:fillRect/>
          </a:stretch>
        </p:blipFill>
        <p:spPr>
          <a:xfrm>
            <a:off x="1832457" y="2381097"/>
            <a:ext cx="404164" cy="404164"/>
          </a:xfrm>
          <a:prstGeom prst="rect">
            <a:avLst/>
          </a:prstGeom>
          <a:effectLst/>
        </p:spPr>
      </p:pic>
      <p:sp>
        <p:nvSpPr>
          <p:cNvPr id="16" name="S09 Text 15 - AI-assisted start"/>
          <p:cNvSpPr txBox="1"/>
          <p:nvPr/>
        </p:nvSpPr>
        <p:spPr>
          <a:xfrm>
            <a:off x="1014984"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AI-assisted start</a:t>
            </a:r>
          </a:p>
        </p:txBody>
      </p:sp>
      <p:cxnSp>
        <p:nvCxnSpPr>
          <p:cNvPr id="17" name="Connector 16"/>
          <p:cNvCxnSpPr/>
          <p:nvPr/>
        </p:nvCxnSpPr>
        <p:spPr>
          <a:xfrm>
            <a:off x="2039112" y="3785615"/>
            <a:ext cx="0" cy="557785"/>
          </a:xfrm>
          <a:prstGeom prst="line">
            <a:avLst/>
          </a:prstGeom>
          <a:ln w="22860">
            <a:solidFill>
              <a:srgbClr val="B64FD9"/>
            </a:solidFill>
          </a:ln>
          <a:effectLst/>
        </p:spPr>
        <p:style>
          <a:lnRef idx="2">
            <a:schemeClr val="accent1"/>
          </a:lnRef>
          <a:fillRef idx="0">
            <a:schemeClr val="accent1"/>
          </a:fillRef>
          <a:effectRef idx="0">
            <a:schemeClr val="accent1"/>
          </a:effectRef>
          <a:fontRef idx="minor">
            <a:schemeClr val="tx1"/>
          </a:fontRef>
        </p:style>
      </p:cxnSp>
      <p:sp>
        <p:nvSpPr>
          <p:cNvPr id="18" name="Oval 17"/>
          <p:cNvSpPr/>
          <p:nvPr/>
        </p:nvSpPr>
        <p:spPr>
          <a:xfrm>
            <a:off x="5550408" y="2194560"/>
            <a:ext cx="777240" cy="777240"/>
          </a:xfrm>
          <a:prstGeom prst="ellipse">
            <a:avLst/>
          </a:prstGeom>
          <a:solidFill>
            <a:srgbClr val="3182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_laptop-code_FFFFFF.png"/>
          <p:cNvPicPr>
            <a:picLocks noChangeAspect="1"/>
          </p:cNvPicPr>
          <p:nvPr/>
        </p:nvPicPr>
        <p:blipFill>
          <a:blip r:embed="rId4"/>
          <a:stretch>
            <a:fillRect/>
          </a:stretch>
        </p:blipFill>
        <p:spPr>
          <a:xfrm>
            <a:off x="5736945" y="2381097"/>
            <a:ext cx="404164" cy="404164"/>
          </a:xfrm>
          <a:prstGeom prst="rect">
            <a:avLst/>
          </a:prstGeom>
          <a:effectLst/>
        </p:spPr>
      </p:pic>
      <p:sp>
        <p:nvSpPr>
          <p:cNvPr id="20" name="S09 Text 19 - Web continuation"/>
          <p:cNvSpPr txBox="1"/>
          <p:nvPr/>
        </p:nvSpPr>
        <p:spPr>
          <a:xfrm>
            <a:off x="4919472"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Web continuation</a:t>
            </a:r>
          </a:p>
        </p:txBody>
      </p:sp>
      <p:cxnSp>
        <p:nvCxnSpPr>
          <p:cNvPr id="21" name="Connector 20"/>
          <p:cNvCxnSpPr/>
          <p:nvPr/>
        </p:nvCxnSpPr>
        <p:spPr>
          <a:xfrm>
            <a:off x="5943600" y="3785615"/>
            <a:ext cx="0" cy="557785"/>
          </a:xfrm>
          <a:prstGeom prst="line">
            <a:avLst/>
          </a:prstGeom>
          <a:ln w="22860">
            <a:solidFill>
              <a:srgbClr val="3182F6"/>
            </a:solidFill>
          </a:ln>
          <a:effectLst/>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9454896" y="2194560"/>
            <a:ext cx="777240" cy="777240"/>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_headset_FFFFFF.png"/>
          <p:cNvPicPr>
            <a:picLocks noChangeAspect="1"/>
          </p:cNvPicPr>
          <p:nvPr/>
        </p:nvPicPr>
        <p:blipFill>
          <a:blip r:embed="rId5"/>
          <a:stretch>
            <a:fillRect/>
          </a:stretch>
        </p:blipFill>
        <p:spPr>
          <a:xfrm>
            <a:off x="9641433" y="2381097"/>
            <a:ext cx="404164" cy="404164"/>
          </a:xfrm>
          <a:prstGeom prst="rect">
            <a:avLst/>
          </a:prstGeom>
          <a:effectLst/>
        </p:spPr>
      </p:pic>
      <p:sp>
        <p:nvSpPr>
          <p:cNvPr id="24" name="S09 Text 23 - Human assistance"/>
          <p:cNvSpPr txBox="1"/>
          <p:nvPr/>
        </p:nvSpPr>
        <p:spPr>
          <a:xfrm>
            <a:off x="8823960" y="3218688"/>
            <a:ext cx="2048256" cy="484632"/>
          </a:xfrm>
          <a:prstGeom prst="rect">
            <a:avLst/>
          </a:prstGeom>
          <a:noFill/>
          <a:effectLst/>
        </p:spPr>
        <p:txBody>
          <a:bodyPr wrap="square" lIns="0" rIns="0" tIns="0" bIns="0" anchor="t">
            <a:noAutofit/>
          </a:bodyPr>
          <a:lstStyle/>
          <a:p>
            <a:pPr algn="ctr">
              <a:lnSpc>
                <a:spcPct val="110000"/>
              </a:lnSpc>
              <a:spcBef>
                <a:spcPts val="0"/>
              </a:spcBef>
              <a:spcAft>
                <a:spcPts val="0"/>
              </a:spcAft>
            </a:pPr>
            <a:r>
              <a:rPr sz="1720" b="1">
                <a:solidFill>
                  <a:srgbClr val="111827"/>
                </a:solidFill>
                <a:latin typeface="Inter"/>
              </a:rPr>
              <a:t>Human assistance</a:t>
            </a:r>
          </a:p>
        </p:txBody>
      </p:sp>
      <p:cxnSp>
        <p:nvCxnSpPr>
          <p:cNvPr id="25" name="Connector 24"/>
          <p:cNvCxnSpPr/>
          <p:nvPr/>
        </p:nvCxnSpPr>
        <p:spPr>
          <a:xfrm>
            <a:off x="9848088" y="3785615"/>
            <a:ext cx="0" cy="557785"/>
          </a:xfrm>
          <a:prstGeom prst="line">
            <a:avLst/>
          </a:prstGeom>
          <a:ln w="22860">
            <a:solidFill>
              <a:srgbClr val="21B6D7"/>
            </a:solidFill>
          </a:ln>
          <a:effectLst/>
        </p:spPr>
        <p:style>
          <a:lnRef idx="2">
            <a:schemeClr val="accent1"/>
          </a:lnRef>
          <a:fillRef idx="0">
            <a:schemeClr val="accent1"/>
          </a:fillRef>
          <a:effectRef idx="0">
            <a:schemeClr val="accent1"/>
          </a:effectRef>
          <a:fontRef idx="minor">
            <a:schemeClr val="tx1"/>
          </a:fontRef>
        </p:style>
      </p:cxnSp>
      <p:sp>
        <p:nvSpPr>
          <p:cNvPr id="26" name="Rounded Rectangle 25"/>
          <p:cNvSpPr/>
          <p:nvPr/>
        </p:nvSpPr>
        <p:spPr>
          <a:xfrm>
            <a:off x="832104" y="4343400"/>
            <a:ext cx="10515600" cy="923544"/>
          </a:xfrm>
          <a:prstGeom prst="roundRect">
            <a:avLst>
              <a:gd name="adj" fmla="val 40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4-11.png"/>
          <p:cNvPicPr>
            <a:picLocks noChangeAspect="1"/>
          </p:cNvPicPr>
          <p:nvPr/>
        </p:nvPicPr>
        <p:blipFill>
          <a:blip r:embed="rId2"/>
          <a:stretch>
            <a:fillRect/>
          </a:stretch>
        </p:blipFill>
        <p:spPr>
          <a:xfrm>
            <a:off x="1060704" y="4480560"/>
            <a:ext cx="521207" cy="521207"/>
          </a:xfrm>
          <a:prstGeom prst="rect">
            <a:avLst/>
          </a:prstGeom>
          <a:effectLst/>
        </p:spPr>
      </p:pic>
      <p:sp>
        <p:nvSpPr>
          <p:cNvPr id="28" name="S09 Text 27 - ONE PROCESS ID"/>
          <p:cNvSpPr txBox="1"/>
          <p:nvPr/>
        </p:nvSpPr>
        <p:spPr>
          <a:xfrm>
            <a:off x="1856231" y="4507992"/>
            <a:ext cx="2926080" cy="265176"/>
          </a:xfrm>
          <a:prstGeom prst="rect">
            <a:avLst/>
          </a:prstGeom>
          <a:noFill/>
          <a:effectLst/>
        </p:spPr>
        <p:txBody>
          <a:bodyPr wrap="square" lIns="0" rIns="0" tIns="0" bIns="0" anchor="t">
            <a:noAutofit/>
          </a:bodyPr>
          <a:lstStyle/>
          <a:p>
            <a:pPr algn="l">
              <a:lnSpc>
                <a:spcPct val="110000"/>
              </a:lnSpc>
              <a:spcBef>
                <a:spcPts val="0"/>
              </a:spcBef>
              <a:spcAft>
                <a:spcPts val="0"/>
              </a:spcAft>
            </a:pPr>
            <a:r>
              <a:rPr sz="1600" b="1">
                <a:solidFill>
                  <a:srgbClr val="FFFFFF"/>
                </a:solidFill>
                <a:latin typeface="Inter"/>
              </a:rPr>
              <a:t>ONE PROCESS ID</a:t>
            </a:r>
          </a:p>
        </p:txBody>
      </p:sp>
      <p:sp>
        <p:nvSpPr>
          <p:cNvPr id="29" name="S09 Text 28 - Recorded state   +   pending questions   +   next allow"/>
          <p:cNvSpPr txBox="1"/>
          <p:nvPr/>
        </p:nvSpPr>
        <p:spPr>
          <a:xfrm>
            <a:off x="1856231" y="4901184"/>
            <a:ext cx="906170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370" b="0">
                <a:solidFill>
                  <a:srgbClr val="B8C3DC"/>
                </a:solidFill>
                <a:latin typeface="Inter"/>
              </a:rPr>
              <a:t>Recorded state   +   pending questions   +   next allowed steps</a:t>
            </a:r>
          </a:p>
        </p:txBody>
      </p:sp>
      <p:cxnSp>
        <p:nvCxnSpPr>
          <p:cNvPr id="30" name="Connector 29"/>
          <p:cNvCxnSpPr/>
          <p:nvPr/>
        </p:nvCxnSpPr>
        <p:spPr>
          <a:xfrm>
            <a:off x="2039112" y="4197096"/>
            <a:ext cx="7808976" cy="0"/>
          </a:xfrm>
          <a:prstGeom prst="line">
            <a:avLst/>
          </a:prstGeom>
          <a:ln w="13970">
            <a:solidFill>
              <a:srgbClr val="DDE3EF"/>
            </a:solidFill>
          </a:ln>
          <a:effectLst/>
        </p:spPr>
        <p:style>
          <a:lnRef idx="2">
            <a:schemeClr val="accent1"/>
          </a:lnRef>
          <a:fillRef idx="0">
            <a:schemeClr val="accent1"/>
          </a:fillRef>
          <a:effectRef idx="0">
            <a:schemeClr val="accent1"/>
          </a:effectRef>
          <a:fontRef idx="minor">
            <a:schemeClr val="tx1"/>
          </a:fontRef>
        </p:style>
      </p:cxnSp>
      <p:sp>
        <p:nvSpPr>
          <p:cNvPr id="31" name="S09 Text 30 - The next consumer reloads the process state—not just th"/>
          <p:cNvSpPr txBox="1"/>
          <p:nvPr/>
        </p:nvSpPr>
        <p:spPr>
          <a:xfrm>
            <a:off x="923544" y="5632704"/>
            <a:ext cx="10332720" cy="411480"/>
          </a:xfrm>
          <a:prstGeom prst="rect">
            <a:avLst/>
          </a:prstGeom>
          <a:noFill/>
          <a:effectLst/>
        </p:spPr>
        <p:txBody>
          <a:bodyPr wrap="square" lIns="0" rIns="0" tIns="0" bIns="0" anchor="t">
            <a:noAutofit/>
          </a:bodyPr>
          <a:lstStyle/>
          <a:p>
            <a:pPr algn="ctr">
              <a:lnSpc>
                <a:spcPct val="110000"/>
              </a:lnSpc>
              <a:spcBef>
                <a:spcPts val="0"/>
              </a:spcBef>
              <a:spcAft>
                <a:spcPts val="0"/>
              </a:spcAft>
            </a:pPr>
            <a:r>
              <a:rPr sz="1810" b="1">
                <a:solidFill>
                  <a:srgbClr val="111827"/>
                </a:solidFill>
                <a:latin typeface="Inter"/>
              </a:rPr>
              <a:t>The next consumer reloads the process state—not just the previous chat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0 Text 04 - ADOPTION PATHS"/>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HOW IT FITS WITH EXISTING PLATFORMS</a:t>
            </a:r>
          </a:p>
        </p:txBody>
      </p:sp>
      <p:sp>
        <p:nvSpPr>
          <p:cNvPr id="6" name="S10 Text 05 - AI strengthens the platforms already in place."/>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660" b="1">
                <a:solidFill>
                  <a:srgbClr val="FFFFFF"/>
                </a:solidFill>
                <a:latin typeface="Inter"/>
              </a:rPr>
              <a:t>A process runtime—not a whole case-management platform.</a:t>
            </a:r>
          </a:p>
        </p:txBody>
      </p:sp>
      <p:sp>
        <p:nvSpPr>
          <p:cNvPr id="7" name="S10 Text 06 - Keep orchestration, channels, and standards at their bo"/>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350" b="0">
                <a:solidFill>
                  <a:srgbClr val="B8C3DC"/>
                </a:solidFill>
                <a:latin typeface="Inter"/>
              </a:rPr>
              <a:t>Use Kaleido for reusable business queries and steps. Keep work management, channels, and external standards at their boundaries.</a:t>
            </a:r>
          </a:p>
        </p:txBody>
      </p:sp>
      <p:cxnSp>
        <p:nvCxnSpPr>
          <p:cNvPr id="8" name="Connector 7"/>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10" name="S10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1" name="S10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2" name="S10 Text 11 - 10"/>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12</a:t>
            </a:r>
          </a:p>
        </p:txBody>
      </p:sp>
      <p:sp>
        <p:nvSpPr>
          <p:cNvPr id="13" name="S10 Text 12 - Examples of intended integration fit from the original "/>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B8C3DC"/>
                </a:solidFill>
                <a:latin typeface="Inter"/>
              </a:rPr>
              <a:t>Examples of intended integration fit from the original deck; no native Pega connector or Da Vinci conformance claim.</a:t>
            </a:r>
          </a:p>
        </p:txBody>
      </p:sp>
      <p:sp>
        <p:nvSpPr>
          <p:cNvPr id="14" name="Rounded Rectangle 13"/>
          <p:cNvSpPr/>
          <p:nvPr/>
        </p:nvSpPr>
        <p:spPr>
          <a:xfrm>
            <a:off x="630936"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30936" y="2039112"/>
            <a:ext cx="3456432" cy="54864"/>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59536" y="2313432"/>
            <a:ext cx="621792" cy="621792"/>
          </a:xfrm>
          <a:prstGeom prst="ellipse">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_sitemap_FFFFFF.png"/>
          <p:cNvPicPr>
            <a:picLocks noChangeAspect="1"/>
          </p:cNvPicPr>
          <p:nvPr/>
        </p:nvPicPr>
        <p:blipFill>
          <a:blip r:embed="rId3"/>
          <a:stretch>
            <a:fillRect/>
          </a:stretch>
        </p:blipFill>
        <p:spPr>
          <a:xfrm>
            <a:off x="1008766" y="2462662"/>
            <a:ext cx="323331" cy="323331"/>
          </a:xfrm>
          <a:prstGeom prst="rect">
            <a:avLst/>
          </a:prstGeom>
          <a:effectLst/>
        </p:spPr>
      </p:pic>
      <p:sp>
        <p:nvSpPr>
          <p:cNvPr id="18" name="S10 Text 17 - Workflow &amp; case"/>
          <p:cNvSpPr txBox="1"/>
          <p:nvPr/>
        </p:nvSpPr>
        <p:spPr>
          <a:xfrm>
            <a:off x="868680"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Workflow &amp; case</a:t>
            </a:r>
          </a:p>
        </p:txBody>
      </p:sp>
      <p:sp>
        <p:nvSpPr>
          <p:cNvPr id="19" name="S10 Text 18 - Pega and similar platforms"/>
          <p:cNvSpPr txBox="1"/>
          <p:nvPr/>
        </p:nvSpPr>
        <p:spPr>
          <a:xfrm>
            <a:off x="868680"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8B5CF6"/>
                </a:solidFill>
                <a:latin typeface="Inter"/>
              </a:rPr>
              <a:t>Pega and similar platforms</a:t>
            </a:r>
          </a:p>
        </p:txBody>
      </p:sp>
      <p:sp>
        <p:nvSpPr>
          <p:cNvPr id="20" name="S10 Text 19 - Keep assignments, SLAs, and human work in the workflow "/>
          <p:cNvSpPr txBox="1"/>
          <p:nvPr/>
        </p:nvSpPr>
        <p:spPr>
          <a:xfrm>
            <a:off x="868680"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Keep assignments, SLAs, and human work in the workflow platform. Call shared information and actions.</a:t>
            </a:r>
          </a:p>
        </p:txBody>
      </p:sp>
      <p:sp>
        <p:nvSpPr>
          <p:cNvPr id="21" name="S10 Text 20 - Coordinate work; reuse capabilities."/>
          <p:cNvSpPr txBox="1"/>
          <p:nvPr/>
        </p:nvSpPr>
        <p:spPr>
          <a:xfrm>
            <a:off x="868680"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8B5CF6"/>
                </a:solidFill>
                <a:latin typeface="Inter"/>
              </a:rPr>
              <a:t>Coordinate work; reuse capabilities.</a:t>
            </a:r>
          </a:p>
        </p:txBody>
      </p:sp>
      <p:sp>
        <p:nvSpPr>
          <p:cNvPr id="22" name="Rounded Rectangle 21"/>
          <p:cNvSpPr/>
          <p:nvPr/>
        </p:nvSpPr>
        <p:spPr>
          <a:xfrm>
            <a:off x="4370832"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370832" y="2039112"/>
            <a:ext cx="3456432" cy="54864"/>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4599432" y="2313432"/>
            <a:ext cx="621792" cy="621792"/>
          </a:xfrm>
          <a:prstGeom prst="ellipse">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_headset_FFFFFF.png"/>
          <p:cNvPicPr>
            <a:picLocks noChangeAspect="1"/>
          </p:cNvPicPr>
          <p:nvPr/>
        </p:nvPicPr>
        <p:blipFill>
          <a:blip r:embed="rId4"/>
          <a:stretch>
            <a:fillRect/>
          </a:stretch>
        </p:blipFill>
        <p:spPr>
          <a:xfrm>
            <a:off x="4748662" y="2462662"/>
            <a:ext cx="323331" cy="323331"/>
          </a:xfrm>
          <a:prstGeom prst="rect">
            <a:avLst/>
          </a:prstGeom>
          <a:effectLst/>
        </p:spPr>
      </p:pic>
      <p:sp>
        <p:nvSpPr>
          <p:cNvPr id="26" name="S10 Text 25 - Voice &amp; assisted"/>
          <p:cNvSpPr txBox="1"/>
          <p:nvPr/>
        </p:nvSpPr>
        <p:spPr>
          <a:xfrm>
            <a:off x="4608576"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Voice &amp; assisted</a:t>
            </a:r>
          </a:p>
        </p:txBody>
      </p:sp>
      <p:sp>
        <p:nvSpPr>
          <p:cNvPr id="27" name="S10 Text 26 - IVR and contact center"/>
          <p:cNvSpPr txBox="1"/>
          <p:nvPr/>
        </p:nvSpPr>
        <p:spPr>
          <a:xfrm>
            <a:off x="4608576"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21B6D7"/>
                </a:solidFill>
                <a:latin typeface="Inter"/>
              </a:rPr>
              <a:t>IVR and contact center</a:t>
            </a:r>
          </a:p>
        </p:txBody>
      </p:sp>
      <p:sp>
        <p:nvSpPr>
          <p:cNvPr id="28" name="S10 Text 27 - Use the same inputs, validation, and process identity a"/>
          <p:cNvSpPr txBox="1"/>
          <p:nvPr/>
        </p:nvSpPr>
        <p:spPr>
          <a:xfrm>
            <a:off x="4608576"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Use the same inputs, validation, and process identity across self-service and assisted interactions.</a:t>
            </a:r>
          </a:p>
        </p:txBody>
      </p:sp>
      <p:sp>
        <p:nvSpPr>
          <p:cNvPr id="29" name="S10 Text 28 - Change channels; retain the model."/>
          <p:cNvSpPr txBox="1"/>
          <p:nvPr/>
        </p:nvSpPr>
        <p:spPr>
          <a:xfrm>
            <a:off x="4608576"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21B6D7"/>
                </a:solidFill>
                <a:latin typeface="Inter"/>
              </a:rPr>
              <a:t>Change channels; retain the model.</a:t>
            </a:r>
          </a:p>
        </p:txBody>
      </p:sp>
      <p:sp>
        <p:nvSpPr>
          <p:cNvPr id="30" name="Rounded Rectangle 29"/>
          <p:cNvSpPr/>
          <p:nvPr/>
        </p:nvSpPr>
        <p:spPr>
          <a:xfrm>
            <a:off x="8110727" y="2039112"/>
            <a:ext cx="3456432" cy="3374136"/>
          </a:xfrm>
          <a:prstGeom prst="roundRect">
            <a:avLst>
              <a:gd name="adj" fmla="val 4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110727" y="2039112"/>
            <a:ext cx="3456432" cy="54864"/>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val 31"/>
          <p:cNvSpPr/>
          <p:nvPr/>
        </p:nvSpPr>
        <p:spPr>
          <a:xfrm>
            <a:off x="8339327" y="2313432"/>
            <a:ext cx="621792" cy="621792"/>
          </a:xfrm>
          <a:prstGeom prst="ellipse">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3" name="Picture 32" descr="icon_file-contract_FFFFFF.png"/>
          <p:cNvPicPr>
            <a:picLocks noChangeAspect="1"/>
          </p:cNvPicPr>
          <p:nvPr/>
        </p:nvPicPr>
        <p:blipFill>
          <a:blip r:embed="rId5"/>
          <a:stretch>
            <a:fillRect/>
          </a:stretch>
        </p:blipFill>
        <p:spPr>
          <a:xfrm>
            <a:off x="8488558" y="2462662"/>
            <a:ext cx="323331" cy="323331"/>
          </a:xfrm>
          <a:prstGeom prst="rect">
            <a:avLst/>
          </a:prstGeom>
          <a:effectLst/>
        </p:spPr>
      </p:pic>
      <p:sp>
        <p:nvSpPr>
          <p:cNvPr id="34" name="S10 Text 33 - Standards &amp; partners"/>
          <p:cNvSpPr txBox="1"/>
          <p:nvPr/>
        </p:nvSpPr>
        <p:spPr>
          <a:xfrm>
            <a:off x="8348471" y="3154680"/>
            <a:ext cx="2980944" cy="347472"/>
          </a:xfrm>
          <a:prstGeom prst="rect">
            <a:avLst/>
          </a:prstGeom>
          <a:noFill/>
          <a:effectLst/>
        </p:spPr>
        <p:txBody>
          <a:bodyPr wrap="square" lIns="0" rIns="0" tIns="0" bIns="0" anchor="t">
            <a:noAutofit/>
          </a:bodyPr>
          <a:lstStyle/>
          <a:p>
            <a:pPr algn="l">
              <a:lnSpc>
                <a:spcPct val="110000"/>
              </a:lnSpc>
              <a:spcBef>
                <a:spcPts val="0"/>
              </a:spcBef>
              <a:spcAft>
                <a:spcPts val="0"/>
              </a:spcAft>
            </a:pPr>
            <a:r>
              <a:rPr sz="2000" b="1">
                <a:solidFill>
                  <a:srgbClr val="FFFFFF"/>
                </a:solidFill>
                <a:latin typeface="Inter"/>
              </a:rPr>
              <a:t>Standards &amp; partners</a:t>
            </a:r>
          </a:p>
        </p:txBody>
      </p:sp>
      <p:sp>
        <p:nvSpPr>
          <p:cNvPr id="35" name="S10 Text 34 - Da Vinci and other boundaries"/>
          <p:cNvSpPr txBox="1"/>
          <p:nvPr/>
        </p:nvSpPr>
        <p:spPr>
          <a:xfrm>
            <a:off x="8348471" y="3675887"/>
            <a:ext cx="2980944" cy="256032"/>
          </a:xfrm>
          <a:prstGeom prst="rect">
            <a:avLst/>
          </a:prstGeom>
          <a:noFill/>
          <a:effectLst/>
        </p:spPr>
        <p:txBody>
          <a:bodyPr wrap="square" lIns="0" rIns="0" tIns="0" bIns="0" anchor="t">
            <a:noAutofit/>
          </a:bodyPr>
          <a:lstStyle/>
          <a:p>
            <a:pPr algn="l">
              <a:lnSpc>
                <a:spcPct val="110000"/>
              </a:lnSpc>
              <a:spcBef>
                <a:spcPts val="0"/>
              </a:spcBef>
              <a:spcAft>
                <a:spcPts val="0"/>
              </a:spcAft>
            </a:pPr>
            <a:r>
              <a:rPr sz="1240" b="1">
                <a:solidFill>
                  <a:srgbClr val="19C4A7"/>
                </a:solidFill>
                <a:latin typeface="Inter"/>
              </a:rPr>
              <a:t>Da Vinci and other boundaries</a:t>
            </a:r>
          </a:p>
        </p:txBody>
      </p:sp>
      <p:sp>
        <p:nvSpPr>
          <p:cNvPr id="36" name="S10 Text 35 - Map external exchange into stable internal information "/>
          <p:cNvSpPr txBox="1"/>
          <p:nvPr/>
        </p:nvSpPr>
        <p:spPr>
          <a:xfrm>
            <a:off x="8348471" y="4160520"/>
            <a:ext cx="2953512" cy="886968"/>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B8C3DC"/>
                </a:solidFill>
                <a:latin typeface="Inter"/>
              </a:rPr>
              <a:t>Map external exchange into stable internal information and action contracts rather than duplicating them.</a:t>
            </a:r>
          </a:p>
        </p:txBody>
      </p:sp>
      <p:sp>
        <p:nvSpPr>
          <p:cNvPr id="37" name="S10 Text 36 - Adapt the boundary; share the business."/>
          <p:cNvSpPr txBox="1"/>
          <p:nvPr/>
        </p:nvSpPr>
        <p:spPr>
          <a:xfrm>
            <a:off x="8348471" y="5138928"/>
            <a:ext cx="2935224" cy="219456"/>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19C4A7"/>
                </a:solidFill>
                <a:latin typeface="Inter"/>
              </a:rPr>
              <a:t>Adapt the boundary; share the business.</a:t>
            </a:r>
          </a:p>
        </p:txBody>
      </p:sp>
      <p:sp>
        <p:nvSpPr>
          <p:cNvPr id="38" name="Rounded Rectangle 37"/>
          <p:cNvSpPr/>
          <p:nvPr/>
        </p:nvSpPr>
        <p:spPr>
          <a:xfrm>
            <a:off x="603504" y="5733288"/>
            <a:ext cx="10972800" cy="393192"/>
          </a:xfrm>
          <a:prstGeom prst="roundRect">
            <a:avLst>
              <a:gd name="adj" fmla="val 70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S10 Text 38 - AI is a first-class consumer of that same foundation—no"/>
          <p:cNvSpPr txBox="1"/>
          <p:nvPr/>
        </p:nvSpPr>
        <p:spPr>
          <a:xfrm>
            <a:off x="786384" y="5801868"/>
            <a:ext cx="10607040" cy="274320"/>
          </a:xfrm>
          <a:prstGeom prst="rect">
            <a:avLst/>
          </a:prstGeom>
          <a:noFill/>
          <a:effectLst/>
        </p:spPr>
        <p:txBody>
          <a:bodyPr wrap="square" lIns="0" rIns="0" tIns="0" bIns="0" anchor="t">
            <a:noAutofit/>
          </a:bodyPr>
          <a:lstStyle/>
          <a:p>
            <a:pPr algn="ctr">
              <a:lnSpc>
                <a:spcPct val="110000"/>
              </a:lnSpc>
              <a:spcBef>
                <a:spcPts val="0"/>
              </a:spcBef>
              <a:spcAft>
                <a:spcPts val="0"/>
              </a:spcAft>
            </a:pPr>
            <a:r>
              <a:rPr sz="1270" b="1">
                <a:solidFill>
                  <a:srgbClr val="FFFFFF"/>
                </a:solidFill>
                <a:latin typeface="Inter"/>
              </a:rPr>
              <a:t>AI is a first-class consumer of that same foundation—not a reason to rebuild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1 Text 04 - AUTHORITY AND RELEASE POSTURE"/>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6257FA"/>
                </a:solidFill>
                <a:latin typeface="Inter"/>
              </a:rPr>
              <a:t>AUTHORITY AND RELEASE POSTURE</a:t>
            </a:r>
          </a:p>
        </p:txBody>
      </p:sp>
      <p:sp>
        <p:nvSpPr>
          <p:cNvPr id="6" name="S11 Text 05 - AI-native does not mean unbounded."/>
          <p:cNvSpPr txBox="1"/>
          <p:nvPr/>
        </p:nvSpPr>
        <p:spPr>
          <a:xfrm>
            <a:off x="603504" y="832104"/>
            <a:ext cx="10972800" cy="557784"/>
          </a:xfrm>
          <a:prstGeom prst="rect">
            <a:avLst/>
          </a:prstGeom>
          <a:noFill/>
          <a:effectLst/>
        </p:spPr>
        <p:txBody>
          <a:bodyPr wrap="square" lIns="0" rIns="0" tIns="0" bIns="0" anchor="t">
            <a:noAutofit/>
          </a:bodyPr>
          <a:lstStyle/>
          <a:p>
            <a:pPr algn="l">
              <a:lnSpc>
                <a:spcPct val="110000"/>
              </a:lnSpc>
              <a:spcBef>
                <a:spcPts val="0"/>
              </a:spcBef>
              <a:spcAft>
                <a:spcPts val="0"/>
              </a:spcAft>
            </a:pPr>
            <a:r>
              <a:rPr sz="2900" b="1">
                <a:solidFill>
                  <a:srgbClr val="111827"/>
                </a:solidFill>
                <a:latin typeface="Inter"/>
              </a:rPr>
              <a:t>AI-native does not mean unbounded.</a:t>
            </a:r>
          </a:p>
        </p:txBody>
      </p:sp>
      <p:sp>
        <p:nvSpPr>
          <p:cNvPr id="7" name="S11 Text 06 - Use the model for interaction. Keep authorization, busi"/>
          <p:cNvSpPr txBox="1"/>
          <p:nvPr/>
        </p:nvSpPr>
        <p:spPr>
          <a:xfrm>
            <a:off x="603504" y="1472184"/>
            <a:ext cx="10936224" cy="448056"/>
          </a:xfrm>
          <a:prstGeom prst="rect">
            <a:avLst/>
          </a:prstGeom>
          <a:noFill/>
          <a:effectLst/>
        </p:spPr>
        <p:txBody>
          <a:bodyPr wrap="square" lIns="0" rIns="0" tIns="0" bIns="0" anchor="t">
            <a:noAutofit/>
          </a:bodyPr>
          <a:lstStyle/>
          <a:p>
            <a:pPr algn="l">
              <a:lnSpc>
                <a:spcPct val="110000"/>
              </a:lnSpc>
              <a:spcBef>
                <a:spcPts val="0"/>
              </a:spcBef>
              <a:spcAft>
                <a:spcPts val="0"/>
              </a:spcAft>
            </a:pPr>
            <a:r>
              <a:rPr sz="1420" b="0">
                <a:solidFill>
                  <a:srgbClr val="5F6B82"/>
                </a:solidFill>
                <a:latin typeface="Inter"/>
              </a:rPr>
              <a:t>Use the model for interaction. Keep authorization, business meaning, and execution guarantees explicit.</a:t>
            </a:r>
          </a:p>
        </p:txBody>
      </p:sp>
      <p:cxnSp>
        <p:nvCxnSpPr>
          <p:cNvPr id="8" name="Connector 7"/>
          <p:cNvCxnSpPr/>
          <p:nvPr/>
        </p:nvCxnSpPr>
        <p:spPr>
          <a:xfrm>
            <a:off x="603504" y="6492240"/>
            <a:ext cx="10981944" cy="0"/>
          </a:xfrm>
          <a:prstGeom prst="line">
            <a:avLst/>
          </a:prstGeom>
          <a:ln w="8255">
            <a:solidFill>
              <a:srgbClr val="DDE3EF"/>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4-11.png"/>
          <p:cNvPicPr>
            <a:picLocks noChangeAspect="1"/>
          </p:cNvPicPr>
          <p:nvPr/>
        </p:nvPicPr>
        <p:blipFill>
          <a:blip r:embed="rId2"/>
          <a:stretch>
            <a:fillRect/>
          </a:stretch>
        </p:blipFill>
        <p:spPr>
          <a:xfrm>
            <a:off x="621792" y="6583680"/>
            <a:ext cx="164592" cy="164592"/>
          </a:xfrm>
          <a:prstGeom prst="rect">
            <a:avLst/>
          </a:prstGeom>
          <a:effectLst/>
        </p:spPr>
      </p:pic>
      <p:sp>
        <p:nvSpPr>
          <p:cNvPr id="10" name="S11 Text 09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5F6B82"/>
                </a:solidFill>
                <a:latin typeface="Inter"/>
              </a:rPr>
              <a:t>Kaleido  |  Framework overview</a:t>
            </a:r>
          </a:p>
        </p:txBody>
      </p:sp>
      <p:sp>
        <p:nvSpPr>
          <p:cNvPr id="11" name="S11 Text 10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5F6B82"/>
                </a:solidFill>
                <a:latin typeface="Inter"/>
              </a:rPr>
              <a:t>PRE-1.0 PROJECT PREVIEW</a:t>
            </a:r>
          </a:p>
        </p:txBody>
      </p:sp>
      <p:sp>
        <p:nvSpPr>
          <p:cNvPr id="12" name="S11 Text 11 - 11"/>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5F6B82"/>
                </a:solidFill>
                <a:latin typeface="Inter"/>
              </a:rPr>
              <a:t>13</a:t>
            </a:r>
          </a:p>
        </p:txBody>
      </p:sp>
      <p:sp>
        <p:nvSpPr>
          <p:cNvPr id="13" name="S11 Text 12 - Preview scope: MCP credential delegation, retry/complet"/>
          <p:cNvSpPr txBox="1"/>
          <p:nvPr/>
        </p:nvSpPr>
        <p:spPr>
          <a:xfrm>
            <a:off x="621792" y="6263640"/>
            <a:ext cx="10881360" cy="164592"/>
          </a:xfrm>
          <a:prstGeom prst="rect">
            <a:avLst/>
          </a:prstGeom>
          <a:noFill/>
          <a:effectLst/>
        </p:spPr>
        <p:txBody>
          <a:bodyPr wrap="square" lIns="0" rIns="0" tIns="0" bIns="0" anchor="t">
            <a:noAutofit/>
          </a:bodyPr>
          <a:lstStyle/>
          <a:p>
            <a:pPr algn="l">
              <a:lnSpc>
                <a:spcPct val="110000"/>
              </a:lnSpc>
              <a:spcBef>
                <a:spcPts val="0"/>
              </a:spcBef>
              <a:spcAft>
                <a:spcPts val="0"/>
              </a:spcAft>
            </a:pPr>
            <a:r>
              <a:rPr sz="850" b="0">
                <a:solidFill>
                  <a:srgbClr val="5F6B82"/>
                </a:solidFill>
                <a:latin typeface="Inter"/>
              </a:rPr>
              <a:t>Preview scope: MCP credential delegation, retry/completion behavior, and real-client consent flows still require validation.</a:t>
            </a:r>
          </a:p>
        </p:txBody>
      </p:sp>
      <p:sp>
        <p:nvSpPr>
          <p:cNvPr id="14" name="Rounded Rectangle 13"/>
          <p:cNvSpPr/>
          <p:nvPr/>
        </p:nvSpPr>
        <p:spPr>
          <a:xfrm>
            <a:off x="621792" y="2066543"/>
            <a:ext cx="5321808" cy="3383280"/>
          </a:xfrm>
          <a:prstGeom prst="roundRect">
            <a:avLst>
              <a:gd name="adj" fmla="val 4500"/>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905256" y="2340864"/>
            <a:ext cx="3044952" cy="265176"/>
          </a:xfrm>
          <a:prstGeom prst="roundRect">
            <a:avLst>
              <a:gd name="adj" fmla="val 14000"/>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S11 Text 15 - IMPLEMENTED MECHANISMS"/>
          <p:cNvSpPr txBox="1"/>
          <p:nvPr/>
        </p:nvSpPr>
        <p:spPr>
          <a:xfrm>
            <a:off x="978408" y="2354580"/>
            <a:ext cx="2898648"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FFFFFF"/>
                </a:solidFill>
                <a:latin typeface="Inter"/>
              </a:rPr>
              <a:t>IMPLEMENTED MECHANISMS</a:t>
            </a:r>
          </a:p>
        </p:txBody>
      </p:sp>
      <p:pic>
        <p:nvPicPr>
          <p:cNvPr id="17" name="Picture 16" descr="icon_compass_8B5CF6.png"/>
          <p:cNvPicPr>
            <a:picLocks noChangeAspect="1"/>
          </p:cNvPicPr>
          <p:nvPr/>
        </p:nvPicPr>
        <p:blipFill>
          <a:blip r:embed="rId3"/>
          <a:stretch>
            <a:fillRect/>
          </a:stretch>
        </p:blipFill>
        <p:spPr>
          <a:xfrm>
            <a:off x="914400" y="2898648"/>
            <a:ext cx="347472" cy="347472"/>
          </a:xfrm>
          <a:prstGeom prst="rect">
            <a:avLst/>
          </a:prstGeom>
          <a:effectLst/>
        </p:spPr>
      </p:pic>
      <p:sp>
        <p:nvSpPr>
          <p:cNvPr id="18" name="S11 Text 17 - Discoverable contracts"/>
          <p:cNvSpPr txBox="1"/>
          <p:nvPr/>
        </p:nvSpPr>
        <p:spPr>
          <a:xfrm>
            <a:off x="1481328" y="288036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Discoverable contracts</a:t>
            </a:r>
          </a:p>
        </p:txBody>
      </p:sp>
      <p:sp>
        <p:nvSpPr>
          <p:cNvPr id="19" name="S11 Text 18 - Tool schemas and caller-filtered catalog."/>
          <p:cNvSpPr txBox="1"/>
          <p:nvPr/>
        </p:nvSpPr>
        <p:spPr>
          <a:xfrm>
            <a:off x="1481328" y="325526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Tool schemas and caller-filtered catalog.</a:t>
            </a:r>
          </a:p>
        </p:txBody>
      </p:sp>
      <p:pic>
        <p:nvPicPr>
          <p:cNvPr id="20" name="Picture 19" descr="icon_diagram-project_19C4A7.png"/>
          <p:cNvPicPr>
            <a:picLocks noChangeAspect="1"/>
          </p:cNvPicPr>
          <p:nvPr/>
        </p:nvPicPr>
        <p:blipFill>
          <a:blip r:embed="rId4"/>
          <a:stretch>
            <a:fillRect/>
          </a:stretch>
        </p:blipFill>
        <p:spPr>
          <a:xfrm>
            <a:off x="914400" y="3675887"/>
            <a:ext cx="347472" cy="347472"/>
          </a:xfrm>
          <a:prstGeom prst="rect">
            <a:avLst/>
          </a:prstGeom>
          <a:effectLst/>
        </p:spPr>
      </p:pic>
      <p:sp>
        <p:nvSpPr>
          <p:cNvPr id="21" name="S11 Text 20 - Process constraints"/>
          <p:cNvSpPr txBox="1"/>
          <p:nvPr/>
        </p:nvSpPr>
        <p:spPr>
          <a:xfrm>
            <a:off x="1481328" y="365760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Process constraints</a:t>
            </a:r>
          </a:p>
        </p:txBody>
      </p:sp>
      <p:sp>
        <p:nvSpPr>
          <p:cNvPr id="22" name="S11 Text 21 - Input structure, step rules, and state."/>
          <p:cNvSpPr txBox="1"/>
          <p:nvPr/>
        </p:nvSpPr>
        <p:spPr>
          <a:xfrm>
            <a:off x="1481328" y="403250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Input structure, step rules, and state.</a:t>
            </a:r>
          </a:p>
        </p:txBody>
      </p:sp>
      <p:pic>
        <p:nvPicPr>
          <p:cNvPr id="23" name="Picture 22" descr="icon_route_21B6D7.png"/>
          <p:cNvPicPr>
            <a:picLocks noChangeAspect="1"/>
          </p:cNvPicPr>
          <p:nvPr/>
        </p:nvPicPr>
        <p:blipFill>
          <a:blip r:embed="rId5"/>
          <a:stretch>
            <a:fillRect/>
          </a:stretch>
        </p:blipFill>
        <p:spPr>
          <a:xfrm>
            <a:off x="914400" y="4453127"/>
            <a:ext cx="347472" cy="347472"/>
          </a:xfrm>
          <a:prstGeom prst="rect">
            <a:avLst/>
          </a:prstGeom>
          <a:effectLst/>
        </p:spPr>
      </p:pic>
      <p:sp>
        <p:nvSpPr>
          <p:cNvPr id="24" name="S11 Text 23 - Guided interaction"/>
          <p:cNvSpPr txBox="1"/>
          <p:nvPr/>
        </p:nvSpPr>
        <p:spPr>
          <a:xfrm>
            <a:off x="1481328" y="4434840"/>
            <a:ext cx="4096512" cy="274320"/>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FFFFFF"/>
                </a:solidFill>
                <a:latin typeface="Inter"/>
              </a:rPr>
              <a:t>Guided interaction</a:t>
            </a:r>
          </a:p>
        </p:txBody>
      </p:sp>
      <p:sp>
        <p:nvSpPr>
          <p:cNvPr id="25" name="S11 Text 24 - Lookups, information requests, and next steps."/>
          <p:cNvSpPr txBox="1"/>
          <p:nvPr/>
        </p:nvSpPr>
        <p:spPr>
          <a:xfrm>
            <a:off x="1481328" y="4809744"/>
            <a:ext cx="4014215" cy="301752"/>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B8C3DC"/>
                </a:solidFill>
                <a:latin typeface="Inter"/>
              </a:rPr>
              <a:t>Lookups, information requests, and next steps.</a:t>
            </a:r>
          </a:p>
        </p:txBody>
      </p:sp>
      <p:sp>
        <p:nvSpPr>
          <p:cNvPr id="26" name="Rounded Rectangle 25"/>
          <p:cNvSpPr/>
          <p:nvPr/>
        </p:nvSpPr>
        <p:spPr>
          <a:xfrm>
            <a:off x="6181344" y="2066543"/>
            <a:ext cx="5394960" cy="3383280"/>
          </a:xfrm>
          <a:prstGeom prst="roundRect">
            <a:avLst>
              <a:gd name="adj" fmla="val 4500"/>
            </a:avLst>
          </a:prstGeom>
          <a:solidFill>
            <a:srgbClr val="FFFFFF"/>
          </a:solidFill>
          <a:ln w="12700">
            <a:solidFill>
              <a:srgbClr val="DDE3E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6437376" y="2340864"/>
            <a:ext cx="4325112" cy="265176"/>
          </a:xfrm>
          <a:prstGeom prst="roundRect">
            <a:avLst>
              <a:gd name="adj" fmla="val 14000"/>
            </a:avLst>
          </a:prstGeom>
          <a:solidFill>
            <a:srgbClr val="EFE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11 Text 27 - HOST + BUSINESS RESPONSIBILITIES"/>
          <p:cNvSpPr txBox="1"/>
          <p:nvPr/>
        </p:nvSpPr>
        <p:spPr>
          <a:xfrm>
            <a:off x="6510528" y="2354580"/>
            <a:ext cx="4178808" cy="246887"/>
          </a:xfrm>
          <a:prstGeom prst="rect">
            <a:avLst/>
          </a:prstGeom>
          <a:noFill/>
          <a:effectLst/>
        </p:spPr>
        <p:txBody>
          <a:bodyPr wrap="square" lIns="0" rIns="0" tIns="0" bIns="0" anchor="ctr">
            <a:noAutofit/>
          </a:bodyPr>
          <a:lstStyle/>
          <a:p>
            <a:pPr algn="ctr">
              <a:lnSpc>
                <a:spcPct val="110000"/>
              </a:lnSpc>
              <a:spcBef>
                <a:spcPts val="0"/>
              </a:spcBef>
              <a:spcAft>
                <a:spcPts val="0"/>
              </a:spcAft>
            </a:pPr>
            <a:r>
              <a:rPr sz="1030" b="1">
                <a:solidFill>
                  <a:srgbClr val="6257FA"/>
                </a:solidFill>
                <a:latin typeface="Inter"/>
              </a:rPr>
              <a:t>HOST + BUSINESS RESPONSIBILITIES</a:t>
            </a:r>
          </a:p>
        </p:txBody>
      </p:sp>
      <p:sp>
        <p:nvSpPr>
          <p:cNvPr id="29" name="S11 Text 28 - Who may act"/>
          <p:cNvSpPr txBox="1"/>
          <p:nvPr/>
        </p:nvSpPr>
        <p:spPr>
          <a:xfrm>
            <a:off x="6464808" y="288036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Who may act</a:t>
            </a:r>
          </a:p>
        </p:txBody>
      </p:sp>
      <p:sp>
        <p:nvSpPr>
          <p:cNvPr id="30" name="S11 Text 29 - Identity, destination credentials, case access."/>
          <p:cNvSpPr txBox="1"/>
          <p:nvPr/>
        </p:nvSpPr>
        <p:spPr>
          <a:xfrm>
            <a:off x="6464808" y="325526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Identity, destination credentials, case access.</a:t>
            </a:r>
          </a:p>
        </p:txBody>
      </p:sp>
      <p:sp>
        <p:nvSpPr>
          <p:cNvPr id="31" name="S11 Text 30 - What the action means"/>
          <p:cNvSpPr txBox="1"/>
          <p:nvPr/>
        </p:nvSpPr>
        <p:spPr>
          <a:xfrm>
            <a:off x="6464808" y="365760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What the action means</a:t>
            </a:r>
          </a:p>
        </p:txBody>
      </p:sp>
      <p:sp>
        <p:nvSpPr>
          <p:cNvPr id="32" name="S11 Text 31 - Domain validation and any required approvals."/>
          <p:cNvSpPr txBox="1"/>
          <p:nvPr/>
        </p:nvSpPr>
        <p:spPr>
          <a:xfrm>
            <a:off x="6464808" y="403250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Domain validation and any required approvals.</a:t>
            </a:r>
          </a:p>
        </p:txBody>
      </p:sp>
      <p:sp>
        <p:nvSpPr>
          <p:cNvPr id="33" name="S11 Text 32 - What is safe to promise"/>
          <p:cNvSpPr txBox="1"/>
          <p:nvPr/>
        </p:nvSpPr>
        <p:spPr>
          <a:xfrm>
            <a:off x="6464808" y="4434840"/>
            <a:ext cx="4773168" cy="283464"/>
          </a:xfrm>
          <a:prstGeom prst="rect">
            <a:avLst/>
          </a:prstGeom>
          <a:noFill/>
          <a:effectLst/>
        </p:spPr>
        <p:txBody>
          <a:bodyPr wrap="square" lIns="0" rIns="0" tIns="0" bIns="0" anchor="t">
            <a:noAutofit/>
          </a:bodyPr>
          <a:lstStyle/>
          <a:p>
            <a:pPr algn="l">
              <a:lnSpc>
                <a:spcPct val="110000"/>
              </a:lnSpc>
              <a:spcBef>
                <a:spcPts val="0"/>
              </a:spcBef>
              <a:spcAft>
                <a:spcPts val="0"/>
              </a:spcAft>
            </a:pPr>
            <a:r>
              <a:rPr sz="1650" b="1">
                <a:solidFill>
                  <a:srgbClr val="111827"/>
                </a:solidFill>
                <a:latin typeface="Inter"/>
              </a:rPr>
              <a:t>What is safe to promise</a:t>
            </a:r>
          </a:p>
        </p:txBody>
      </p:sp>
      <p:sp>
        <p:nvSpPr>
          <p:cNvPr id="34" name="S11 Text 33 - Retry, completion, privacy, and consent tests."/>
          <p:cNvSpPr txBox="1"/>
          <p:nvPr/>
        </p:nvSpPr>
        <p:spPr>
          <a:xfrm>
            <a:off x="6464808" y="4809744"/>
            <a:ext cx="4773168" cy="310896"/>
          </a:xfrm>
          <a:prstGeom prst="rect">
            <a:avLst/>
          </a:prstGeom>
          <a:noFill/>
          <a:effectLst/>
        </p:spPr>
        <p:txBody>
          <a:bodyPr wrap="square" lIns="0" rIns="0" tIns="0" bIns="0" anchor="t">
            <a:noAutofit/>
          </a:bodyPr>
          <a:lstStyle/>
          <a:p>
            <a:pPr algn="l">
              <a:lnSpc>
                <a:spcPct val="110000"/>
              </a:lnSpc>
              <a:spcBef>
                <a:spcPts val="0"/>
              </a:spcBef>
              <a:spcAft>
                <a:spcPts val="0"/>
              </a:spcAft>
            </a:pPr>
            <a:r>
              <a:rPr sz="1270" b="0">
                <a:solidFill>
                  <a:srgbClr val="5F6B82"/>
                </a:solidFill>
                <a:latin typeface="Inter"/>
              </a:rPr>
              <a:t>Retry, completion, privacy, and consent tests.</a:t>
            </a:r>
          </a:p>
        </p:txBody>
      </p:sp>
      <p:sp>
        <p:nvSpPr>
          <p:cNvPr id="35" name="Rounded Rectangle 34"/>
          <p:cNvSpPr/>
          <p:nvPr/>
        </p:nvSpPr>
        <p:spPr>
          <a:xfrm>
            <a:off x="621792" y="5715000"/>
            <a:ext cx="10954512" cy="420624"/>
          </a:xfrm>
          <a:prstGeom prst="roundRect">
            <a:avLst>
              <a:gd name="adj" fmla="val 4500"/>
            </a:avLst>
          </a:prstGeom>
          <a:solidFill>
            <a:srgbClr val="EFEC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S11 Text 35 - A prompt or tool hint is guidance—not proof of permissi"/>
          <p:cNvSpPr txBox="1"/>
          <p:nvPr/>
        </p:nvSpPr>
        <p:spPr>
          <a:xfrm>
            <a:off x="850392" y="5824728"/>
            <a:ext cx="10497312" cy="237744"/>
          </a:xfrm>
          <a:prstGeom prst="rect">
            <a:avLst/>
          </a:prstGeom>
          <a:noFill/>
          <a:effectLst/>
        </p:spPr>
        <p:txBody>
          <a:bodyPr wrap="square" lIns="0" rIns="0" tIns="0" bIns="0" anchor="t">
            <a:noAutofit/>
          </a:bodyPr>
          <a:lstStyle/>
          <a:p>
            <a:pPr algn="ctr">
              <a:lnSpc>
                <a:spcPct val="110000"/>
              </a:lnSpc>
              <a:spcBef>
                <a:spcPts val="0"/>
              </a:spcBef>
              <a:spcAft>
                <a:spcPts val="0"/>
              </a:spcAft>
            </a:pPr>
            <a:r>
              <a:rPr sz="1300" b="1">
                <a:solidFill>
                  <a:srgbClr val="6257FA"/>
                </a:solidFill>
                <a:latin typeface="Inter"/>
              </a:rPr>
              <a:t>A prompt or tool hint is guidance—not proof of permission, consent, or exactly-once execution.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99" cy="41148"/>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S12 Text 04 - EXECUTIVE TAKEAWAY"/>
          <p:cNvSpPr txBox="1"/>
          <p:nvPr/>
        </p:nvSpPr>
        <p:spPr>
          <a:xfrm>
            <a:off x="603504" y="393192"/>
            <a:ext cx="9966960" cy="228600"/>
          </a:xfrm>
          <a:prstGeom prst="rect">
            <a:avLst/>
          </a:prstGeom>
          <a:noFill/>
          <a:effectLst/>
        </p:spPr>
        <p:txBody>
          <a:bodyPr wrap="square" lIns="0" rIns="0" tIns="0" bIns="0" anchor="t">
            <a:noAutofit/>
          </a:bodyPr>
          <a:lstStyle/>
          <a:p>
            <a:pPr algn="l">
              <a:lnSpc>
                <a:spcPct val="110000"/>
              </a:lnSpc>
              <a:spcBef>
                <a:spcPts val="0"/>
              </a:spcBef>
              <a:spcAft>
                <a:spcPts val="0"/>
              </a:spcAft>
            </a:pPr>
            <a:r>
              <a:rPr sz="1019" b="1">
                <a:solidFill>
                  <a:srgbClr val="B8C3DC"/>
                </a:solidFill>
                <a:latin typeface="Inter"/>
              </a:rPr>
              <a:t>EXECUTIVE TAKEAWAY</a:t>
            </a:r>
          </a:p>
        </p:txBody>
      </p:sp>
      <p:sp>
        <p:nvSpPr>
          <p:cNvPr id="6" name="S12 Text 05 - Make the business understandable. Make it usable by AI."/>
          <p:cNvSpPr txBox="1"/>
          <p:nvPr/>
        </p:nvSpPr>
        <p:spPr>
          <a:xfrm>
            <a:off x="603504" y="832104"/>
            <a:ext cx="10972800" cy="1042415"/>
          </a:xfrm>
          <a:prstGeom prst="rect">
            <a:avLst/>
          </a:prstGeom>
          <a:noFill/>
          <a:effectLst/>
        </p:spPr>
        <p:txBody>
          <a:bodyPr wrap="square" lIns="0" rIns="0" tIns="0" bIns="0" anchor="t">
            <a:noAutofit/>
          </a:bodyPr>
          <a:lstStyle/>
          <a:p>
            <a:pPr algn="l">
              <a:lnSpc>
                <a:spcPct val="110000"/>
              </a:lnSpc>
              <a:spcBef>
                <a:spcPts val="0"/>
              </a:spcBef>
              <a:spcAft>
                <a:spcPts val="0"/>
              </a:spcAft>
            </a:pPr>
            <a:r>
              <a:rPr sz="2800" b="1">
                <a:solidFill>
                  <a:srgbClr val="FFFFFF"/>
                </a:solidFill>
                <a:latin typeface="Inter"/>
              </a:rPr>
              <a:t>Build the business action once.</a:t>
            </a:r>
          </a:p>
          <a:p>
            <a:pPr algn="l">
              <a:lnSpc>
                <a:spcPct val="110000"/>
              </a:lnSpc>
              <a:spcBef>
                <a:spcPts val="0"/>
              </a:spcBef>
              <a:spcAft>
                <a:spcPts val="0"/>
              </a:spcAft>
            </a:pPr>
            <a:r>
              <a:rPr sz="2800" b="1">
                <a:solidFill>
                  <a:srgbClr val="FFFFFF"/>
                </a:solidFill>
                <a:latin typeface="Inter"/>
              </a:rPr>
              <a:t>Use it from applications and AI.</a:t>
            </a:r>
          </a:p>
        </p:txBody>
      </p:sp>
      <p:cxnSp>
        <p:nvCxnSpPr>
          <p:cNvPr id="7" name="Connector 6"/>
          <p:cNvCxnSpPr/>
          <p:nvPr/>
        </p:nvCxnSpPr>
        <p:spPr>
          <a:xfrm>
            <a:off x="603504" y="6492240"/>
            <a:ext cx="10981944" cy="0"/>
          </a:xfrm>
          <a:prstGeom prst="line">
            <a:avLst/>
          </a:prstGeom>
          <a:ln w="8255">
            <a:solidFill>
              <a:srgbClr val="29334F"/>
            </a:solidFill>
          </a:ln>
          <a:effectLst/>
        </p:spPr>
        <p:style>
          <a:lnRef idx="2">
            <a:schemeClr val="accent1"/>
          </a:lnRef>
          <a:fillRef idx="0">
            <a:schemeClr val="accent1"/>
          </a:fillRef>
          <a:effectRef idx="0">
            <a:schemeClr val="accent1"/>
          </a:effectRef>
          <a:fontRef idx="minor">
            <a:schemeClr val="tx1"/>
          </a:fontRef>
        </p:style>
      </p:cxnSp>
      <p:pic>
        <p:nvPicPr>
          <p:cNvPr id="8" name="Picture 7" descr="image-2-12.png"/>
          <p:cNvPicPr>
            <a:picLocks noChangeAspect="1"/>
          </p:cNvPicPr>
          <p:nvPr/>
        </p:nvPicPr>
        <p:blipFill>
          <a:blip r:embed="rId2"/>
          <a:stretch>
            <a:fillRect/>
          </a:stretch>
        </p:blipFill>
        <p:spPr>
          <a:xfrm>
            <a:off x="621792" y="6583680"/>
            <a:ext cx="164592" cy="190665"/>
          </a:xfrm>
          <a:prstGeom prst="rect">
            <a:avLst/>
          </a:prstGeom>
          <a:effectLst/>
        </p:spPr>
      </p:pic>
      <p:sp>
        <p:nvSpPr>
          <p:cNvPr id="9" name="S12 Text 08 - Kaleido  |  AI-native executive overview"/>
          <p:cNvSpPr txBox="1"/>
          <p:nvPr/>
        </p:nvSpPr>
        <p:spPr>
          <a:xfrm>
            <a:off x="877824" y="6574536"/>
            <a:ext cx="4572000" cy="173736"/>
          </a:xfrm>
          <a:prstGeom prst="rect">
            <a:avLst/>
          </a:prstGeom>
          <a:noFill/>
          <a:effectLst/>
        </p:spPr>
        <p:txBody>
          <a:bodyPr wrap="square" lIns="0" rIns="0" tIns="0" bIns="0" anchor="t">
            <a:noAutofit/>
          </a:bodyPr>
          <a:lstStyle/>
          <a:p>
            <a:pPr algn="l">
              <a:lnSpc>
                <a:spcPct val="110000"/>
              </a:lnSpc>
              <a:spcBef>
                <a:spcPts val="0"/>
              </a:spcBef>
              <a:spcAft>
                <a:spcPts val="0"/>
              </a:spcAft>
            </a:pPr>
            <a:r>
              <a:rPr sz="830" b="0">
                <a:solidFill>
                  <a:srgbClr val="B8C3DC"/>
                </a:solidFill>
                <a:latin typeface="Inter"/>
              </a:rPr>
              <a:t>Kaleido  |  Framework overview</a:t>
            </a:r>
          </a:p>
        </p:txBody>
      </p:sp>
      <p:sp>
        <p:nvSpPr>
          <p:cNvPr id="10" name="S12 Text 09 - PRE-1.0 PROJECT PREVIEW"/>
          <p:cNvSpPr txBox="1"/>
          <p:nvPr/>
        </p:nvSpPr>
        <p:spPr>
          <a:xfrm>
            <a:off x="8723376" y="6574536"/>
            <a:ext cx="249631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00" b="0">
                <a:solidFill>
                  <a:srgbClr val="B8C3DC"/>
                </a:solidFill>
                <a:latin typeface="Inter"/>
              </a:rPr>
              <a:t>PRE-1.0 PROJECT PREVIEW</a:t>
            </a:r>
          </a:p>
        </p:txBody>
      </p:sp>
      <p:sp>
        <p:nvSpPr>
          <p:cNvPr id="11" name="S12 Text 10 - 12"/>
          <p:cNvSpPr txBox="1"/>
          <p:nvPr/>
        </p:nvSpPr>
        <p:spPr>
          <a:xfrm>
            <a:off x="11274552" y="6574536"/>
            <a:ext cx="301752" cy="173736"/>
          </a:xfrm>
          <a:prstGeom prst="rect">
            <a:avLst/>
          </a:prstGeom>
          <a:noFill/>
          <a:effectLst/>
        </p:spPr>
        <p:txBody>
          <a:bodyPr wrap="square" lIns="0" rIns="0" tIns="0" bIns="0" anchor="t">
            <a:noAutofit/>
          </a:bodyPr>
          <a:lstStyle/>
          <a:p>
            <a:pPr algn="r">
              <a:lnSpc>
                <a:spcPct val="110000"/>
              </a:lnSpc>
              <a:spcBef>
                <a:spcPts val="0"/>
              </a:spcBef>
              <a:spcAft>
                <a:spcPts val="0"/>
              </a:spcAft>
            </a:pPr>
            <a:r>
              <a:rPr sz="830" b="0">
                <a:solidFill>
                  <a:srgbClr val="B8C3DC"/>
                </a:solidFill>
                <a:latin typeface="Inter"/>
              </a:rPr>
              <a:t>14</a:t>
            </a:r>
          </a:p>
        </p:txBody>
      </p:sp>
      <p:pic>
        <p:nvPicPr>
          <p:cNvPr id="12" name="Picture 11" descr="image-4-11.png"/>
          <p:cNvPicPr>
            <a:picLocks noChangeAspect="1"/>
          </p:cNvPicPr>
          <p:nvPr/>
        </p:nvPicPr>
        <p:blipFill>
          <a:blip r:embed="rId3"/>
          <a:stretch>
            <a:fillRect/>
          </a:stretch>
        </p:blipFill>
        <p:spPr>
          <a:xfrm>
            <a:off x="9528048" y="2194560"/>
            <a:ext cx="1691640" cy="1691640"/>
          </a:xfrm>
          <a:prstGeom prst="rect">
            <a:avLst/>
          </a:prstGeom>
          <a:effectLst/>
        </p:spPr>
      </p:pic>
      <p:sp>
        <p:nvSpPr>
          <p:cNvPr id="13" name="Rounded Rectangle 12"/>
          <p:cNvSpPr/>
          <p:nvPr/>
        </p:nvSpPr>
        <p:spPr>
          <a:xfrm>
            <a:off x="640080" y="2322576"/>
            <a:ext cx="7991856" cy="1234440"/>
          </a:xfrm>
          <a:prstGeom prst="roundRect">
            <a:avLst>
              <a:gd name="adj" fmla="val 3500"/>
            </a:avLst>
          </a:prstGeom>
          <a:solidFill>
            <a:srgbClr val="111A32"/>
          </a:solidFill>
          <a:ln w="12700">
            <a:solidFill>
              <a:srgbClr val="29334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40080" y="2322576"/>
            <a:ext cx="59436" cy="1234440"/>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12 Text 14 - Kaleido makes the step concept tangible— and exposes th"/>
          <p:cNvSpPr txBox="1"/>
          <p:nvPr/>
        </p:nvSpPr>
        <p:spPr>
          <a:xfrm>
            <a:off x="914400" y="2569464"/>
            <a:ext cx="7306056" cy="932688"/>
          </a:xfrm>
          <a:prstGeom prst="rect">
            <a:avLst/>
          </a:prstGeom>
          <a:noFill/>
          <a:effectLst/>
        </p:spPr>
        <p:txBody>
          <a:bodyPr wrap="square" lIns="0" rIns="0" tIns="0" bIns="0" anchor="t">
            <a:noAutofit/>
          </a:bodyPr>
          <a:lstStyle/>
          <a:p>
            <a:pPr algn="l">
              <a:lnSpc>
                <a:spcPct val="110000"/>
              </a:lnSpc>
              <a:spcBef>
                <a:spcPts val="0"/>
              </a:spcBef>
              <a:spcAft>
                <a:spcPts val="0"/>
              </a:spcAft>
            </a:pPr>
            <a:r>
              <a:rPr sz="1880" b="1">
                <a:solidFill>
                  <a:srgbClr val="FFFFFF"/>
                </a:solidFill>
                <a:latin typeface="Inter"/>
              </a:rPr>
              <a:t>A .NET runtime for discoverable business information,</a:t>
            </a:r>
          </a:p>
          <a:p>
            <a:pPr algn="l">
              <a:lnSpc>
                <a:spcPct val="110000"/>
              </a:lnSpc>
              <a:spcBef>
                <a:spcPts val="0"/>
              </a:spcBef>
              <a:spcAft>
                <a:spcPts val="0"/>
              </a:spcAft>
            </a:pPr>
            <a:r>
              <a:rPr sz="1880" b="1">
                <a:solidFill>
                  <a:srgbClr val="FFFFFF"/>
                </a:solidFill>
                <a:latin typeface="Inter"/>
              </a:rPr>
              <a:t>executable steps, and process continuation—</a:t>
            </a:r>
          </a:p>
          <a:p>
            <a:pPr algn="l">
              <a:lnSpc>
                <a:spcPct val="110000"/>
              </a:lnSpc>
              <a:spcBef>
                <a:spcPts val="0"/>
              </a:spcBef>
              <a:spcAft>
                <a:spcPts val="0"/>
              </a:spcAft>
            </a:pPr>
            <a:r>
              <a:rPr sz="1880" b="1">
                <a:solidFill>
                  <a:srgbClr val="FFFFFF"/>
                </a:solidFill>
                <a:latin typeface="Inter"/>
              </a:rPr>
              <a:t>with an AI-native interface.</a:t>
            </a:r>
          </a:p>
        </p:txBody>
      </p:sp>
      <p:sp>
        <p:nvSpPr>
          <p:cNvPr id="16" name="S12 Text 15 - 01"/>
          <p:cNvSpPr txBox="1"/>
          <p:nvPr/>
        </p:nvSpPr>
        <p:spPr>
          <a:xfrm>
            <a:off x="640080"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8B5CF6"/>
                </a:solidFill>
                <a:latin typeface="Inter"/>
              </a:rPr>
              <a:t>01</a:t>
            </a:r>
          </a:p>
        </p:txBody>
      </p:sp>
      <p:sp>
        <p:nvSpPr>
          <p:cNvPr id="17" name="S12 Text 16 - Make the idea visible"/>
          <p:cNvSpPr txBox="1"/>
          <p:nvPr/>
        </p:nvSpPr>
        <p:spPr>
          <a:xfrm>
            <a:off x="640080"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400" b="1">
                <a:solidFill>
                  <a:srgbClr val="FFFFFF"/>
                </a:solidFill>
                <a:latin typeface="Inter"/>
              </a:rPr>
              <a:t>Define the work</a:t>
            </a:r>
          </a:p>
        </p:txBody>
      </p:sp>
      <p:sp>
        <p:nvSpPr>
          <p:cNvPr id="18" name="S12 Text 17 - Reusable steps with explicit inputs, outcomes, and ways"/>
          <p:cNvSpPr txBox="1"/>
          <p:nvPr/>
        </p:nvSpPr>
        <p:spPr>
          <a:xfrm>
            <a:off x="640080"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Queries and steps with explicit inputs,</a:t>
            </a:r>
          </a:p>
          <a:p>
            <a:pPr algn="l">
              <a:lnSpc>
                <a:spcPct val="110000"/>
              </a:lnSpc>
              <a:spcBef>
                <a:spcPts val="0"/>
              </a:spcBef>
              <a:spcAft>
                <a:spcPts val="0"/>
              </a:spcAft>
            </a:pPr>
            <a:r>
              <a:rPr sz="1330" b="0">
                <a:solidFill>
                  <a:srgbClr val="B8C3DC"/>
                </a:solidFill>
                <a:latin typeface="Inter"/>
              </a:rPr>
              <a:t>relationships, and business handlers.</a:t>
            </a:r>
          </a:p>
        </p:txBody>
      </p:sp>
      <p:sp>
        <p:nvSpPr>
          <p:cNvPr id="19" name="S12 Text 18 - 02"/>
          <p:cNvSpPr txBox="1"/>
          <p:nvPr/>
        </p:nvSpPr>
        <p:spPr>
          <a:xfrm>
            <a:off x="4379976"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B64FD9"/>
                </a:solidFill>
                <a:latin typeface="Inter"/>
              </a:rPr>
              <a:t>02</a:t>
            </a:r>
          </a:p>
        </p:txBody>
      </p:sp>
      <p:sp>
        <p:nvSpPr>
          <p:cNvPr id="20" name="S12 Text 19 - Make AI a first-class user"/>
          <p:cNvSpPr txBox="1"/>
          <p:nvPr/>
        </p:nvSpPr>
        <p:spPr>
          <a:xfrm>
            <a:off x="4379976"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400" b="1">
                <a:solidFill>
                  <a:srgbClr val="FFFFFF"/>
                </a:solidFill>
                <a:latin typeface="Inter"/>
              </a:rPr>
              <a:t>Execute and continue</a:t>
            </a:r>
          </a:p>
        </p:txBody>
      </p:sp>
      <p:sp>
        <p:nvSpPr>
          <p:cNvPr id="21" name="S12 Text 20 - An implemented MCP interface over the shared capability"/>
          <p:cNvSpPr txBox="1"/>
          <p:nvPr/>
        </p:nvSpPr>
        <p:spPr>
          <a:xfrm>
            <a:off x="4379976"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Run the handler, record progress,</a:t>
            </a:r>
          </a:p>
          <a:p>
            <a:pPr algn="l">
              <a:lnSpc>
                <a:spcPct val="110000"/>
              </a:lnSpc>
              <a:spcBef>
                <a:spcPts val="0"/>
              </a:spcBef>
              <a:spcAft>
                <a:spcPts val="0"/>
              </a:spcAft>
            </a:pPr>
            <a:r>
              <a:rPr sz="1330" b="0">
                <a:solidFill>
                  <a:srgbClr val="B8C3DC"/>
                </a:solidFill>
                <a:latin typeface="Inter"/>
              </a:rPr>
              <a:t>and return the next permitted work.</a:t>
            </a:r>
          </a:p>
        </p:txBody>
      </p:sp>
      <p:sp>
        <p:nvSpPr>
          <p:cNvPr id="22" name="S12 Text 21 - 03"/>
          <p:cNvSpPr txBox="1"/>
          <p:nvPr/>
        </p:nvSpPr>
        <p:spPr>
          <a:xfrm>
            <a:off x="8119872" y="4123944"/>
            <a:ext cx="475488" cy="429768"/>
          </a:xfrm>
          <a:prstGeom prst="rect">
            <a:avLst/>
          </a:prstGeom>
          <a:noFill/>
          <a:effectLst/>
        </p:spPr>
        <p:txBody>
          <a:bodyPr wrap="square" lIns="0" rIns="0" tIns="0" bIns="0" anchor="t">
            <a:noAutofit/>
          </a:bodyPr>
          <a:lstStyle/>
          <a:p>
            <a:pPr algn="l">
              <a:lnSpc>
                <a:spcPct val="110000"/>
              </a:lnSpc>
              <a:spcBef>
                <a:spcPts val="0"/>
              </a:spcBef>
              <a:spcAft>
                <a:spcPts val="0"/>
              </a:spcAft>
            </a:pPr>
            <a:r>
              <a:rPr sz="2500" b="1">
                <a:solidFill>
                  <a:srgbClr val="19C4A7"/>
                </a:solidFill>
                <a:latin typeface="Inter"/>
              </a:rPr>
              <a:t>03</a:t>
            </a:r>
          </a:p>
        </p:txBody>
      </p:sp>
      <p:sp>
        <p:nvSpPr>
          <p:cNvPr id="23" name="S12 Text 22 - Keep the business in charge"/>
          <p:cNvSpPr txBox="1"/>
          <p:nvPr/>
        </p:nvSpPr>
        <p:spPr>
          <a:xfrm>
            <a:off x="8119872" y="4681728"/>
            <a:ext cx="33832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1340" b="1">
                <a:solidFill>
                  <a:srgbClr val="FFFFFF"/>
                </a:solidFill>
                <a:latin typeface="Inter"/>
              </a:rPr>
              <a:t>Reuse through HTTP + MCP</a:t>
            </a:r>
          </a:p>
        </p:txBody>
      </p:sp>
      <p:sp>
        <p:nvSpPr>
          <p:cNvPr id="24" name="S12 Text 23 - Domain logic and authority stay with the business and i"/>
          <p:cNvSpPr txBox="1"/>
          <p:nvPr/>
        </p:nvSpPr>
        <p:spPr>
          <a:xfrm>
            <a:off x="8119872" y="5202936"/>
            <a:ext cx="3364992" cy="612648"/>
          </a:xfrm>
          <a:prstGeom prst="rect">
            <a:avLst/>
          </a:prstGeom>
          <a:noFill/>
          <a:effectLst/>
        </p:spPr>
        <p:txBody>
          <a:bodyPr wrap="square" lIns="0" rIns="0" tIns="0" bIns="0" anchor="t">
            <a:noAutofit/>
          </a:bodyPr>
          <a:lstStyle/>
          <a:p>
            <a:pPr algn="l">
              <a:lnSpc>
                <a:spcPct val="110000"/>
              </a:lnSpc>
              <a:spcBef>
                <a:spcPts val="0"/>
              </a:spcBef>
              <a:spcAft>
                <a:spcPts val="0"/>
              </a:spcAft>
            </a:pPr>
            <a:r>
              <a:rPr sz="1330" b="0">
                <a:solidFill>
                  <a:srgbClr val="B8C3DC"/>
                </a:solidFill>
                <a:latin typeface="Inter"/>
              </a:rPr>
              <a:t>Different consumers; the same actions.</a:t>
            </a:r>
          </a:p>
          <a:p>
            <a:pPr algn="l">
              <a:lnSpc>
                <a:spcPct val="110000"/>
              </a:lnSpc>
              <a:spcBef>
                <a:spcPts val="0"/>
              </a:spcBef>
              <a:spcAft>
                <a:spcPts val="0"/>
              </a:spcAft>
            </a:pPr>
            <a:r>
              <a:rPr sz="1330" b="0">
                <a:solidFill>
                  <a:srgbClr val="B8C3DC"/>
                </a:solidFill>
                <a:latin typeface="Inter"/>
              </a:rPr>
              <a:t>Business authority stays with the host.</a:t>
            </a:r>
          </a:p>
        </p:txBody>
      </p:sp>
      <p:sp>
        <p:nvSpPr>
          <p:cNvPr id="25" name="S12 Text 24 - Define once. Discover. Act. Continue."/>
          <p:cNvSpPr txBox="1"/>
          <p:nvPr/>
        </p:nvSpPr>
        <p:spPr>
          <a:xfrm>
            <a:off x="676656" y="6053328"/>
            <a:ext cx="10698480" cy="320040"/>
          </a:xfrm>
          <a:prstGeom prst="rect">
            <a:avLst/>
          </a:prstGeom>
          <a:noFill/>
          <a:effectLst/>
        </p:spPr>
        <p:txBody>
          <a:bodyPr wrap="square" lIns="0" rIns="0" tIns="0" bIns="0" anchor="t">
            <a:noAutofit/>
          </a:bodyPr>
          <a:lstStyle/>
          <a:p>
            <a:pPr algn="l">
              <a:lnSpc>
                <a:spcPct val="110000"/>
              </a:lnSpc>
              <a:spcBef>
                <a:spcPts val="0"/>
              </a:spcBef>
              <a:spcAft>
                <a:spcPts val="0"/>
              </a:spcAft>
            </a:pPr>
            <a:r>
              <a:rPr sz="2080" b="1">
                <a:solidFill>
                  <a:srgbClr val="FFFFFF"/>
                </a:solidFill>
                <a:latin typeface="Inter"/>
              </a:rPr>
              <a:t>Define. Discover. Execute. Continue.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F"/>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69" cy="36576"/>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03504" y="393192"/>
            <a:ext cx="1005840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019" b="1">
                <a:solidFill>
                  <a:srgbClr val="6257FA"/>
                </a:solidFill>
                <a:latin typeface="Inter"/>
              </a:rPr>
              <a:t>WHAT KALEIDO ACTUALLY IS</a:t>
            </a:r>
          </a:p>
        </p:txBody>
      </p:sp>
      <p:sp>
        <p:nvSpPr>
          <p:cNvPr id="6" name="TextBox 5"/>
          <p:cNvSpPr txBox="1"/>
          <p:nvPr/>
        </p:nvSpPr>
        <p:spPr>
          <a:xfrm>
            <a:off x="603504" y="832104"/>
            <a:ext cx="10972800" cy="621792"/>
          </a:xfrm>
          <a:prstGeom prst="rect">
            <a:avLst/>
          </a:prstGeom>
          <a:noFill/>
          <a:effectLst/>
        </p:spPr>
        <p:txBody>
          <a:bodyPr wrap="square" lIns="0" rIns="0" tIns="0" bIns="0" anchor="t">
            <a:spAutoFit/>
          </a:bodyPr>
          <a:lstStyle/>
          <a:p>
            <a:pPr algn="l">
              <a:lnSpc>
                <a:spcPct val="104000"/>
              </a:lnSpc>
              <a:spcBef>
                <a:spcPts val="0"/>
              </a:spcBef>
              <a:spcAft>
                <a:spcPts val="200"/>
              </a:spcAft>
            </a:pPr>
            <a:r>
              <a:rPr sz="2800" b="1">
                <a:solidFill>
                  <a:srgbClr val="111827"/>
                </a:solidFill>
                <a:latin typeface="Inter"/>
              </a:rPr>
              <a:t>It describes the work. It also runs the work.</a:t>
            </a:r>
          </a:p>
        </p:txBody>
      </p:sp>
      <p:sp>
        <p:nvSpPr>
          <p:cNvPr id="7" name="TextBox 6"/>
          <p:cNvSpPr txBox="1"/>
          <p:nvPr/>
        </p:nvSpPr>
        <p:spPr>
          <a:xfrm>
            <a:off x="603504" y="1508760"/>
            <a:ext cx="10936224" cy="4572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420" b="0">
                <a:solidFill>
                  <a:srgbClr val="5F6B82"/>
                </a:solidFill>
                <a:latin typeface="Inter"/>
              </a:rPr>
              <a:t>A code-first .NET framework for building business services as discoverable queries and executable, stateful steps.</a:t>
            </a:r>
          </a:p>
        </p:txBody>
      </p:sp>
      <p:cxnSp>
        <p:nvCxnSpPr>
          <p:cNvPr id="8" name="Connector 7"/>
          <p:cNvCxnSpPr/>
          <p:nvPr/>
        </p:nvCxnSpPr>
        <p:spPr>
          <a:xfrm>
            <a:off x="603504" y="6492240"/>
            <a:ext cx="10981944" cy="0"/>
          </a:xfrm>
          <a:prstGeom prst="line">
            <a:avLst/>
          </a:prstGeom>
          <a:ln w="6350">
            <a:solidFill>
              <a:srgbClr val="DEE4F2"/>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png"/>
          <p:cNvPicPr>
            <a:picLocks noChangeAspect="1"/>
          </p:cNvPicPr>
          <p:nvPr/>
        </p:nvPicPr>
        <p:blipFill>
          <a:blip r:embed="rId2"/>
          <a:stretch>
            <a:fillRect/>
          </a:stretch>
        </p:blipFill>
        <p:spPr>
          <a:xfrm>
            <a:off x="621792" y="6583680"/>
            <a:ext cx="164592" cy="164592"/>
          </a:xfrm>
          <a:prstGeom prst="rect">
            <a:avLst/>
          </a:prstGeom>
          <a:effectLst/>
        </p:spPr>
      </p:pic>
      <p:sp>
        <p:nvSpPr>
          <p:cNvPr id="10" name="TextBox 9"/>
          <p:cNvSpPr txBox="1"/>
          <p:nvPr/>
        </p:nvSpPr>
        <p:spPr>
          <a:xfrm>
            <a:off x="877824" y="6574536"/>
            <a:ext cx="4572000"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5F6B82"/>
                </a:solidFill>
                <a:latin typeface="Inter"/>
              </a:rPr>
              <a:t>Kaleido  |  Framework overview</a:t>
            </a:r>
          </a:p>
        </p:txBody>
      </p:sp>
      <p:sp>
        <p:nvSpPr>
          <p:cNvPr id="11" name="TextBox 10"/>
          <p:cNvSpPr txBox="1"/>
          <p:nvPr/>
        </p:nvSpPr>
        <p:spPr>
          <a:xfrm>
            <a:off x="8723376" y="6574536"/>
            <a:ext cx="249631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00" b="0">
                <a:solidFill>
                  <a:srgbClr val="5F6B82"/>
                </a:solidFill>
                <a:latin typeface="Inter"/>
              </a:rPr>
              <a:t>PRE-1.0 PROJECT PREVIEW</a:t>
            </a:r>
          </a:p>
        </p:txBody>
      </p:sp>
      <p:sp>
        <p:nvSpPr>
          <p:cNvPr id="12" name="TextBox 11"/>
          <p:cNvSpPr txBox="1"/>
          <p:nvPr/>
        </p:nvSpPr>
        <p:spPr>
          <a:xfrm>
            <a:off x="11274552" y="6574536"/>
            <a:ext cx="30175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5F6B82"/>
                </a:solidFill>
                <a:latin typeface="Inter"/>
              </a:rPr>
              <a:t>02</a:t>
            </a:r>
          </a:p>
        </p:txBody>
      </p:sp>
      <p:sp>
        <p:nvSpPr>
          <p:cNvPr id="13" name="Rounded Rectangle 12"/>
          <p:cNvSpPr/>
          <p:nvPr/>
        </p:nvSpPr>
        <p:spPr>
          <a:xfrm>
            <a:off x="621792" y="2221992"/>
            <a:ext cx="3465576" cy="2907792"/>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621792" y="2221992"/>
            <a:ext cx="3465576" cy="50292"/>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859536" y="2468880"/>
            <a:ext cx="530352" cy="530352"/>
          </a:xfrm>
          <a:prstGeom prst="ellipse">
            <a:avLst/>
          </a:prstGeom>
          <a:solidFill>
            <a:srgbClr val="EAF7F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982980" y="2592324"/>
            <a:ext cx="283464" cy="283464"/>
          </a:xfrm>
          <a:prstGeom prst="rect">
            <a:avLst/>
          </a:prstGeom>
          <a:effectLst/>
        </p:spPr>
      </p:pic>
      <p:sp>
        <p:nvSpPr>
          <p:cNvPr id="17" name="TextBox 16"/>
          <p:cNvSpPr txBox="1"/>
          <p:nvPr/>
        </p:nvSpPr>
        <p:spPr>
          <a:xfrm>
            <a:off x="1554480" y="2642616"/>
            <a:ext cx="224028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21B6D7"/>
                </a:solidFill>
                <a:latin typeface="Inter"/>
              </a:rPr>
              <a:t>QUERYABLE</a:t>
            </a:r>
          </a:p>
        </p:txBody>
      </p:sp>
      <p:sp>
        <p:nvSpPr>
          <p:cNvPr id="18" name="TextBox 17"/>
          <p:cNvSpPr txBox="1"/>
          <p:nvPr/>
        </p:nvSpPr>
        <p:spPr>
          <a:xfrm>
            <a:off x="877824" y="3328416"/>
            <a:ext cx="2971800" cy="731520"/>
          </a:xfrm>
          <a:prstGeom prst="rect">
            <a:avLst/>
          </a:prstGeom>
          <a:noFill/>
          <a:effectLst/>
        </p:spPr>
        <p:txBody>
          <a:bodyPr wrap="square" lIns="0" rIns="0" tIns="0" bIns="0" anchor="t">
            <a:spAutoFit/>
          </a:bodyPr>
          <a:lstStyle/>
          <a:p>
            <a:pPr algn="l">
              <a:lnSpc>
                <a:spcPct val="104000"/>
              </a:lnSpc>
              <a:spcBef>
                <a:spcPts val="0"/>
              </a:spcBef>
              <a:spcAft>
                <a:spcPts val="200"/>
              </a:spcAft>
            </a:pPr>
            <a:r>
              <a:rPr sz="2100" b="1">
                <a:solidFill>
                  <a:srgbClr val="111827"/>
                </a:solidFill>
                <a:latin typeface="Inter"/>
              </a:rPr>
              <a:t>Read business information</a:t>
            </a:r>
          </a:p>
        </p:txBody>
      </p:sp>
      <p:sp>
        <p:nvSpPr>
          <p:cNvPr id="19" name="TextBox 18"/>
          <p:cNvSpPr txBox="1"/>
          <p:nvPr/>
        </p:nvSpPr>
        <p:spPr>
          <a:xfrm>
            <a:off x="877824" y="4251960"/>
            <a:ext cx="2971800" cy="603504"/>
          </a:xfrm>
          <a:prstGeom prst="rect">
            <a:avLst/>
          </a:prstGeom>
          <a:noFill/>
          <a:effectLst/>
        </p:spPr>
        <p:txBody>
          <a:bodyPr wrap="square" lIns="0" rIns="0" tIns="0" bIns="0" anchor="t">
            <a:spAutoFit/>
          </a:bodyPr>
          <a:lstStyle/>
          <a:p>
            <a:pPr algn="l">
              <a:lnSpc>
                <a:spcPct val="104000"/>
              </a:lnSpc>
              <a:spcBef>
                <a:spcPts val="0"/>
              </a:spcBef>
              <a:spcAft>
                <a:spcPts val="200"/>
              </a:spcAft>
            </a:pPr>
            <a:r>
              <a:rPr sz="1430" b="0">
                <a:solidFill>
                  <a:srgbClr val="5F6B82"/>
                </a:solidFill>
                <a:latin typeface="Inter"/>
              </a:rPr>
              <a:t>Publish searchable sources and views.</a:t>
            </a:r>
          </a:p>
          <a:p>
            <a:pPr algn="l">
              <a:lnSpc>
                <a:spcPct val="104000"/>
              </a:lnSpc>
              <a:spcBef>
                <a:spcPts val="0"/>
              </a:spcBef>
              <a:spcAft>
                <a:spcPts val="200"/>
              </a:spcAft>
            </a:pPr>
            <a:r>
              <a:rPr sz="1430" b="0">
                <a:solidFill>
                  <a:srgbClr val="5F6B82"/>
                </a:solidFill>
                <a:latin typeface="Inter"/>
              </a:rPr>
              <a:t>Example: find a member.</a:t>
            </a:r>
          </a:p>
        </p:txBody>
      </p:sp>
      <p:sp>
        <p:nvSpPr>
          <p:cNvPr id="20" name="Rounded Rectangle 19"/>
          <p:cNvSpPr/>
          <p:nvPr/>
        </p:nvSpPr>
        <p:spPr>
          <a:xfrm>
            <a:off x="4361688" y="2221992"/>
            <a:ext cx="3465576" cy="2907792"/>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4361688" y="2221992"/>
            <a:ext cx="3465576" cy="50292"/>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4599431" y="2468880"/>
            <a:ext cx="530352" cy="530352"/>
          </a:xfrm>
          <a:prstGeom prst="ellipse">
            <a:avLst/>
          </a:prstGeom>
          <a:solidFill>
            <a:srgbClr val="E8FB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4"/>
          <a:stretch>
            <a:fillRect/>
          </a:stretch>
        </p:blipFill>
        <p:spPr>
          <a:xfrm>
            <a:off x="4722875" y="2592324"/>
            <a:ext cx="283464" cy="283464"/>
          </a:xfrm>
          <a:prstGeom prst="rect">
            <a:avLst/>
          </a:prstGeom>
          <a:effectLst/>
        </p:spPr>
      </p:pic>
      <p:sp>
        <p:nvSpPr>
          <p:cNvPr id="24" name="TextBox 23"/>
          <p:cNvSpPr txBox="1"/>
          <p:nvPr/>
        </p:nvSpPr>
        <p:spPr>
          <a:xfrm>
            <a:off x="5294375" y="2642616"/>
            <a:ext cx="224028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19C4A7"/>
                </a:solidFill>
                <a:latin typeface="Inter"/>
              </a:rPr>
              <a:t>PROCESS</a:t>
            </a:r>
          </a:p>
        </p:txBody>
      </p:sp>
      <p:sp>
        <p:nvSpPr>
          <p:cNvPr id="25" name="TextBox 24"/>
          <p:cNvSpPr txBox="1"/>
          <p:nvPr/>
        </p:nvSpPr>
        <p:spPr>
          <a:xfrm>
            <a:off x="4617720" y="3328416"/>
            <a:ext cx="2971800" cy="731520"/>
          </a:xfrm>
          <a:prstGeom prst="rect">
            <a:avLst/>
          </a:prstGeom>
          <a:noFill/>
          <a:effectLst/>
        </p:spPr>
        <p:txBody>
          <a:bodyPr wrap="square" lIns="0" rIns="0" tIns="0" bIns="0" anchor="t">
            <a:spAutoFit/>
          </a:bodyPr>
          <a:lstStyle/>
          <a:p>
            <a:pPr algn="l">
              <a:lnSpc>
                <a:spcPct val="104000"/>
              </a:lnSpc>
              <a:spcBef>
                <a:spcPts val="0"/>
              </a:spcBef>
              <a:spcAft>
                <a:spcPts val="200"/>
              </a:spcAft>
            </a:pPr>
            <a:r>
              <a:rPr sz="2100" b="1">
                <a:solidFill>
                  <a:srgbClr val="111827"/>
                </a:solidFill>
                <a:latin typeface="Inter"/>
              </a:rPr>
              <a:t>Execute business actions</a:t>
            </a:r>
          </a:p>
        </p:txBody>
      </p:sp>
      <p:sp>
        <p:nvSpPr>
          <p:cNvPr id="26" name="TextBox 25"/>
          <p:cNvSpPr txBox="1"/>
          <p:nvPr/>
        </p:nvSpPr>
        <p:spPr>
          <a:xfrm>
            <a:off x="4617720" y="4251960"/>
            <a:ext cx="2971800" cy="603504"/>
          </a:xfrm>
          <a:prstGeom prst="rect">
            <a:avLst/>
          </a:prstGeom>
          <a:noFill/>
          <a:effectLst/>
        </p:spPr>
        <p:txBody>
          <a:bodyPr wrap="square" lIns="0" rIns="0" tIns="0" bIns="0" anchor="t">
            <a:spAutoFit/>
          </a:bodyPr>
          <a:lstStyle/>
          <a:p>
            <a:pPr algn="l">
              <a:lnSpc>
                <a:spcPct val="104000"/>
              </a:lnSpc>
              <a:spcBef>
                <a:spcPts val="0"/>
              </a:spcBef>
              <a:spcAft>
                <a:spcPts val="200"/>
              </a:spcAft>
            </a:pPr>
            <a:r>
              <a:rPr sz="1430" b="0">
                <a:solidFill>
                  <a:srgbClr val="5F6B82"/>
                </a:solidFill>
                <a:latin typeface="Inter"/>
              </a:rPr>
              <a:t>Run steps and track process progress.</a:t>
            </a:r>
          </a:p>
          <a:p>
            <a:pPr algn="l">
              <a:lnSpc>
                <a:spcPct val="104000"/>
              </a:lnSpc>
              <a:spcBef>
                <a:spcPts val="0"/>
              </a:spcBef>
              <a:spcAft>
                <a:spcPts val="200"/>
              </a:spcAft>
            </a:pPr>
            <a:r>
              <a:rPr sz="1430" b="0">
                <a:solidFill>
                  <a:srgbClr val="5F6B82"/>
                </a:solidFill>
                <a:latin typeface="Inter"/>
              </a:rPr>
              <a:t>Example: select a provider.</a:t>
            </a:r>
          </a:p>
        </p:txBody>
      </p:sp>
      <p:sp>
        <p:nvSpPr>
          <p:cNvPr id="27" name="Rounded Rectangle 26"/>
          <p:cNvSpPr/>
          <p:nvPr/>
        </p:nvSpPr>
        <p:spPr>
          <a:xfrm>
            <a:off x="8101583" y="2221992"/>
            <a:ext cx="3465576" cy="2907792"/>
          </a:xfrm>
          <a:prstGeom prst="roundRect">
            <a:avLst>
              <a:gd name="adj" fmla="val 6500"/>
            </a:avLst>
          </a:prstGeom>
          <a:solidFill>
            <a:srgbClr val="FFFFFF"/>
          </a:solidFill>
          <a:ln w="10160">
            <a:solidFill>
              <a:srgbClr val="DEE4F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8101583" y="2221992"/>
            <a:ext cx="3465576" cy="50292"/>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8339327" y="2468880"/>
            <a:ext cx="530352" cy="530352"/>
          </a:xfrm>
          <a:prstGeom prst="ellipse">
            <a:avLst/>
          </a:prstGeom>
          <a:solidFill>
            <a:srgbClr val="F0ED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8462772" y="2592324"/>
            <a:ext cx="283464" cy="283464"/>
          </a:xfrm>
          <a:prstGeom prst="rect">
            <a:avLst/>
          </a:prstGeom>
          <a:effectLst/>
        </p:spPr>
      </p:pic>
      <p:sp>
        <p:nvSpPr>
          <p:cNvPr id="31" name="TextBox 30"/>
          <p:cNvSpPr txBox="1"/>
          <p:nvPr/>
        </p:nvSpPr>
        <p:spPr>
          <a:xfrm>
            <a:off x="9034272" y="2642616"/>
            <a:ext cx="224028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8B5CF6"/>
                </a:solidFill>
                <a:latin typeface="Inter"/>
              </a:rPr>
              <a:t>REGISTRY</a:t>
            </a:r>
          </a:p>
        </p:txBody>
      </p:sp>
      <p:sp>
        <p:nvSpPr>
          <p:cNvPr id="32" name="TextBox 31"/>
          <p:cNvSpPr txBox="1"/>
          <p:nvPr/>
        </p:nvSpPr>
        <p:spPr>
          <a:xfrm>
            <a:off x="8357615" y="3328416"/>
            <a:ext cx="2971800" cy="731520"/>
          </a:xfrm>
          <a:prstGeom prst="rect">
            <a:avLst/>
          </a:prstGeom>
          <a:noFill/>
          <a:effectLst/>
        </p:spPr>
        <p:txBody>
          <a:bodyPr wrap="square" lIns="0" rIns="0" tIns="0" bIns="0" anchor="t">
            <a:spAutoFit/>
          </a:bodyPr>
          <a:lstStyle/>
          <a:p>
            <a:pPr algn="l">
              <a:lnSpc>
                <a:spcPct val="104000"/>
              </a:lnSpc>
              <a:spcBef>
                <a:spcPts val="0"/>
              </a:spcBef>
              <a:spcAft>
                <a:spcPts val="200"/>
              </a:spcAft>
            </a:pPr>
            <a:r>
              <a:rPr sz="2100" b="1">
                <a:solidFill>
                  <a:srgbClr val="111827"/>
                </a:solidFill>
                <a:latin typeface="Inter"/>
              </a:rPr>
              <a:t>Describe how to call them</a:t>
            </a:r>
          </a:p>
        </p:txBody>
      </p:sp>
      <p:sp>
        <p:nvSpPr>
          <p:cNvPr id="33" name="TextBox 32"/>
          <p:cNvSpPr txBox="1"/>
          <p:nvPr/>
        </p:nvSpPr>
        <p:spPr>
          <a:xfrm>
            <a:off x="8357615" y="4251960"/>
            <a:ext cx="2971800" cy="603504"/>
          </a:xfrm>
          <a:prstGeom prst="rect">
            <a:avLst/>
          </a:prstGeom>
          <a:noFill/>
          <a:effectLst/>
        </p:spPr>
        <p:txBody>
          <a:bodyPr wrap="square" lIns="0" rIns="0" tIns="0" bIns="0" anchor="t">
            <a:spAutoFit/>
          </a:bodyPr>
          <a:lstStyle/>
          <a:p>
            <a:pPr algn="l">
              <a:lnSpc>
                <a:spcPct val="104000"/>
              </a:lnSpc>
              <a:spcBef>
                <a:spcPts val="0"/>
              </a:spcBef>
              <a:spcAft>
                <a:spcPts val="200"/>
              </a:spcAft>
            </a:pPr>
            <a:r>
              <a:rPr sz="1430" b="0">
                <a:solidFill>
                  <a:srgbClr val="5F6B82"/>
                </a:solidFill>
                <a:latin typeface="Inter"/>
              </a:rPr>
              <a:t>Publish names, inputs, and routes.</a:t>
            </a:r>
          </a:p>
          <a:p>
            <a:pPr algn="l">
              <a:lnSpc>
                <a:spcPct val="104000"/>
              </a:lnSpc>
              <a:spcBef>
                <a:spcPts val="0"/>
              </a:spcBef>
              <a:spcAft>
                <a:spcPts val="200"/>
              </a:spcAft>
            </a:pPr>
            <a:r>
              <a:rPr sz="1430" b="0">
                <a:solidFill>
                  <a:srgbClr val="5F6B82"/>
                </a:solidFill>
                <a:latin typeface="Inter"/>
              </a:rPr>
              <a:t>Apps and AI can discover the model.</a:t>
            </a:r>
          </a:p>
        </p:txBody>
      </p:sp>
      <p:sp>
        <p:nvSpPr>
          <p:cNvPr id="34" name="Rectangle 33"/>
          <p:cNvSpPr/>
          <p:nvPr/>
        </p:nvSpPr>
        <p:spPr>
          <a:xfrm>
            <a:off x="621792" y="5532120"/>
            <a:ext cx="10945368" cy="475488"/>
          </a:xfrm>
          <a:prstGeom prst="rect">
            <a:avLst/>
          </a:prstGeom>
          <a:solidFill>
            <a:srgbClr val="080C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32104" y="5646420"/>
            <a:ext cx="10515600" cy="265176"/>
          </a:xfrm>
          <a:prstGeom prst="rect">
            <a:avLst/>
          </a:prstGeom>
          <a:noFill/>
          <a:effectLst/>
        </p:spPr>
        <p:txBody>
          <a:bodyPr wrap="square" lIns="0" rIns="0" tIns="0" bIns="0" anchor="t">
            <a:spAutoFit/>
          </a:bodyPr>
          <a:lstStyle/>
          <a:p>
            <a:pPr algn="ctr">
              <a:lnSpc>
                <a:spcPct val="104000"/>
              </a:lnSpc>
              <a:spcBef>
                <a:spcPts val="0"/>
              </a:spcBef>
              <a:spcAft>
                <a:spcPts val="200"/>
              </a:spcAft>
            </a:pPr>
            <a:r>
              <a:rPr sz="1320" b="1">
                <a:solidFill>
                  <a:srgbClr val="FFFFFF"/>
                </a:solidFill>
                <a:latin typeface="Inter"/>
              </a:rPr>
              <a:t>More than a catalog: run the action, record progress, and return what can happen next.</a:t>
            </a:r>
          </a:p>
        </p:txBody>
      </p:sp>
      <p:sp>
        <p:nvSpPr>
          <p:cNvPr id="36" name="TextBox 35"/>
          <p:cNvSpPr txBox="1"/>
          <p:nvPr/>
        </p:nvSpPr>
        <p:spPr>
          <a:xfrm>
            <a:off x="621792" y="6272784"/>
            <a:ext cx="10881360" cy="164592"/>
          </a:xfrm>
          <a:prstGeom prst="rect">
            <a:avLst/>
          </a:prstGeom>
          <a:noFill/>
          <a:effectLst/>
        </p:spPr>
        <p:txBody>
          <a:bodyPr wrap="square" lIns="0" rIns="0" tIns="0" bIns="0" anchor="t">
            <a:spAutoFit/>
          </a:bodyPr>
          <a:lstStyle/>
          <a:p>
            <a:pPr algn="l">
              <a:lnSpc>
                <a:spcPct val="104000"/>
              </a:lnSpc>
              <a:spcBef>
                <a:spcPts val="0"/>
              </a:spcBef>
              <a:spcAft>
                <a:spcPts val="200"/>
              </a:spcAft>
            </a:pPr>
            <a:r>
              <a:rPr sz="850" b="0">
                <a:solidFill>
                  <a:srgbClr val="5F6B82"/>
                </a:solidFill>
                <a:latin typeface="Inter"/>
              </a:rPr>
              <a:t>The framework runs within your .NET services; your host supplies identity, business systems, and production storage.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C1E"/>
        </a:solidFill>
        <a:effectLst/>
      </p:bgPr>
    </p:bg>
    <p:spTree>
      <p:nvGrpSpPr>
        <p:cNvPr id="1" name=""/>
        <p:cNvGrpSpPr/>
        <p:nvPr/>
      </p:nvGrpSpPr>
      <p:grpSpPr/>
      <p:sp>
        <p:nvSpPr>
          <p:cNvPr id="2" name="Oval 1"/>
          <p:cNvSpPr/>
          <p:nvPr/>
        </p:nvSpPr>
        <p:spPr>
          <a:xfrm>
            <a:off x="9253728" y="146304"/>
            <a:ext cx="2606040" cy="2606040"/>
          </a:xfrm>
          <a:prstGeom prst="ellipse">
            <a:avLst/>
          </a:prstGeom>
          <a:solidFill>
            <a:srgbClr val="1513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Oval 2"/>
          <p:cNvSpPr/>
          <p:nvPr/>
        </p:nvSpPr>
        <p:spPr>
          <a:xfrm>
            <a:off x="10497312" y="5376672"/>
            <a:ext cx="1353312" cy="1353312"/>
          </a:xfrm>
          <a:prstGeom prst="ellipse">
            <a:avLst/>
          </a:prstGeom>
          <a:solidFill>
            <a:srgbClr val="0B203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0" y="0"/>
            <a:ext cx="12191969" cy="36576"/>
          </a:xfrm>
          <a:prstGeom prst="rect">
            <a:avLst/>
          </a:prstGeom>
          <a:solidFill>
            <a:srgbClr val="625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03504" y="393192"/>
            <a:ext cx="10058400" cy="2286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019" b="1">
                <a:solidFill>
                  <a:srgbClr val="B8C3DC"/>
                </a:solidFill>
                <a:latin typeface="Inter"/>
              </a:rPr>
              <a:t>HOW IT WORKS / RUN TIME</a:t>
            </a:r>
          </a:p>
        </p:txBody>
      </p:sp>
      <p:sp>
        <p:nvSpPr>
          <p:cNvPr id="6" name="TextBox 5"/>
          <p:cNvSpPr txBox="1"/>
          <p:nvPr/>
        </p:nvSpPr>
        <p:spPr>
          <a:xfrm>
            <a:off x="603504" y="832104"/>
            <a:ext cx="10972800" cy="621792"/>
          </a:xfrm>
          <a:prstGeom prst="rect">
            <a:avLst/>
          </a:prstGeom>
          <a:noFill/>
          <a:effectLst/>
        </p:spPr>
        <p:txBody>
          <a:bodyPr wrap="square" lIns="0" rIns="0" tIns="0" bIns="0" anchor="t">
            <a:spAutoFit/>
          </a:bodyPr>
          <a:lstStyle/>
          <a:p>
            <a:pPr algn="l">
              <a:lnSpc>
                <a:spcPct val="104000"/>
              </a:lnSpc>
              <a:spcBef>
                <a:spcPts val="0"/>
              </a:spcBef>
              <a:spcAft>
                <a:spcPts val="200"/>
              </a:spcAft>
            </a:pPr>
            <a:r>
              <a:rPr sz="2800" b="1">
                <a:solidFill>
                  <a:srgbClr val="FFFFFF"/>
                </a:solidFill>
                <a:latin typeface="Inter"/>
              </a:rPr>
              <a:t>What happens when someone calls a step?</a:t>
            </a:r>
          </a:p>
        </p:txBody>
      </p:sp>
      <p:sp>
        <p:nvSpPr>
          <p:cNvPr id="7" name="TextBox 6"/>
          <p:cNvSpPr txBox="1"/>
          <p:nvPr/>
        </p:nvSpPr>
        <p:spPr>
          <a:xfrm>
            <a:off x="603504" y="1508760"/>
            <a:ext cx="10936224" cy="457200"/>
          </a:xfrm>
          <a:prstGeom prst="rect">
            <a:avLst/>
          </a:prstGeom>
          <a:noFill/>
          <a:effectLst/>
        </p:spPr>
        <p:txBody>
          <a:bodyPr wrap="square" lIns="0" rIns="0" tIns="0" bIns="0" anchor="t">
            <a:spAutoFit/>
          </a:bodyPr>
          <a:lstStyle/>
          <a:p>
            <a:pPr algn="l">
              <a:lnSpc>
                <a:spcPct val="104000"/>
              </a:lnSpc>
              <a:spcBef>
                <a:spcPts val="0"/>
              </a:spcBef>
              <a:spcAft>
                <a:spcPts val="200"/>
              </a:spcAft>
            </a:pPr>
            <a:r>
              <a:rPr sz="1420" b="0">
                <a:solidFill>
                  <a:srgbClr val="B8C3DC"/>
                </a:solidFill>
                <a:latin typeface="Inter"/>
              </a:rPr>
              <a:t>The caller requests an action. Kaleido applies process rules, invokes the business code, and returns continuation data.</a:t>
            </a:r>
          </a:p>
        </p:txBody>
      </p:sp>
      <p:cxnSp>
        <p:nvCxnSpPr>
          <p:cNvPr id="8" name="Connector 7"/>
          <p:cNvCxnSpPr/>
          <p:nvPr/>
        </p:nvCxnSpPr>
        <p:spPr>
          <a:xfrm>
            <a:off x="603504" y="6492240"/>
            <a:ext cx="10981944" cy="0"/>
          </a:xfrm>
          <a:prstGeom prst="line">
            <a:avLst/>
          </a:prstGeom>
          <a:ln w="6350">
            <a:solidFill>
              <a:srgbClr val="26314E"/>
            </a:solidFill>
          </a:ln>
          <a:effectLst/>
        </p:spPr>
        <p:style>
          <a:lnRef idx="2">
            <a:schemeClr val="accent1"/>
          </a:lnRef>
          <a:fillRef idx="0">
            <a:schemeClr val="accent1"/>
          </a:fillRef>
          <a:effectRef idx="0">
            <a:schemeClr val="accent1"/>
          </a:effectRef>
          <a:fontRef idx="minor">
            <a:schemeClr val="tx1"/>
          </a:fontRef>
        </p:style>
      </p:cxnSp>
      <p:pic>
        <p:nvPicPr>
          <p:cNvPr id="9" name="Picture 8" descr="image.png"/>
          <p:cNvPicPr>
            <a:picLocks noChangeAspect="1"/>
          </p:cNvPicPr>
          <p:nvPr/>
        </p:nvPicPr>
        <p:blipFill>
          <a:blip r:embed="rId2"/>
          <a:stretch>
            <a:fillRect/>
          </a:stretch>
        </p:blipFill>
        <p:spPr>
          <a:xfrm>
            <a:off x="621792" y="6583680"/>
            <a:ext cx="142084" cy="164592"/>
          </a:xfrm>
          <a:prstGeom prst="rect">
            <a:avLst/>
          </a:prstGeom>
          <a:effectLst/>
        </p:spPr>
      </p:pic>
      <p:sp>
        <p:nvSpPr>
          <p:cNvPr id="10" name="TextBox 9"/>
          <p:cNvSpPr txBox="1"/>
          <p:nvPr/>
        </p:nvSpPr>
        <p:spPr>
          <a:xfrm>
            <a:off x="877824" y="6574536"/>
            <a:ext cx="4572000"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B8C3DC"/>
                </a:solidFill>
                <a:latin typeface="Inter"/>
              </a:rPr>
              <a:t>Kaleido  |  Framework overview</a:t>
            </a:r>
          </a:p>
        </p:txBody>
      </p:sp>
      <p:sp>
        <p:nvSpPr>
          <p:cNvPr id="11" name="TextBox 10"/>
          <p:cNvSpPr txBox="1"/>
          <p:nvPr/>
        </p:nvSpPr>
        <p:spPr>
          <a:xfrm>
            <a:off x="8723376" y="6574536"/>
            <a:ext cx="249631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00" b="0">
                <a:solidFill>
                  <a:srgbClr val="B8C3DC"/>
                </a:solidFill>
                <a:latin typeface="Inter"/>
              </a:rPr>
              <a:t>PRE-1.0 PROJECT PREVIEW</a:t>
            </a:r>
          </a:p>
        </p:txBody>
      </p:sp>
      <p:sp>
        <p:nvSpPr>
          <p:cNvPr id="12" name="TextBox 11"/>
          <p:cNvSpPr txBox="1"/>
          <p:nvPr/>
        </p:nvSpPr>
        <p:spPr>
          <a:xfrm>
            <a:off x="11274552" y="6574536"/>
            <a:ext cx="301752" cy="173736"/>
          </a:xfrm>
          <a:prstGeom prst="rect">
            <a:avLst/>
          </a:prstGeom>
          <a:noFill/>
          <a:effectLst/>
        </p:spPr>
        <p:txBody>
          <a:bodyPr wrap="square" lIns="0" rIns="0" tIns="0" bIns="0" anchor="t">
            <a:spAutoFit/>
          </a:bodyPr>
          <a:lstStyle/>
          <a:p>
            <a:pPr algn="l">
              <a:lnSpc>
                <a:spcPct val="104000"/>
              </a:lnSpc>
              <a:spcBef>
                <a:spcPts val="0"/>
              </a:spcBef>
              <a:spcAft>
                <a:spcPts val="200"/>
              </a:spcAft>
            </a:pPr>
            <a:r>
              <a:rPr sz="830" b="0">
                <a:solidFill>
                  <a:srgbClr val="B8C3DC"/>
                </a:solidFill>
                <a:latin typeface="Inter"/>
              </a:rPr>
              <a:t>07</a:t>
            </a:r>
          </a:p>
        </p:txBody>
      </p:sp>
      <p:sp>
        <p:nvSpPr>
          <p:cNvPr id="13" name="Rounded Rectangle 12"/>
          <p:cNvSpPr/>
          <p:nvPr/>
        </p:nvSpPr>
        <p:spPr>
          <a:xfrm>
            <a:off x="621792" y="2039112"/>
            <a:ext cx="10945368" cy="484632"/>
          </a:xfrm>
          <a:prstGeom prst="roundRect">
            <a:avLst>
              <a:gd name="adj" fmla="val 65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9536" y="2167128"/>
            <a:ext cx="1828800" cy="210312"/>
          </a:xfrm>
          <a:prstGeom prst="rect">
            <a:avLst/>
          </a:prstGeom>
          <a:noFill/>
          <a:effectLst/>
        </p:spPr>
        <p:txBody>
          <a:bodyPr wrap="square" lIns="0" rIns="0" tIns="0" bIns="0" anchor="t">
            <a:spAutoFit/>
          </a:bodyPr>
          <a:lstStyle/>
          <a:p>
            <a:pPr algn="l">
              <a:lnSpc>
                <a:spcPct val="104000"/>
              </a:lnSpc>
              <a:spcBef>
                <a:spcPts val="0"/>
              </a:spcBef>
              <a:spcAft>
                <a:spcPts val="200"/>
              </a:spcAft>
            </a:pPr>
            <a:r>
              <a:rPr sz="1090" b="1">
                <a:solidFill>
                  <a:srgbClr val="21B6D7"/>
                </a:solidFill>
                <a:latin typeface="Inter"/>
              </a:rPr>
              <a:t>CALLER SENDS</a:t>
            </a:r>
          </a:p>
        </p:txBody>
      </p:sp>
      <p:sp>
        <p:nvSpPr>
          <p:cNvPr id="15" name="TextBox 14"/>
          <p:cNvSpPr txBox="1"/>
          <p:nvPr/>
        </p:nvSpPr>
        <p:spPr>
          <a:xfrm>
            <a:off x="2788920" y="2153412"/>
            <a:ext cx="8439912" cy="256032"/>
          </a:xfrm>
          <a:prstGeom prst="rect">
            <a:avLst/>
          </a:prstGeom>
          <a:noFill/>
          <a:effectLst/>
        </p:spPr>
        <p:txBody>
          <a:bodyPr wrap="square" lIns="0" rIns="0" tIns="0" bIns="0" anchor="t">
            <a:spAutoFit/>
          </a:bodyPr>
          <a:lstStyle/>
          <a:p>
            <a:pPr algn="l">
              <a:lnSpc>
                <a:spcPct val="104000"/>
              </a:lnSpc>
              <a:spcBef>
                <a:spcPts val="0"/>
              </a:spcBef>
              <a:spcAft>
                <a:spcPts val="200"/>
              </a:spcAft>
            </a:pPr>
            <a:r>
              <a:rPr sz="1500" b="1">
                <a:solidFill>
                  <a:srgbClr val="FFFFFF"/>
                </a:solidFill>
                <a:latin typeface="Inter"/>
              </a:rPr>
              <a:t>Step name + input values + process ID (when continuing)</a:t>
            </a:r>
          </a:p>
        </p:txBody>
      </p:sp>
      <p:cxnSp>
        <p:nvCxnSpPr>
          <p:cNvPr id="16" name="Connector 15"/>
          <p:cNvCxnSpPr/>
          <p:nvPr/>
        </p:nvCxnSpPr>
        <p:spPr>
          <a:xfrm>
            <a:off x="2587752" y="3685032"/>
            <a:ext cx="274320" cy="0"/>
          </a:xfrm>
          <a:prstGeom prst="line">
            <a:avLst/>
          </a:prstGeom>
          <a:ln w="2032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4828032" y="3685032"/>
            <a:ext cx="274320" cy="0"/>
          </a:xfrm>
          <a:prstGeom prst="line">
            <a:avLst/>
          </a:prstGeom>
          <a:ln w="2032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068312" y="3685032"/>
            <a:ext cx="274320" cy="0"/>
          </a:xfrm>
          <a:prstGeom prst="line">
            <a:avLst/>
          </a:prstGeom>
          <a:ln w="2032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9308592" y="3685032"/>
            <a:ext cx="274320" cy="0"/>
          </a:xfrm>
          <a:prstGeom prst="line">
            <a:avLst/>
          </a:prstGeom>
          <a:ln w="20320">
            <a:solidFill>
              <a:srgbClr val="8B5CF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621792" y="2880360"/>
            <a:ext cx="1984248" cy="1645920"/>
          </a:xfrm>
          <a:prstGeom prst="roundRect">
            <a:avLst>
              <a:gd name="adj" fmla="val 6500"/>
            </a:avLst>
          </a:prstGeom>
          <a:solidFill>
            <a:srgbClr val="111A32"/>
          </a:solidFill>
          <a:ln w="10160">
            <a:solidFill>
              <a:srgbClr val="2732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86384" y="3090672"/>
            <a:ext cx="1645920" cy="201168"/>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21B6D7"/>
                </a:solidFill>
                <a:latin typeface="Inter"/>
              </a:rPr>
              <a:t>01</a:t>
            </a:r>
          </a:p>
        </p:txBody>
      </p:sp>
      <p:sp>
        <p:nvSpPr>
          <p:cNvPr id="22" name="TextBox 21"/>
          <p:cNvSpPr txBox="1"/>
          <p:nvPr/>
        </p:nvSpPr>
        <p:spPr>
          <a:xfrm>
            <a:off x="786384" y="3502152"/>
            <a:ext cx="1673352" cy="347472"/>
          </a:xfrm>
          <a:prstGeom prst="rect">
            <a:avLst/>
          </a:prstGeom>
          <a:noFill/>
          <a:effectLst/>
        </p:spPr>
        <p:txBody>
          <a:bodyPr wrap="square" lIns="0" rIns="0" tIns="0" bIns="0" anchor="t">
            <a:spAutoFit/>
          </a:bodyPr>
          <a:lstStyle/>
          <a:p>
            <a:pPr algn="l">
              <a:lnSpc>
                <a:spcPct val="104000"/>
              </a:lnSpc>
              <a:spcBef>
                <a:spcPts val="0"/>
              </a:spcBef>
              <a:spcAft>
                <a:spcPts val="200"/>
              </a:spcAft>
            </a:pPr>
            <a:r>
              <a:rPr sz="1800" b="1">
                <a:solidFill>
                  <a:srgbClr val="FFFFFF"/>
                </a:solidFill>
                <a:latin typeface="Inter"/>
              </a:rPr>
              <a:t>Load state</a:t>
            </a:r>
          </a:p>
        </p:txBody>
      </p:sp>
      <p:sp>
        <p:nvSpPr>
          <p:cNvPr id="23" name="TextBox 22"/>
          <p:cNvSpPr txBox="1"/>
          <p:nvPr/>
        </p:nvSpPr>
        <p:spPr>
          <a:xfrm>
            <a:off x="786384" y="3941063"/>
            <a:ext cx="1664208" cy="530352"/>
          </a:xfrm>
          <a:prstGeom prst="rect">
            <a:avLst/>
          </a:prstGeom>
          <a:noFill/>
          <a:effectLst/>
        </p:spPr>
        <p:txBody>
          <a:bodyPr wrap="square" lIns="0" rIns="0" tIns="0" bIns="0" anchor="t">
            <a:spAutoFit/>
          </a:bodyPr>
          <a:lstStyle/>
          <a:p>
            <a:pPr algn="l">
              <a:lnSpc>
                <a:spcPct val="104000"/>
              </a:lnSpc>
              <a:spcBef>
                <a:spcPts val="0"/>
              </a:spcBef>
              <a:spcAft>
                <a:spcPts val="200"/>
              </a:spcAft>
            </a:pPr>
            <a:r>
              <a:rPr sz="1250" b="0">
                <a:solidFill>
                  <a:srgbClr val="B8C3DC"/>
                </a:solidFill>
                <a:latin typeface="Inter"/>
              </a:rPr>
              <a:t>Create or reload</a:t>
            </a:r>
          </a:p>
          <a:p>
            <a:pPr algn="l">
              <a:lnSpc>
                <a:spcPct val="104000"/>
              </a:lnSpc>
              <a:spcBef>
                <a:spcPts val="0"/>
              </a:spcBef>
              <a:spcAft>
                <a:spcPts val="200"/>
              </a:spcAft>
            </a:pPr>
            <a:r>
              <a:rPr sz="1250" b="0">
                <a:solidFill>
                  <a:srgbClr val="B8C3DC"/>
                </a:solidFill>
                <a:latin typeface="Inter"/>
              </a:rPr>
              <a:t>process progress.</a:t>
            </a:r>
          </a:p>
        </p:txBody>
      </p:sp>
      <p:sp>
        <p:nvSpPr>
          <p:cNvPr id="24" name="Rounded Rectangle 23"/>
          <p:cNvSpPr/>
          <p:nvPr/>
        </p:nvSpPr>
        <p:spPr>
          <a:xfrm>
            <a:off x="2862072" y="2880360"/>
            <a:ext cx="1984248" cy="1645920"/>
          </a:xfrm>
          <a:prstGeom prst="roundRect">
            <a:avLst>
              <a:gd name="adj" fmla="val 6500"/>
            </a:avLst>
          </a:prstGeom>
          <a:solidFill>
            <a:srgbClr val="111A32"/>
          </a:solidFill>
          <a:ln w="10160">
            <a:solidFill>
              <a:srgbClr val="2732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026664" y="3090672"/>
            <a:ext cx="1645920" cy="201168"/>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8B5CF6"/>
                </a:solidFill>
                <a:latin typeface="Inter"/>
              </a:rPr>
              <a:t>02</a:t>
            </a:r>
          </a:p>
        </p:txBody>
      </p:sp>
      <p:sp>
        <p:nvSpPr>
          <p:cNvPr id="26" name="TextBox 25"/>
          <p:cNvSpPr txBox="1"/>
          <p:nvPr/>
        </p:nvSpPr>
        <p:spPr>
          <a:xfrm>
            <a:off x="3026664" y="3502152"/>
            <a:ext cx="1673352" cy="347472"/>
          </a:xfrm>
          <a:prstGeom prst="rect">
            <a:avLst/>
          </a:prstGeom>
          <a:noFill/>
          <a:effectLst/>
        </p:spPr>
        <p:txBody>
          <a:bodyPr wrap="square" lIns="0" rIns="0" tIns="0" bIns="0" anchor="t">
            <a:spAutoFit/>
          </a:bodyPr>
          <a:lstStyle/>
          <a:p>
            <a:pPr algn="l">
              <a:lnSpc>
                <a:spcPct val="104000"/>
              </a:lnSpc>
              <a:spcBef>
                <a:spcPts val="0"/>
              </a:spcBef>
              <a:spcAft>
                <a:spcPts val="200"/>
              </a:spcAft>
            </a:pPr>
            <a:r>
              <a:rPr sz="1800" b="1">
                <a:solidFill>
                  <a:srgbClr val="FFFFFF"/>
                </a:solidFill>
                <a:latin typeface="Inter"/>
              </a:rPr>
              <a:t>Check request</a:t>
            </a:r>
          </a:p>
        </p:txBody>
      </p:sp>
      <p:sp>
        <p:nvSpPr>
          <p:cNvPr id="27" name="TextBox 26"/>
          <p:cNvSpPr txBox="1"/>
          <p:nvPr/>
        </p:nvSpPr>
        <p:spPr>
          <a:xfrm>
            <a:off x="3026664" y="3941063"/>
            <a:ext cx="1664208" cy="530352"/>
          </a:xfrm>
          <a:prstGeom prst="rect">
            <a:avLst/>
          </a:prstGeom>
          <a:noFill/>
          <a:effectLst/>
        </p:spPr>
        <p:txBody>
          <a:bodyPr wrap="square" lIns="0" rIns="0" tIns="0" bIns="0" anchor="t">
            <a:spAutoFit/>
          </a:bodyPr>
          <a:lstStyle/>
          <a:p>
            <a:pPr algn="l">
              <a:lnSpc>
                <a:spcPct val="104000"/>
              </a:lnSpc>
              <a:spcBef>
                <a:spcPts val="0"/>
              </a:spcBef>
              <a:spcAft>
                <a:spcPts val="200"/>
              </a:spcAft>
            </a:pPr>
            <a:r>
              <a:rPr sz="1250" b="0">
                <a:solidFill>
                  <a:srgbClr val="B8C3DC"/>
                </a:solidFill>
                <a:latin typeface="Inter"/>
              </a:rPr>
              <a:t>Inputs, completed</a:t>
            </a:r>
          </a:p>
          <a:p>
            <a:pPr algn="l">
              <a:lnSpc>
                <a:spcPct val="104000"/>
              </a:lnSpc>
              <a:spcBef>
                <a:spcPts val="0"/>
              </a:spcBef>
              <a:spcAft>
                <a:spcPts val="200"/>
              </a:spcAft>
            </a:pPr>
            <a:r>
              <a:rPr sz="1250" b="0">
                <a:solidFill>
                  <a:srgbClr val="B8C3DC"/>
                </a:solidFill>
                <a:latin typeface="Inter"/>
              </a:rPr>
              <a:t>steps, availability.</a:t>
            </a:r>
          </a:p>
        </p:txBody>
      </p:sp>
      <p:sp>
        <p:nvSpPr>
          <p:cNvPr id="28" name="Rounded Rectangle 27"/>
          <p:cNvSpPr/>
          <p:nvPr/>
        </p:nvSpPr>
        <p:spPr>
          <a:xfrm>
            <a:off x="5102352" y="2880360"/>
            <a:ext cx="1984248" cy="1645920"/>
          </a:xfrm>
          <a:prstGeom prst="roundRect">
            <a:avLst>
              <a:gd name="adj" fmla="val 6500"/>
            </a:avLst>
          </a:prstGeom>
          <a:solidFill>
            <a:srgbClr val="111A32"/>
          </a:solidFill>
          <a:ln w="10160">
            <a:solidFill>
              <a:srgbClr val="2732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266944" y="3090672"/>
            <a:ext cx="1645920" cy="201168"/>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19C4A7"/>
                </a:solidFill>
                <a:latin typeface="Inter"/>
              </a:rPr>
              <a:t>03</a:t>
            </a:r>
          </a:p>
        </p:txBody>
      </p:sp>
      <p:sp>
        <p:nvSpPr>
          <p:cNvPr id="30" name="TextBox 29"/>
          <p:cNvSpPr txBox="1"/>
          <p:nvPr/>
        </p:nvSpPr>
        <p:spPr>
          <a:xfrm>
            <a:off x="5266944" y="3502152"/>
            <a:ext cx="1673352" cy="347472"/>
          </a:xfrm>
          <a:prstGeom prst="rect">
            <a:avLst/>
          </a:prstGeom>
          <a:noFill/>
          <a:effectLst/>
        </p:spPr>
        <p:txBody>
          <a:bodyPr wrap="square" lIns="0" rIns="0" tIns="0" bIns="0" anchor="t">
            <a:spAutoFit/>
          </a:bodyPr>
          <a:lstStyle/>
          <a:p>
            <a:pPr algn="l">
              <a:lnSpc>
                <a:spcPct val="104000"/>
              </a:lnSpc>
              <a:spcBef>
                <a:spcPts val="0"/>
              </a:spcBef>
              <a:spcAft>
                <a:spcPts val="200"/>
              </a:spcAft>
            </a:pPr>
            <a:r>
              <a:rPr sz="1800" b="1">
                <a:solidFill>
                  <a:srgbClr val="FFFFFF"/>
                </a:solidFill>
                <a:latin typeface="Inter"/>
              </a:rPr>
              <a:t>Run handler</a:t>
            </a:r>
          </a:p>
        </p:txBody>
      </p:sp>
      <p:sp>
        <p:nvSpPr>
          <p:cNvPr id="31" name="TextBox 30"/>
          <p:cNvSpPr txBox="1"/>
          <p:nvPr/>
        </p:nvSpPr>
        <p:spPr>
          <a:xfrm>
            <a:off x="5266944" y="3941063"/>
            <a:ext cx="1664208" cy="530352"/>
          </a:xfrm>
          <a:prstGeom prst="rect">
            <a:avLst/>
          </a:prstGeom>
          <a:noFill/>
          <a:effectLst/>
        </p:spPr>
        <p:txBody>
          <a:bodyPr wrap="square" lIns="0" rIns="0" tIns="0" bIns="0" anchor="t">
            <a:spAutoFit/>
          </a:bodyPr>
          <a:lstStyle/>
          <a:p>
            <a:pPr algn="l">
              <a:lnSpc>
                <a:spcPct val="104000"/>
              </a:lnSpc>
              <a:spcBef>
                <a:spcPts val="0"/>
              </a:spcBef>
              <a:spcAft>
                <a:spcPts val="200"/>
              </a:spcAft>
            </a:pPr>
            <a:r>
              <a:rPr sz="1250" b="0">
                <a:solidFill>
                  <a:srgbClr val="B8C3DC"/>
                </a:solidFill>
                <a:latin typeface="Inter"/>
              </a:rPr>
              <a:t>Business meaning</a:t>
            </a:r>
          </a:p>
          <a:p>
            <a:pPr algn="l">
              <a:lnSpc>
                <a:spcPct val="104000"/>
              </a:lnSpc>
              <a:spcBef>
                <a:spcPts val="0"/>
              </a:spcBef>
              <a:spcAft>
                <a:spcPts val="200"/>
              </a:spcAft>
            </a:pPr>
            <a:r>
              <a:rPr sz="1250" b="0">
                <a:solidFill>
                  <a:srgbClr val="B8C3DC"/>
                </a:solidFill>
                <a:latin typeface="Inter"/>
              </a:rPr>
              <a:t>and business action.</a:t>
            </a:r>
          </a:p>
        </p:txBody>
      </p:sp>
      <p:sp>
        <p:nvSpPr>
          <p:cNvPr id="32" name="Rounded Rectangle 31"/>
          <p:cNvSpPr/>
          <p:nvPr/>
        </p:nvSpPr>
        <p:spPr>
          <a:xfrm>
            <a:off x="7342632" y="2880360"/>
            <a:ext cx="1984248" cy="1645920"/>
          </a:xfrm>
          <a:prstGeom prst="roundRect">
            <a:avLst>
              <a:gd name="adj" fmla="val 6500"/>
            </a:avLst>
          </a:prstGeom>
          <a:solidFill>
            <a:srgbClr val="111A32"/>
          </a:solidFill>
          <a:ln w="10160">
            <a:solidFill>
              <a:srgbClr val="2732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507224" y="3090672"/>
            <a:ext cx="1645920" cy="201168"/>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8B5CF6"/>
                </a:solidFill>
                <a:latin typeface="Inter"/>
              </a:rPr>
              <a:t>04</a:t>
            </a:r>
          </a:p>
        </p:txBody>
      </p:sp>
      <p:sp>
        <p:nvSpPr>
          <p:cNvPr id="34" name="TextBox 33"/>
          <p:cNvSpPr txBox="1"/>
          <p:nvPr/>
        </p:nvSpPr>
        <p:spPr>
          <a:xfrm>
            <a:off x="7507224" y="3502152"/>
            <a:ext cx="1673352" cy="347472"/>
          </a:xfrm>
          <a:prstGeom prst="rect">
            <a:avLst/>
          </a:prstGeom>
          <a:noFill/>
          <a:effectLst/>
        </p:spPr>
        <p:txBody>
          <a:bodyPr wrap="square" lIns="0" rIns="0" tIns="0" bIns="0" anchor="t">
            <a:spAutoFit/>
          </a:bodyPr>
          <a:lstStyle/>
          <a:p>
            <a:pPr algn="l">
              <a:lnSpc>
                <a:spcPct val="104000"/>
              </a:lnSpc>
              <a:spcBef>
                <a:spcPts val="0"/>
              </a:spcBef>
              <a:spcAft>
                <a:spcPts val="200"/>
              </a:spcAft>
            </a:pPr>
            <a:r>
              <a:rPr sz="1800" b="1">
                <a:solidFill>
                  <a:srgbClr val="FFFFFF"/>
                </a:solidFill>
                <a:latin typeface="Inter"/>
              </a:rPr>
              <a:t>Save state</a:t>
            </a:r>
          </a:p>
        </p:txBody>
      </p:sp>
      <p:sp>
        <p:nvSpPr>
          <p:cNvPr id="35" name="TextBox 34"/>
          <p:cNvSpPr txBox="1"/>
          <p:nvPr/>
        </p:nvSpPr>
        <p:spPr>
          <a:xfrm>
            <a:off x="7507224" y="3941063"/>
            <a:ext cx="1664208" cy="530352"/>
          </a:xfrm>
          <a:prstGeom prst="rect">
            <a:avLst/>
          </a:prstGeom>
          <a:noFill/>
          <a:effectLst/>
        </p:spPr>
        <p:txBody>
          <a:bodyPr wrap="square" lIns="0" rIns="0" tIns="0" bIns="0" anchor="t">
            <a:spAutoFit/>
          </a:bodyPr>
          <a:lstStyle/>
          <a:p>
            <a:pPr algn="l">
              <a:lnSpc>
                <a:spcPct val="104000"/>
              </a:lnSpc>
              <a:spcBef>
                <a:spcPts val="0"/>
              </a:spcBef>
              <a:spcAft>
                <a:spcPts val="200"/>
              </a:spcAft>
            </a:pPr>
            <a:r>
              <a:rPr sz="1250" b="0">
                <a:solidFill>
                  <a:srgbClr val="B8C3DC"/>
                </a:solidFill>
                <a:latin typeface="Inter"/>
              </a:rPr>
              <a:t>Record outcome +</a:t>
            </a:r>
          </a:p>
          <a:p>
            <a:pPr algn="l">
              <a:lnSpc>
                <a:spcPct val="104000"/>
              </a:lnSpc>
              <a:spcBef>
                <a:spcPts val="0"/>
              </a:spcBef>
              <a:spcAft>
                <a:spcPts val="200"/>
              </a:spcAft>
            </a:pPr>
            <a:r>
              <a:rPr sz="1250" b="0">
                <a:solidFill>
                  <a:srgbClr val="B8C3DC"/>
                </a:solidFill>
                <a:latin typeface="Inter"/>
              </a:rPr>
              <a:t>process progress.</a:t>
            </a:r>
          </a:p>
        </p:txBody>
      </p:sp>
      <p:sp>
        <p:nvSpPr>
          <p:cNvPr id="36" name="Rounded Rectangle 35"/>
          <p:cNvSpPr/>
          <p:nvPr/>
        </p:nvSpPr>
        <p:spPr>
          <a:xfrm>
            <a:off x="9582912" y="2880360"/>
            <a:ext cx="1984248" cy="1645920"/>
          </a:xfrm>
          <a:prstGeom prst="roundRect">
            <a:avLst>
              <a:gd name="adj" fmla="val 6500"/>
            </a:avLst>
          </a:prstGeom>
          <a:solidFill>
            <a:srgbClr val="111A32"/>
          </a:solidFill>
          <a:ln w="10160">
            <a:solidFill>
              <a:srgbClr val="27325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47504" y="3090672"/>
            <a:ext cx="1645920" cy="201168"/>
          </a:xfrm>
          <a:prstGeom prst="rect">
            <a:avLst/>
          </a:prstGeom>
          <a:noFill/>
          <a:effectLst/>
        </p:spPr>
        <p:txBody>
          <a:bodyPr wrap="square" lIns="0" rIns="0" tIns="0" bIns="0" anchor="t">
            <a:spAutoFit/>
          </a:bodyPr>
          <a:lstStyle/>
          <a:p>
            <a:pPr algn="l">
              <a:lnSpc>
                <a:spcPct val="104000"/>
              </a:lnSpc>
              <a:spcBef>
                <a:spcPts val="0"/>
              </a:spcBef>
              <a:spcAft>
                <a:spcPts val="200"/>
              </a:spcAft>
            </a:pPr>
            <a:r>
              <a:rPr sz="1120" b="1">
                <a:solidFill>
                  <a:srgbClr val="21B6D7"/>
                </a:solidFill>
                <a:latin typeface="Inter"/>
              </a:rPr>
              <a:t>05</a:t>
            </a:r>
          </a:p>
        </p:txBody>
      </p:sp>
      <p:sp>
        <p:nvSpPr>
          <p:cNvPr id="38" name="TextBox 37"/>
          <p:cNvSpPr txBox="1"/>
          <p:nvPr/>
        </p:nvSpPr>
        <p:spPr>
          <a:xfrm>
            <a:off x="9747504" y="3502152"/>
            <a:ext cx="1673352" cy="347472"/>
          </a:xfrm>
          <a:prstGeom prst="rect">
            <a:avLst/>
          </a:prstGeom>
          <a:noFill/>
          <a:effectLst/>
        </p:spPr>
        <p:txBody>
          <a:bodyPr wrap="square" lIns="0" rIns="0" tIns="0" bIns="0" anchor="t">
            <a:spAutoFit/>
          </a:bodyPr>
          <a:lstStyle/>
          <a:p>
            <a:pPr algn="l">
              <a:lnSpc>
                <a:spcPct val="104000"/>
              </a:lnSpc>
              <a:spcBef>
                <a:spcPts val="0"/>
              </a:spcBef>
              <a:spcAft>
                <a:spcPts val="200"/>
              </a:spcAft>
            </a:pPr>
            <a:r>
              <a:rPr sz="1800" b="1">
                <a:solidFill>
                  <a:srgbClr val="FFFFFF"/>
                </a:solidFill>
                <a:latin typeface="Inter"/>
              </a:rPr>
              <a:t>Return next</a:t>
            </a:r>
          </a:p>
        </p:txBody>
      </p:sp>
      <p:sp>
        <p:nvSpPr>
          <p:cNvPr id="39" name="TextBox 38"/>
          <p:cNvSpPr txBox="1"/>
          <p:nvPr/>
        </p:nvSpPr>
        <p:spPr>
          <a:xfrm>
            <a:off x="9747504" y="3941063"/>
            <a:ext cx="1664208" cy="530352"/>
          </a:xfrm>
          <a:prstGeom prst="rect">
            <a:avLst/>
          </a:prstGeom>
          <a:noFill/>
          <a:effectLst/>
        </p:spPr>
        <p:txBody>
          <a:bodyPr wrap="square" lIns="0" rIns="0" tIns="0" bIns="0" anchor="t">
            <a:spAutoFit/>
          </a:bodyPr>
          <a:lstStyle/>
          <a:p>
            <a:pPr algn="l">
              <a:lnSpc>
                <a:spcPct val="104000"/>
              </a:lnSpc>
              <a:spcBef>
                <a:spcPts val="0"/>
              </a:spcBef>
              <a:spcAft>
                <a:spcPts val="200"/>
              </a:spcAft>
            </a:pPr>
            <a:r>
              <a:rPr sz="1250" b="0">
                <a:solidFill>
                  <a:srgbClr val="B8C3DC"/>
                </a:solidFill>
                <a:latin typeface="Inter"/>
              </a:rPr>
              <a:t>Result, process ID,</a:t>
            </a:r>
          </a:p>
          <a:p>
            <a:pPr algn="l">
              <a:lnSpc>
                <a:spcPct val="104000"/>
              </a:lnSpc>
              <a:spcBef>
                <a:spcPts val="0"/>
              </a:spcBef>
              <a:spcAft>
                <a:spcPts val="200"/>
              </a:spcAft>
            </a:pPr>
            <a:r>
              <a:rPr sz="1250" b="0">
                <a:solidFill>
                  <a:srgbClr val="B8C3DC"/>
                </a:solidFill>
                <a:latin typeface="Inter"/>
              </a:rPr>
              <a:t>and next work.</a:t>
            </a:r>
          </a:p>
        </p:txBody>
      </p:sp>
      <p:sp>
        <p:nvSpPr>
          <p:cNvPr id="40" name="TextBox 39"/>
          <p:cNvSpPr txBox="1"/>
          <p:nvPr/>
        </p:nvSpPr>
        <p:spPr>
          <a:xfrm>
            <a:off x="658368" y="4873752"/>
            <a:ext cx="10899648" cy="292608"/>
          </a:xfrm>
          <a:prstGeom prst="rect">
            <a:avLst/>
          </a:prstGeom>
          <a:noFill/>
          <a:effectLst/>
        </p:spPr>
        <p:txBody>
          <a:bodyPr wrap="square" lIns="0" rIns="0" tIns="0" bIns="0" anchor="t">
            <a:spAutoFit/>
          </a:bodyPr>
          <a:lstStyle/>
          <a:p>
            <a:pPr algn="l">
              <a:lnSpc>
                <a:spcPct val="104000"/>
              </a:lnSpc>
              <a:spcBef>
                <a:spcPts val="0"/>
              </a:spcBef>
              <a:spcAft>
                <a:spcPts val="200"/>
              </a:spcAft>
            </a:pPr>
            <a:r>
              <a:rPr sz="1700" b="1">
                <a:solidFill>
                  <a:srgbClr val="FFFFFF"/>
                </a:solidFill>
                <a:latin typeface="Inter"/>
              </a:rPr>
              <a:t>The response explains the next work—it is not just a success code.</a:t>
            </a:r>
          </a:p>
        </p:txBody>
      </p:sp>
      <p:sp>
        <p:nvSpPr>
          <p:cNvPr id="41" name="Rounded Rectangle 40"/>
          <p:cNvSpPr/>
          <p:nvPr/>
        </p:nvSpPr>
        <p:spPr>
          <a:xfrm>
            <a:off x="621792" y="5458968"/>
            <a:ext cx="3465576" cy="484632"/>
          </a:xfrm>
          <a:prstGeom prst="roundRect">
            <a:avLst>
              <a:gd name="adj" fmla="val 65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621792" y="5458968"/>
            <a:ext cx="50292" cy="484632"/>
          </a:xfrm>
          <a:prstGeom prst="rect">
            <a:avLst/>
          </a:prstGeom>
          <a:solidFill>
            <a:srgbClr val="8B5C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04672" y="5609844"/>
            <a:ext cx="3090672" cy="201168"/>
          </a:xfrm>
          <a:prstGeom prst="rect">
            <a:avLst/>
          </a:prstGeom>
          <a:noFill/>
          <a:effectLst/>
        </p:spPr>
        <p:txBody>
          <a:bodyPr wrap="square" lIns="0" rIns="0" tIns="0" bIns="0" anchor="t">
            <a:spAutoFit/>
          </a:bodyPr>
          <a:lstStyle/>
          <a:p>
            <a:pPr algn="ctr">
              <a:lnSpc>
                <a:spcPct val="104000"/>
              </a:lnSpc>
              <a:spcBef>
                <a:spcPts val="0"/>
              </a:spcBef>
              <a:spcAft>
                <a:spcPts val="200"/>
              </a:spcAft>
            </a:pPr>
            <a:r>
              <a:rPr sz="1120" b="1">
                <a:solidFill>
                  <a:srgbClr val="8B5CF6"/>
                </a:solidFill>
                <a:latin typeface="Inter"/>
              </a:rPr>
              <a:t>REQUIRED STEP</a:t>
            </a:r>
          </a:p>
        </p:txBody>
      </p:sp>
      <p:sp>
        <p:nvSpPr>
          <p:cNvPr id="44" name="Rounded Rectangle 43"/>
          <p:cNvSpPr/>
          <p:nvPr/>
        </p:nvSpPr>
        <p:spPr>
          <a:xfrm>
            <a:off x="4361688" y="5458968"/>
            <a:ext cx="3465576" cy="484632"/>
          </a:xfrm>
          <a:prstGeom prst="roundRect">
            <a:avLst>
              <a:gd name="adj" fmla="val 65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4361688" y="5458968"/>
            <a:ext cx="50292" cy="484632"/>
          </a:xfrm>
          <a:prstGeom prst="rect">
            <a:avLst/>
          </a:prstGeom>
          <a:solidFill>
            <a:srgbClr val="19C4A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544568" y="5609844"/>
            <a:ext cx="3090672" cy="201168"/>
          </a:xfrm>
          <a:prstGeom prst="rect">
            <a:avLst/>
          </a:prstGeom>
          <a:noFill/>
          <a:effectLst/>
        </p:spPr>
        <p:txBody>
          <a:bodyPr wrap="square" lIns="0" rIns="0" tIns="0" bIns="0" anchor="t">
            <a:spAutoFit/>
          </a:bodyPr>
          <a:lstStyle/>
          <a:p>
            <a:pPr algn="ctr">
              <a:lnSpc>
                <a:spcPct val="104000"/>
              </a:lnSpc>
              <a:spcBef>
                <a:spcPts val="0"/>
              </a:spcBef>
              <a:spcAft>
                <a:spcPts val="200"/>
              </a:spcAft>
            </a:pPr>
            <a:r>
              <a:rPr sz="1120" b="1">
                <a:solidFill>
                  <a:srgbClr val="19C4A7"/>
                </a:solidFill>
                <a:latin typeface="Inter"/>
              </a:rPr>
              <a:t>AVAILABLE CHOICES</a:t>
            </a:r>
          </a:p>
        </p:txBody>
      </p:sp>
      <p:sp>
        <p:nvSpPr>
          <p:cNvPr id="47" name="Rounded Rectangle 46"/>
          <p:cNvSpPr/>
          <p:nvPr/>
        </p:nvSpPr>
        <p:spPr>
          <a:xfrm>
            <a:off x="8101583" y="5458968"/>
            <a:ext cx="3465576" cy="484632"/>
          </a:xfrm>
          <a:prstGeom prst="roundRect">
            <a:avLst>
              <a:gd name="adj" fmla="val 6500"/>
            </a:avLst>
          </a:prstGeom>
          <a:solidFill>
            <a:srgbClr val="1722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8101583" y="5458968"/>
            <a:ext cx="50292" cy="484632"/>
          </a:xfrm>
          <a:prstGeom prst="rect">
            <a:avLst/>
          </a:prstGeom>
          <a:solidFill>
            <a:srgbClr val="21B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8284463" y="5609844"/>
            <a:ext cx="3090672" cy="201168"/>
          </a:xfrm>
          <a:prstGeom prst="rect">
            <a:avLst/>
          </a:prstGeom>
          <a:noFill/>
          <a:effectLst/>
        </p:spPr>
        <p:txBody>
          <a:bodyPr wrap="square" lIns="0" rIns="0" tIns="0" bIns="0" anchor="t">
            <a:spAutoFit/>
          </a:bodyPr>
          <a:lstStyle/>
          <a:p>
            <a:pPr algn="ctr">
              <a:lnSpc>
                <a:spcPct val="104000"/>
              </a:lnSpc>
              <a:spcBef>
                <a:spcPts val="0"/>
              </a:spcBef>
              <a:spcAft>
                <a:spcPts val="200"/>
              </a:spcAft>
            </a:pPr>
            <a:r>
              <a:rPr sz="1120" b="1">
                <a:solidFill>
                  <a:srgbClr val="21B6D7"/>
                </a:solidFill>
                <a:latin typeface="Inter"/>
              </a:rPr>
              <a:t>QUESTIONS TO ANSWER</a:t>
            </a:r>
          </a:p>
        </p:txBody>
      </p:sp>
      <p:sp>
        <p:nvSpPr>
          <p:cNvPr id="50" name="TextBox 49"/>
          <p:cNvSpPr txBox="1"/>
          <p:nvPr/>
        </p:nvSpPr>
        <p:spPr>
          <a:xfrm>
            <a:off x="621792" y="6272784"/>
            <a:ext cx="10881360" cy="164592"/>
          </a:xfrm>
          <a:prstGeom prst="rect">
            <a:avLst/>
          </a:prstGeom>
          <a:noFill/>
          <a:effectLst/>
        </p:spPr>
        <p:txBody>
          <a:bodyPr wrap="square" lIns="0" rIns="0" tIns="0" bIns="0" anchor="t">
            <a:spAutoFit/>
          </a:bodyPr>
          <a:lstStyle/>
          <a:p>
            <a:pPr algn="l">
              <a:lnSpc>
                <a:spcPct val="104000"/>
              </a:lnSpc>
              <a:spcBef>
                <a:spcPts val="0"/>
              </a:spcBef>
              <a:spcAft>
                <a:spcPts val="200"/>
              </a:spcAft>
            </a:pPr>
            <a:r>
              <a:rPr sz="850" b="0">
                <a:solidFill>
                  <a:srgbClr val="B8C3DC"/>
                </a:solidFill>
                <a:latin typeface="Inter"/>
              </a:rPr>
              <a:t>Conceptual lifecycle. Host authorization is also required; business writes and framework state are not automatically one transaction.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Kaleido - What It Is, What It Solves, and How It Works</dc:title>
  <dc:subject>Framework overview: query, process runtime, registry and AI-native MCP access</dc:subject>
  <dc:creator/>
  <cp:keywords>Kaleido; .NET; business services; process runtime; MCP; AI; presenter notes</cp:keywords>
  <dc:description>Updated from Kaleido_Executive_Overview_v2(1).pptx. Source notes accompany every slide. Preview positioning is not a release certification.</dc:description>
  <cp:lastModifiedBy>Steve Canny</cp:lastModifiedBy>
  <cp:revision>1</cp:revision>
  <dcterms:created xsi:type="dcterms:W3CDTF">2013-01-27T09:14:16Z</dcterms:created>
  <dcterms:modified xsi:type="dcterms:W3CDTF">2013-01-27T09:15:58Z</dcterms:modified>
  <cp:category/>
</cp:coreProperties>
</file>