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_DARK">
    <p:bg>
      <p:bgPr>
        <a:solidFill>
          <a:srgbClr val="08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B5BF7"/>
          </a:solidFill>
          <a:ln w="12700">
            <a:solidFill>
              <a:srgbClr val="5B5BF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0A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_LIGHT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5B5BF7"/>
          </a:solidFill>
          <a:ln w="12700">
            <a:solidFill>
              <a:srgbClr val="5B5BF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4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0A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image" Target="../media/image-4-16.png"/><Relationship Id="rId17" Type="http://schemas.openxmlformats.org/officeDocument/2006/relationships/image" Target="../media/image-4-17.svg"/><Relationship Id="rId18" Type="http://schemas.openxmlformats.org/officeDocument/2006/relationships/image" Target="../media/image-4-18.png"/><Relationship Id="rId19" Type="http://schemas.openxmlformats.org/officeDocument/2006/relationships/image" Target="../media/image-4-19.svg"/><Relationship Id="rId20" Type="http://schemas.openxmlformats.org/officeDocument/2006/relationships/image" Target="../media/image-4-20.png"/><Relationship Id="rId21" Type="http://schemas.openxmlformats.org/officeDocument/2006/relationships/image" Target="../media/image-4-21.svg"/><Relationship Id="rId22" Type="http://schemas.openxmlformats.org/officeDocument/2006/relationships/image" Target="../media/image-4-22.png"/><Relationship Id="rId23" Type="http://schemas.openxmlformats.org/officeDocument/2006/relationships/image" Target="../media/image-4-23.svg"/><Relationship Id="rId24" Type="http://schemas.openxmlformats.org/officeDocument/2006/relationships/image" Target="../media/image-4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hyperlink" Target="https://www.pega.com/products/platform/workflow-automation" TargetMode="External"/><Relationship Id="rId8" Type="http://schemas.openxmlformats.org/officeDocument/2006/relationships/hyperlink" Target="https://www.hl7.org/fhir/us/davinci-crd/" TargetMode="External"/><Relationship Id="rId9" Type="http://schemas.openxmlformats.org/officeDocument/2006/relationships/hyperlink" Target="https://www.hl7.org/fhir/us/davinci-dtr/" TargetMode="External"/><Relationship Id="rId10" Type="http://schemas.openxmlformats.org/officeDocument/2006/relationships/hyperlink" Target="https://www.hl7.org/fhir/us/davinci-pas/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11" Type="http://schemas.openxmlformats.org/officeDocument/2006/relationships/image" Target="../media/image-5-7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image" Target="../media/image-7-25.png"/><Relationship Id="rId26" Type="http://schemas.openxmlformats.org/officeDocument/2006/relationships/image" Target="../media/image-7-26.svg"/><Relationship Id="rId27" Type="http://schemas.openxmlformats.org/officeDocument/2006/relationships/image" Target="../media/image-7-27.png"/><Relationship Id="rId28" Type="http://schemas.openxmlformats.org/officeDocument/2006/relationships/image" Target="../media/image-7-28.svg"/><Relationship Id="rId29" Type="http://schemas.openxmlformats.org/officeDocument/2006/relationships/image" Target="../media/image-7-29.png"/><Relationship Id="rId30" Type="http://schemas.openxmlformats.org/officeDocument/2006/relationships/image" Target="../media/image-7-30.svg"/><Relationship Id="rId31" Type="http://schemas.openxmlformats.org/officeDocument/2006/relationships/image" Target="../media/image-7-31.png"/><Relationship Id="rId32" Type="http://schemas.openxmlformats.org/officeDocument/2006/relationships/image" Target="../media/image-7-32.svg"/><Relationship Id="rId33" Type="http://schemas.openxmlformats.org/officeDocument/2006/relationships/image" Target="../media/image-7-33.png"/><Relationship Id="rId34" Type="http://schemas.openxmlformats.org/officeDocument/2006/relationships/image" Target="../media/image-7-34.svg"/><Relationship Id="rId35" Type="http://schemas.openxmlformats.org/officeDocument/2006/relationships/image" Target="../media/image-7-35.png"/><Relationship Id="rId36" Type="http://schemas.openxmlformats.org/officeDocument/2006/relationships/image" Target="../media/image-7-36.svg"/><Relationship Id="rId37" Type="http://schemas.openxmlformats.org/officeDocument/2006/relationships/image" Target="../media/image-7-37.png"/><Relationship Id="rId38" Type="http://schemas.openxmlformats.org/officeDocument/2006/relationships/image" Target="../media/image-7-38.svg"/><Relationship Id="rId39" Type="http://schemas.openxmlformats.org/officeDocument/2006/relationships/image" Target="../media/image-7-39.png"/><Relationship Id="rId40" Type="http://schemas.openxmlformats.org/officeDocument/2006/relationships/image" Target="../media/image-7-40.svg"/><Relationship Id="rId41" Type="http://schemas.openxmlformats.org/officeDocument/2006/relationships/image" Target="../media/image-7-41.png"/><Relationship Id="rId42" Type="http://schemas.openxmlformats.org/officeDocument/2006/relationships/image" Target="../media/image-7-42.svg"/><Relationship Id="rId43" Type="http://schemas.openxmlformats.org/officeDocument/2006/relationships/image" Target="../media/image-7-43.png"/><Relationship Id="rId44" Type="http://schemas.openxmlformats.org/officeDocument/2006/relationships/slideLayout" Target="../slideLayouts/slideLayout3.xml"/><Relationship Id="rId4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1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aleido-brand/docs/assets/kaleido-slide-cover-16x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10928" y="347472"/>
            <a:ext cx="1673352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96000"/>
            </a:srgbClr>
          </a:solidFill>
          <a:ln w="889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710928" y="352044"/>
            <a:ext cx="1673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C1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OVERVIEW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832104" y="605332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spc="20" kern="0" dirty="0">
                <a:solidFill>
                  <a:srgbClr val="D8D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Workflows • channels • interoperability • governed AI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281160" y="6062472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b="1" spc="100" kern="0" dirty="0">
                <a:solidFill>
                  <a:srgbClr val="A9B4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PRE-1.0 PROJECT PREVIEW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"/>
            <a:ext cx="3337560" cy="333756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663440"/>
            <a:ext cx="2743200" cy="2011680"/>
          </a:xfrm>
          <a:prstGeom prst="ellipse">
            <a:avLst/>
          </a:prstGeom>
          <a:solidFill>
            <a:srgbClr val="21B6D7">
              <a:alpha val="8000"/>
            </a:srgbClr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757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554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983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126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" y="393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9BA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LEADERSHIP SHOULD CARE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integration tax grows with every new consumer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1106424"/>
            <a:ext cx="10469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7C0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shared capability contract, each workflow, channel, standard, and agent rebuilds the same business integration.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7512" y="1572768"/>
            <a:ext cx="3822192" cy="4535424"/>
          </a:xfrm>
          <a:prstGeom prst="roundRect">
            <a:avLst>
              <a:gd name="adj" fmla="val 1914"/>
            </a:avLst>
          </a:prstGeom>
          <a:solidFill>
            <a:srgbClr val="10182F"/>
          </a:solidFill>
          <a:ln w="10160">
            <a:solidFill>
              <a:srgbClr val="303B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" y="1828800"/>
            <a:ext cx="1325880" cy="283464"/>
          </a:xfrm>
          <a:prstGeom prst="roundRect">
            <a:avLst>
              <a:gd name="adj" fmla="val 25806"/>
            </a:avLst>
          </a:prstGeom>
          <a:solidFill>
            <a:srgbClr val="3C2148"/>
          </a:solidFill>
          <a:ln w="8890">
            <a:solidFill>
              <a:srgbClr val="B64FD9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1832" y="18333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5" kern="0" dirty="0">
                <a:solidFill>
                  <a:srgbClr val="F6C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KALEIDO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2212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consumer builds its own path</a:t>
            </a:r>
            <a:endParaRPr lang="en-US" sz="1720" dirty="0"/>
          </a:p>
        </p:txBody>
      </p:sp>
      <p:sp>
        <p:nvSpPr>
          <p:cNvPr id="26" name="Shape 24"/>
          <p:cNvSpPr/>
          <p:nvPr/>
        </p:nvSpPr>
        <p:spPr>
          <a:xfrm>
            <a:off x="941832" y="2706624"/>
            <a:ext cx="320040" cy="32004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1443" y="2796235"/>
            <a:ext cx="140818" cy="140818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389888" y="2697480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/ Pega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2670048" y="2697480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929D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adapter • mapping • rules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941832" y="3145536"/>
            <a:ext cx="320040" cy="32004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443" y="3235147"/>
            <a:ext cx="140818" cy="140818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389888" y="3136392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IVR / contact center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2670048" y="3136392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929D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adapter • mapping • rules</a:t>
            </a:r>
            <a:endParaRPr lang="en-US" sz="830" dirty="0"/>
          </a:p>
        </p:txBody>
      </p:sp>
      <p:sp>
        <p:nvSpPr>
          <p:cNvPr id="34" name="Shape 30"/>
          <p:cNvSpPr/>
          <p:nvPr/>
        </p:nvSpPr>
        <p:spPr>
          <a:xfrm>
            <a:off x="941832" y="3584448"/>
            <a:ext cx="320040" cy="32004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1443" y="3674059"/>
            <a:ext cx="140818" cy="140818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389888" y="3575304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and mobile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2670048" y="3575304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929D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adapter • mapping • rules</a:t>
            </a:r>
            <a:endParaRPr lang="en-US" sz="830" dirty="0"/>
          </a:p>
        </p:txBody>
      </p:sp>
      <p:sp>
        <p:nvSpPr>
          <p:cNvPr id="38" name="Shape 33"/>
          <p:cNvSpPr/>
          <p:nvPr/>
        </p:nvSpPr>
        <p:spPr>
          <a:xfrm>
            <a:off x="941832" y="4023360"/>
            <a:ext cx="320040" cy="32004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1443" y="4112971"/>
            <a:ext cx="140818" cy="140818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389888" y="4014216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Vinci / partners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2670048" y="4014216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929D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adapter • mapping • rules</a:t>
            </a:r>
            <a:endParaRPr lang="en-US" sz="830" dirty="0"/>
          </a:p>
        </p:txBody>
      </p:sp>
      <p:sp>
        <p:nvSpPr>
          <p:cNvPr id="42" name="Shape 36"/>
          <p:cNvSpPr/>
          <p:nvPr/>
        </p:nvSpPr>
        <p:spPr>
          <a:xfrm>
            <a:off x="941832" y="4462272"/>
            <a:ext cx="320040" cy="32004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1443" y="4551883"/>
            <a:ext cx="140818" cy="140818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1389888" y="4453128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agents</a:t>
            </a:r>
            <a:endParaRPr lang="en-US" sz="1050" dirty="0"/>
          </a:p>
        </p:txBody>
      </p:sp>
      <p:sp>
        <p:nvSpPr>
          <p:cNvPr id="45" name="Text 38"/>
          <p:cNvSpPr txBox="1"/>
          <p:nvPr/>
        </p:nvSpPr>
        <p:spPr>
          <a:xfrm>
            <a:off x="2670048" y="4453128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929D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adapter • mapping • rules</a:t>
            </a:r>
            <a:endParaRPr lang="en-US" sz="830" dirty="0"/>
          </a:p>
        </p:txBody>
      </p:sp>
      <p:sp>
        <p:nvSpPr>
          <p:cNvPr id="46" name="Shape 39"/>
          <p:cNvSpPr/>
          <p:nvPr/>
        </p:nvSpPr>
        <p:spPr>
          <a:xfrm>
            <a:off x="941832" y="5001768"/>
            <a:ext cx="3273552" cy="0"/>
          </a:xfrm>
          <a:prstGeom prst="line">
            <a:avLst/>
          </a:prstGeom>
          <a:noFill/>
          <a:ln w="10160">
            <a:solidFill>
              <a:srgbClr val="3A4564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941832" y="5184648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C8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 validation, state handling, errors, testing, and maintenance.</a:t>
            </a:r>
            <a:endParaRPr lang="en-US" sz="1050" dirty="0"/>
          </a:p>
        </p:txBody>
      </p:sp>
      <p:sp>
        <p:nvSpPr>
          <p:cNvPr id="48" name="Shape 41"/>
          <p:cNvSpPr/>
          <p:nvPr/>
        </p:nvSpPr>
        <p:spPr>
          <a:xfrm>
            <a:off x="941832" y="5623560"/>
            <a:ext cx="3246120" cy="310896"/>
          </a:xfrm>
          <a:prstGeom prst="roundRect">
            <a:avLst>
              <a:gd name="adj" fmla="val 23529"/>
            </a:avLst>
          </a:prstGeom>
          <a:solidFill>
            <a:srgbClr val="243052"/>
          </a:solidFill>
          <a:ln w="10160">
            <a:solidFill>
              <a:srgbClr val="445171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941832" y="5632704"/>
            <a:ext cx="3246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65" kern="0" dirty="0">
                <a:solidFill>
                  <a:srgbClr val="CB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AND INCONSISTENCY COMPOUND</a:t>
            </a:r>
            <a:endParaRPr lang="en-US" sz="750" dirty="0"/>
          </a:p>
        </p:txBody>
      </p:sp>
      <p:sp>
        <p:nvSpPr>
          <p:cNvPr id="50" name="Shape 43"/>
          <p:cNvSpPr/>
          <p:nvPr/>
        </p:nvSpPr>
        <p:spPr>
          <a:xfrm>
            <a:off x="4736592" y="1572768"/>
            <a:ext cx="6812280" cy="4535424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2700">
            <a:solidFill>
              <a:srgbClr val="737EB5">
                <a:alpha val="45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0B1024">
                <a:alpha val="18000"/>
              </a:srgbClr>
            </a:outerShdw>
          </a:effectLst>
        </p:spPr>
      </p:sp>
      <p:pic>
        <p:nvPicPr>
          <p:cNvPr id="51" name="Image 5" descr="/mnt/data/kaleido-brand/docs/assets/kaleido-landing-page-concep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6592" y="1572768"/>
            <a:ext cx="6812280" cy="4535424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7178040" y="5641848"/>
            <a:ext cx="4050792" cy="310896"/>
          </a:xfrm>
          <a:prstGeom prst="roundRect">
            <a:avLst>
              <a:gd name="adj" fmla="val 23529"/>
            </a:avLst>
          </a:prstGeom>
          <a:solidFill>
            <a:srgbClr val="5B5BF7"/>
          </a:solidFill>
          <a:ln w="8890">
            <a:solidFill>
              <a:srgbClr val="A5ACFF">
                <a:alpha val="55000"/>
              </a:srgbClr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7178040" y="5646420"/>
            <a:ext cx="4050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spc="7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AFTER: ONE SHARED CAPABILITY CONTRACT</a:t>
            </a:r>
            <a:endParaRPr lang="en-US" sz="770" dirty="0"/>
          </a:p>
        </p:txBody>
      </p:sp>
      <p:sp>
        <p:nvSpPr>
          <p:cNvPr id="54" name="Shape 46"/>
          <p:cNvSpPr/>
          <p:nvPr/>
        </p:nvSpPr>
        <p:spPr>
          <a:xfrm>
            <a:off x="667512" y="6446520"/>
            <a:ext cx="10808208" cy="0"/>
          </a:xfrm>
          <a:prstGeom prst="line">
            <a:avLst/>
          </a:prstGeom>
          <a:noFill/>
          <a:ln w="7620">
            <a:solidFill>
              <a:srgbClr val="2D385A"/>
            </a:solidFill>
            <a:prstDash val="solid"/>
          </a:ln>
        </p:spPr>
      </p:sp>
      <p:pic>
        <p:nvPicPr>
          <p:cNvPr id="55" name="Image 6" descr="/mnt/data/kaleido-brand/docs/assets/kaleido-mark-white.png">    </p:cNvPr>
          <p:cNvPicPr>
            <a:picLocks noChangeAspect="1"/>
          </p:cNvPicPr>
          <p:nvPr/>
        </p:nvPicPr>
        <p:blipFill>
          <a:blip r:embed="rId12">
            <a:alphaModFix amt="85000"/>
          </a:blip>
          <a:stretch>
            <a:fillRect/>
          </a:stretch>
        </p:blipFill>
        <p:spPr>
          <a:xfrm>
            <a:off x="667512" y="6510528"/>
            <a:ext cx="146304" cy="169164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896112" y="6492240"/>
            <a:ext cx="8869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F8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value: reduce duplicated integration while preserving the platforms already in place.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0A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137160"/>
            <a:ext cx="3246120" cy="3246120"/>
          </a:xfrm>
          <a:prstGeom prst="ellipse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892040"/>
            <a:ext cx="1920240" cy="1737360"/>
          </a:xfrm>
          <a:prstGeom prst="ellipse">
            <a:avLst/>
          </a:prstGeom>
          <a:solidFill>
            <a:srgbClr val="3182F6">
              <a:alpha val="5000"/>
            </a:srgbClr>
          </a:solidFill>
          <a:ln w="12700">
            <a:solidFill>
              <a:srgbClr val="3182F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393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5B5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KALEIDO DOES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business building blocks make the model memorable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106424"/>
            <a:ext cx="10469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executive language describes the outcome; the Kaleido term identifies the framework primitive.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7512" y="1737360"/>
            <a:ext cx="3236976" cy="3776472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10160">
            <a:solidFill>
              <a:srgbClr val="E3E7F0"/>
            </a:solidFill>
            <a:prstDash val="solid"/>
          </a:ln>
          <a:effectLst>
            <a:outerShdw sx="100000" sy="100000" kx="0" ky="0" algn="bl" rotWithShape="0" blurRad="20320" dist="50800" dir="2700000">
              <a:srgbClr val="11182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1737360"/>
            <a:ext cx="3236976" cy="73152"/>
          </a:xfrm>
          <a:prstGeom prst="rect">
            <a:avLst/>
          </a:prstGeom>
          <a:solidFill>
            <a:srgbClr val="21B6D7"/>
          </a:solidFill>
          <a:ln w="12700">
            <a:solidFill>
              <a:srgbClr val="21B6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" y="2029968"/>
            <a:ext cx="603504" cy="603504"/>
          </a:xfrm>
          <a:prstGeom prst="ellipse">
            <a:avLst/>
          </a:prstGeom>
          <a:solidFill>
            <a:srgbClr val="EAFBFE"/>
          </a:solidFill>
          <a:ln w="12700">
            <a:solidFill>
              <a:srgbClr val="EAFBFE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25" y="2198949"/>
            <a:ext cx="265542" cy="26554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55064" y="2048256"/>
            <a:ext cx="1051560" cy="265176"/>
          </a:xfrm>
          <a:prstGeom prst="roundRect">
            <a:avLst>
              <a:gd name="adj" fmla="val 27586"/>
            </a:avLst>
          </a:prstGeom>
          <a:solidFill>
            <a:srgbClr val="EAFBFE"/>
          </a:solidFill>
          <a:ln w="8890">
            <a:solidFill>
              <a:srgbClr val="EAFBFE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55064" y="20528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spc="85" kern="0" dirty="0">
                <a:solidFill>
                  <a:srgbClr val="21B6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QUERYABLE</a:t>
            </a:r>
            <a:endParaRPr lang="en-US" sz="740" dirty="0"/>
          </a:p>
        </p:txBody>
      </p:sp>
      <p:sp>
        <p:nvSpPr>
          <p:cNvPr id="13" name="Text 10"/>
          <p:cNvSpPr txBox="1"/>
          <p:nvPr/>
        </p:nvSpPr>
        <p:spPr>
          <a:xfrm>
            <a:off x="923544" y="2587752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Information</a:t>
            </a:r>
            <a:endParaRPr lang="en-US" sz="1950" dirty="0"/>
          </a:p>
        </p:txBody>
      </p:sp>
      <p:sp>
        <p:nvSpPr>
          <p:cNvPr id="14" name="Text 11"/>
          <p:cNvSpPr txBox="1"/>
          <p:nvPr/>
        </p:nvSpPr>
        <p:spPr>
          <a:xfrm>
            <a:off x="923544" y="3127248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the business know?</a:t>
            </a:r>
            <a:endParaRPr lang="en-US" sz="1280" dirty="0"/>
          </a:p>
        </p:txBody>
      </p:sp>
      <p:sp>
        <p:nvSpPr>
          <p:cNvPr id="15" name="Shape 12"/>
          <p:cNvSpPr/>
          <p:nvPr/>
        </p:nvSpPr>
        <p:spPr>
          <a:xfrm>
            <a:off x="950976" y="3758184"/>
            <a:ext cx="91440" cy="9144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52144" y="3657600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views and parameters</a:t>
            </a:r>
            <a:endParaRPr lang="en-US" sz="1090" dirty="0"/>
          </a:p>
        </p:txBody>
      </p:sp>
      <p:sp>
        <p:nvSpPr>
          <p:cNvPr id="17" name="Shape 14"/>
          <p:cNvSpPr/>
          <p:nvPr/>
        </p:nvSpPr>
        <p:spPr>
          <a:xfrm>
            <a:off x="950976" y="4187952"/>
            <a:ext cx="91440" cy="9144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52144" y="4087368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Search, filter, sort, and page</a:t>
            </a:r>
            <a:endParaRPr lang="en-US" sz="1090" dirty="0"/>
          </a:p>
        </p:txBody>
      </p:sp>
      <p:sp>
        <p:nvSpPr>
          <p:cNvPr id="19" name="Shape 16"/>
          <p:cNvSpPr/>
          <p:nvPr/>
        </p:nvSpPr>
        <p:spPr>
          <a:xfrm>
            <a:off x="950976" y="4617720"/>
            <a:ext cx="91440" cy="9144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52144" y="4517136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 field and constraint metadata</a:t>
            </a:r>
            <a:endParaRPr lang="en-US" sz="1090" dirty="0"/>
          </a:p>
        </p:txBody>
      </p:sp>
      <p:sp>
        <p:nvSpPr>
          <p:cNvPr id="21" name="Shape 18"/>
          <p:cNvSpPr/>
          <p:nvPr/>
        </p:nvSpPr>
        <p:spPr>
          <a:xfrm>
            <a:off x="923544" y="5074920"/>
            <a:ext cx="2212848" cy="283464"/>
          </a:xfrm>
          <a:prstGeom prst="roundRect">
            <a:avLst>
              <a:gd name="adj" fmla="val 25806"/>
            </a:avLst>
          </a:prstGeom>
          <a:solidFill>
            <a:srgbClr val="EAFBFE"/>
          </a:solidFill>
          <a:ln w="8890">
            <a:solidFill>
              <a:srgbClr val="EAFBFE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3544" y="50794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50" kern="0" dirty="0">
                <a:solidFill>
                  <a:srgbClr val="21B6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INFORMATION CONTRACTS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4160520" y="1737360"/>
            <a:ext cx="3236976" cy="3776472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10160">
            <a:solidFill>
              <a:srgbClr val="E3E7F0"/>
            </a:solidFill>
            <a:prstDash val="solid"/>
          </a:ln>
          <a:effectLst>
            <a:outerShdw sx="100000" sy="100000" kx="0" ky="0" algn="bl" rotWithShape="0" blurRad="258064000" dist="645160000" dir="162000000000">
              <a:srgbClr val="111827">
                <a:alpha val="100000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160520" y="1737360"/>
            <a:ext cx="3236976" cy="73152"/>
          </a:xfrm>
          <a:prstGeom prst="rect">
            <a:avLst/>
          </a:prstGeom>
          <a:solidFill>
            <a:srgbClr val="19C4A7"/>
          </a:solidFill>
          <a:ln w="12700">
            <a:solidFill>
              <a:srgbClr val="19C4A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16552" y="2029968"/>
            <a:ext cx="603504" cy="603504"/>
          </a:xfrm>
          <a:prstGeom prst="ellipse">
            <a:avLst/>
          </a:prstGeom>
          <a:solidFill>
            <a:srgbClr val="E9FBF7"/>
          </a:solidFill>
          <a:ln w="12700">
            <a:solidFill>
              <a:srgbClr val="E9FBF7">
                <a:alpha val="0"/>
              </a:srgbClr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5533" y="2198949"/>
            <a:ext cx="265542" cy="265542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148072" y="2048256"/>
            <a:ext cx="1051560" cy="265176"/>
          </a:xfrm>
          <a:prstGeom prst="roundRect">
            <a:avLst>
              <a:gd name="adj" fmla="val 27586"/>
            </a:avLst>
          </a:prstGeom>
          <a:solidFill>
            <a:srgbClr val="E9FBF7"/>
          </a:solidFill>
          <a:ln w="8890">
            <a:solidFill>
              <a:srgbClr val="E9FBF7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148072" y="20528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spc="85" kern="0" dirty="0">
                <a:solidFill>
                  <a:srgbClr val="19C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</a:t>
            </a:r>
            <a:endParaRPr lang="en-US" sz="740" dirty="0"/>
          </a:p>
        </p:txBody>
      </p:sp>
      <p:sp>
        <p:nvSpPr>
          <p:cNvPr id="29" name="Text 25"/>
          <p:cNvSpPr txBox="1"/>
          <p:nvPr/>
        </p:nvSpPr>
        <p:spPr>
          <a:xfrm>
            <a:off x="4416552" y="2587752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Actions</a:t>
            </a:r>
            <a:endParaRPr lang="en-US" sz="1950" dirty="0"/>
          </a:p>
        </p:txBody>
      </p:sp>
      <p:sp>
        <p:nvSpPr>
          <p:cNvPr id="30" name="Text 26"/>
          <p:cNvSpPr txBox="1"/>
          <p:nvPr/>
        </p:nvSpPr>
        <p:spPr>
          <a:xfrm>
            <a:off x="4416552" y="3127248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can the business do?</a:t>
            </a:r>
            <a:endParaRPr lang="en-US" sz="1280" dirty="0"/>
          </a:p>
        </p:txBody>
      </p:sp>
      <p:sp>
        <p:nvSpPr>
          <p:cNvPr id="31" name="Shape 27"/>
          <p:cNvSpPr/>
          <p:nvPr/>
        </p:nvSpPr>
        <p:spPr>
          <a:xfrm>
            <a:off x="4443984" y="3758184"/>
            <a:ext cx="91440" cy="91440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645152" y="3657600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Stateful, multi-step actions</a:t>
            </a:r>
            <a:endParaRPr lang="en-US" sz="1090" dirty="0"/>
          </a:p>
        </p:txBody>
      </p:sp>
      <p:sp>
        <p:nvSpPr>
          <p:cNvPr id="33" name="Shape 29"/>
          <p:cNvSpPr/>
          <p:nvPr/>
        </p:nvSpPr>
        <p:spPr>
          <a:xfrm>
            <a:off x="4443984" y="4187952"/>
            <a:ext cx="91440" cy="91440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645152" y="4087368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 and availability rules</a:t>
            </a:r>
            <a:endParaRPr lang="en-US" sz="1090" dirty="0"/>
          </a:p>
        </p:txBody>
      </p:sp>
      <p:sp>
        <p:nvSpPr>
          <p:cNvPr id="35" name="Shape 31"/>
          <p:cNvSpPr/>
          <p:nvPr/>
        </p:nvSpPr>
        <p:spPr>
          <a:xfrm>
            <a:off x="4443984" y="4617720"/>
            <a:ext cx="91440" cy="91440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645152" y="4517136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Next-step guidance through process state</a:t>
            </a:r>
            <a:endParaRPr lang="en-US" sz="1090" dirty="0"/>
          </a:p>
        </p:txBody>
      </p:sp>
      <p:sp>
        <p:nvSpPr>
          <p:cNvPr id="37" name="Shape 33"/>
          <p:cNvSpPr/>
          <p:nvPr/>
        </p:nvSpPr>
        <p:spPr>
          <a:xfrm>
            <a:off x="4416552" y="5074920"/>
            <a:ext cx="2212848" cy="283464"/>
          </a:xfrm>
          <a:prstGeom prst="roundRect">
            <a:avLst>
              <a:gd name="adj" fmla="val 25806"/>
            </a:avLst>
          </a:prstGeom>
          <a:solidFill>
            <a:srgbClr val="E9FBF7"/>
          </a:solidFill>
          <a:ln w="8890">
            <a:solidFill>
              <a:srgbClr val="E9FBF7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416552" y="50794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50" kern="0" dirty="0">
                <a:solidFill>
                  <a:srgbClr val="19C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ACTION CONTRACTS</a:t>
            </a:r>
            <a:endParaRPr lang="en-US" sz="680" dirty="0"/>
          </a:p>
        </p:txBody>
      </p:sp>
      <p:sp>
        <p:nvSpPr>
          <p:cNvPr id="39" name="Shape 35"/>
          <p:cNvSpPr/>
          <p:nvPr/>
        </p:nvSpPr>
        <p:spPr>
          <a:xfrm>
            <a:off x="7653528" y="1737360"/>
            <a:ext cx="3236976" cy="3776472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10160">
            <a:solidFill>
              <a:srgbClr val="E3E7F0"/>
            </a:solidFill>
            <a:prstDash val="solid"/>
          </a:ln>
          <a:effectLst>
            <a:outerShdw sx="100000" sy="100000" kx="0" ky="0" algn="bl" rotWithShape="0" blurRad="3277412800000" dist="8193532000000" dir="9720000000000000">
              <a:srgbClr val="111827">
                <a:alpha val="100000000000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7653528" y="1737360"/>
            <a:ext cx="3236976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909560" y="2029968"/>
            <a:ext cx="603504" cy="603504"/>
          </a:xfrm>
          <a:prstGeom prst="ellipse">
            <a:avLst/>
          </a:prstGeom>
          <a:solidFill>
            <a:srgbClr val="F2EEFF"/>
          </a:solidFill>
          <a:ln w="12700">
            <a:solidFill>
              <a:srgbClr val="F2EEFF">
                <a:alpha val="0"/>
              </a:srgbClr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8541" y="2198949"/>
            <a:ext cx="265542" cy="265542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8641080" y="2048256"/>
            <a:ext cx="1051560" cy="265176"/>
          </a:xfrm>
          <a:prstGeom prst="roundRect">
            <a:avLst>
              <a:gd name="adj" fmla="val 27586"/>
            </a:avLst>
          </a:prstGeom>
          <a:solidFill>
            <a:srgbClr val="F2EEFF"/>
          </a:solidFill>
          <a:ln w="8890">
            <a:solidFill>
              <a:srgbClr val="F2EEFF">
                <a:alpha val="0"/>
              </a:srgb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8641080" y="20528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spc="85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</a:t>
            </a:r>
            <a:endParaRPr lang="en-US" sz="740" dirty="0"/>
          </a:p>
        </p:txBody>
      </p:sp>
      <p:sp>
        <p:nvSpPr>
          <p:cNvPr id="45" name="Text 40"/>
          <p:cNvSpPr txBox="1"/>
          <p:nvPr/>
        </p:nvSpPr>
        <p:spPr>
          <a:xfrm>
            <a:off x="7909560" y="2587752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Catalog</a:t>
            </a:r>
            <a:endParaRPr lang="en-US" sz="1950" dirty="0"/>
          </a:p>
        </p:txBody>
      </p:sp>
      <p:sp>
        <p:nvSpPr>
          <p:cNvPr id="46" name="Text 41"/>
          <p:cNvSpPr txBox="1"/>
          <p:nvPr/>
        </p:nvSpPr>
        <p:spPr>
          <a:xfrm>
            <a:off x="7909560" y="3127248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a consumer find it?</a:t>
            </a:r>
            <a:endParaRPr lang="en-US" sz="1280" dirty="0"/>
          </a:p>
        </p:txBody>
      </p:sp>
      <p:sp>
        <p:nvSpPr>
          <p:cNvPr id="47" name="Shape 42"/>
          <p:cNvSpPr/>
          <p:nvPr/>
        </p:nvSpPr>
        <p:spPr>
          <a:xfrm>
            <a:off x="7936992" y="375818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8138160" y="3657600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names and metadata</a:t>
            </a:r>
            <a:endParaRPr lang="en-US" sz="1090" dirty="0"/>
          </a:p>
        </p:txBody>
      </p:sp>
      <p:sp>
        <p:nvSpPr>
          <p:cNvPr id="49" name="Shape 44"/>
          <p:cNvSpPr/>
          <p:nvPr/>
        </p:nvSpPr>
        <p:spPr>
          <a:xfrm>
            <a:off x="7936992" y="418795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8138160" y="4087368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Advertised query and execution URLs</a:t>
            </a:r>
            <a:endParaRPr lang="en-US" sz="1090" dirty="0"/>
          </a:p>
        </p:txBody>
      </p:sp>
      <p:sp>
        <p:nvSpPr>
          <p:cNvPr id="51" name="Shape 46"/>
          <p:cNvSpPr/>
          <p:nvPr/>
        </p:nvSpPr>
        <p:spPr>
          <a:xfrm>
            <a:off x="7936992" y="461772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8138160" y="4517136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and downstream aggregation</a:t>
            </a:r>
            <a:endParaRPr lang="en-US" sz="1090" dirty="0"/>
          </a:p>
        </p:txBody>
      </p:sp>
      <p:sp>
        <p:nvSpPr>
          <p:cNvPr id="53" name="Shape 48"/>
          <p:cNvSpPr/>
          <p:nvPr/>
        </p:nvSpPr>
        <p:spPr>
          <a:xfrm>
            <a:off x="7909560" y="5074920"/>
            <a:ext cx="2212848" cy="283464"/>
          </a:xfrm>
          <a:prstGeom prst="roundRect">
            <a:avLst>
              <a:gd name="adj" fmla="val 25806"/>
            </a:avLst>
          </a:prstGeom>
          <a:solidFill>
            <a:srgbClr val="F2EEFF"/>
          </a:solidFill>
          <a:ln w="8890">
            <a:solidFill>
              <a:srgbClr val="F2EEFF">
                <a:alpha val="0"/>
              </a:srgbClr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7909560" y="50794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5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DISCOVERY</a:t>
            </a:r>
            <a:endParaRPr lang="en-US" sz="680" dirty="0"/>
          </a:p>
        </p:txBody>
      </p:sp>
      <p:sp>
        <p:nvSpPr>
          <p:cNvPr id="55" name="Shape 50"/>
          <p:cNvSpPr/>
          <p:nvPr/>
        </p:nvSpPr>
        <p:spPr>
          <a:xfrm>
            <a:off x="667512" y="5742432"/>
            <a:ext cx="10698480" cy="448056"/>
          </a:xfrm>
          <a:prstGeom prst="roundRect">
            <a:avLst>
              <a:gd name="adj" fmla="val 16327"/>
            </a:avLst>
          </a:prstGeom>
          <a:solidFill>
            <a:srgbClr val="0C132A"/>
          </a:solidFill>
          <a:ln w="10160">
            <a:solidFill>
              <a:srgbClr val="0C132A">
                <a:alpha val="0"/>
              </a:srgbClr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941832" y="5824728"/>
            <a:ext cx="10030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B6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INFORMATION</a:t>
            </a:r>
            <a:pPr algn="ctr" indent="0" marL="0">
              <a:buNone/>
            </a:pPr>
            <a:r>
              <a:rPr lang="en-US" sz="1050" b="1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+   </a:t>
            </a:r>
            <a:pPr algn="ctr" indent="0" marL="0">
              <a:buNone/>
            </a:pPr>
            <a:r>
              <a:rPr lang="en-US" sz="1050" b="1" dirty="0">
                <a:solidFill>
                  <a:srgbClr val="19C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ACTIONS</a:t>
            </a:r>
            <a:pPr algn="ctr" indent="0" marL="0">
              <a:buNone/>
            </a:pPr>
            <a:r>
              <a:rPr lang="en-US" sz="1050" b="1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+   </a:t>
            </a:r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CATALOG</a:t>
            </a:r>
            <a:pPr algn="ctr" indent="0" marL="0">
              <a:buNone/>
            </a:pPr>
            <a:r>
              <a:rPr lang="en-US" sz="1050" b="1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=  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SHARED OPERATING MODEL</a:t>
            </a:r>
            <a:endParaRPr lang="en-US" sz="1050" dirty="0"/>
          </a:p>
        </p:txBody>
      </p:sp>
      <p:sp>
        <p:nvSpPr>
          <p:cNvPr id="57" name="Shape 52"/>
          <p:cNvSpPr/>
          <p:nvPr/>
        </p:nvSpPr>
        <p:spPr>
          <a:xfrm>
            <a:off x="667512" y="6446520"/>
            <a:ext cx="10808208" cy="0"/>
          </a:xfrm>
          <a:prstGeom prst="line">
            <a:avLst/>
          </a:prstGeom>
          <a:noFill/>
          <a:ln w="7620">
            <a:solidFill>
              <a:srgbClr val="D7DDEA"/>
            </a:solidFill>
            <a:prstDash val="solid"/>
          </a:ln>
        </p:spPr>
      </p:sp>
      <p:pic>
        <p:nvPicPr>
          <p:cNvPr id="58" name="Image 3" descr="/mnt/data/kaleido-brand/docs/assets/kaleido-mark-ink.png">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667512" y="6510528"/>
            <a:ext cx="146304" cy="169164"/>
          </a:xfrm>
          <a:prstGeom prst="rect">
            <a:avLst/>
          </a:prstGeom>
        </p:spPr>
      </p:pic>
      <p:sp>
        <p:nvSpPr>
          <p:cNvPr id="59" name="Text 53"/>
          <p:cNvSpPr txBox="1"/>
          <p:nvPr/>
        </p:nvSpPr>
        <p:spPr>
          <a:xfrm>
            <a:off x="896112" y="6492240"/>
            <a:ext cx="8869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781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— executive overview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4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"/>
            <a:ext cx="3337560" cy="333756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663440"/>
            <a:ext cx="2743200" cy="2011680"/>
          </a:xfrm>
          <a:prstGeom prst="ellipse">
            <a:avLst/>
          </a:prstGeom>
          <a:solidFill>
            <a:srgbClr val="21B6D7">
              <a:alpha val="8000"/>
            </a:srgbClr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757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554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983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126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" y="393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9BA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MODEL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once. Reuse everywhere.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1106424"/>
            <a:ext cx="10469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7C0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capability model across every channel—without replacing workflow, channel, or interoperability platforms.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933688" y="484632"/>
            <a:ext cx="2331720" cy="283464"/>
          </a:xfrm>
          <a:prstGeom prst="roundRect">
            <a:avLst>
              <a:gd name="adj" fmla="val 25806"/>
            </a:avLst>
          </a:prstGeom>
          <a:solidFill>
            <a:srgbClr val="5B5BF7"/>
          </a:solidFill>
          <a:ln w="8890">
            <a:solidFill>
              <a:srgbClr val="5B5BF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33688" y="4892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CAPABILITY CONTRACT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685800" y="1673352"/>
            <a:ext cx="1892808" cy="1005840"/>
          </a:xfrm>
          <a:prstGeom prst="roundRect">
            <a:avLst>
              <a:gd name="adj" fmla="val 7273"/>
            </a:avLst>
          </a:prstGeom>
          <a:solidFill>
            <a:srgbClr val="111A35"/>
          </a:solidFill>
          <a:ln w="10160">
            <a:solidFill>
              <a:srgbClr val="2C38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" y="1847088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891" y="1995587"/>
            <a:ext cx="233355" cy="23335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472184" y="1773936"/>
            <a:ext cx="941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&amp;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tools</a:t>
            </a:r>
            <a:endParaRPr lang="en-US" sz="1170" dirty="0"/>
          </a:p>
        </p:txBody>
      </p:sp>
      <p:sp>
        <p:nvSpPr>
          <p:cNvPr id="28" name="Shape 25"/>
          <p:cNvSpPr/>
          <p:nvPr/>
        </p:nvSpPr>
        <p:spPr>
          <a:xfrm>
            <a:off x="1636776" y="2697480"/>
            <a:ext cx="0" cy="50292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916936" y="1673352"/>
            <a:ext cx="1892808" cy="1005840"/>
          </a:xfrm>
          <a:prstGeom prst="roundRect">
            <a:avLst>
              <a:gd name="adj" fmla="val 7273"/>
            </a:avLst>
          </a:prstGeom>
          <a:solidFill>
            <a:srgbClr val="111A35"/>
          </a:solidFill>
          <a:ln w="10160">
            <a:solidFill>
              <a:srgbClr val="2C385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081528" y="1847088"/>
            <a:ext cx="530352" cy="530352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0027" y="1995587"/>
            <a:ext cx="233355" cy="233355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3703320" y="1773936"/>
            <a:ext cx="941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IVR / contact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center</a:t>
            </a:r>
            <a:endParaRPr lang="en-US" sz="1170" dirty="0"/>
          </a:p>
        </p:txBody>
      </p:sp>
      <p:sp>
        <p:nvSpPr>
          <p:cNvPr id="33" name="Shape 29"/>
          <p:cNvSpPr/>
          <p:nvPr/>
        </p:nvSpPr>
        <p:spPr>
          <a:xfrm>
            <a:off x="3867912" y="2697480"/>
            <a:ext cx="0" cy="502920"/>
          </a:xfrm>
          <a:prstGeom prst="line">
            <a:avLst/>
          </a:prstGeom>
          <a:noFill/>
          <a:ln w="19050">
            <a:solidFill>
              <a:srgbClr val="21B6D7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5148072" y="1673352"/>
            <a:ext cx="1892808" cy="1005840"/>
          </a:xfrm>
          <a:prstGeom prst="roundRect">
            <a:avLst>
              <a:gd name="adj" fmla="val 7273"/>
            </a:avLst>
          </a:prstGeom>
          <a:solidFill>
            <a:srgbClr val="111A35"/>
          </a:solidFill>
          <a:ln w="10160">
            <a:solidFill>
              <a:srgbClr val="2C385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312664" y="1847088"/>
            <a:ext cx="530352" cy="53035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>
                <a:alpha val="0"/>
              </a:srgbClr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163" y="1995587"/>
            <a:ext cx="233355" cy="233355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5934456" y="1773936"/>
            <a:ext cx="941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</a:t>
            </a:r>
            <a:endParaRPr lang="en-US" sz="1170" dirty="0"/>
          </a:p>
        </p:txBody>
      </p:sp>
      <p:sp>
        <p:nvSpPr>
          <p:cNvPr id="38" name="Shape 33"/>
          <p:cNvSpPr/>
          <p:nvPr/>
        </p:nvSpPr>
        <p:spPr>
          <a:xfrm>
            <a:off x="6099048" y="2697480"/>
            <a:ext cx="0" cy="502920"/>
          </a:xfrm>
          <a:prstGeom prst="line">
            <a:avLst/>
          </a:prstGeom>
          <a:noFill/>
          <a:ln w="19050">
            <a:solidFill>
              <a:srgbClr val="3182F6"/>
            </a:solidFill>
            <a:prstDash val="solid"/>
            <a:tailEnd type="triangle"/>
          </a:ln>
        </p:spPr>
      </p:sp>
      <p:sp>
        <p:nvSpPr>
          <p:cNvPr id="39" name="Shape 34"/>
          <p:cNvSpPr/>
          <p:nvPr/>
        </p:nvSpPr>
        <p:spPr>
          <a:xfrm>
            <a:off x="7379208" y="1673352"/>
            <a:ext cx="1892808" cy="1005840"/>
          </a:xfrm>
          <a:prstGeom prst="roundRect">
            <a:avLst>
              <a:gd name="adj" fmla="val 7273"/>
            </a:avLst>
          </a:prstGeom>
          <a:solidFill>
            <a:srgbClr val="111A35"/>
          </a:solidFill>
          <a:ln w="10160">
            <a:solidFill>
              <a:srgbClr val="2C385B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543800" y="1847088"/>
            <a:ext cx="530352" cy="530352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92299" y="1995587"/>
            <a:ext cx="233355" cy="233355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8165592" y="1773936"/>
            <a:ext cx="941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 &amp;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</a:t>
            </a:r>
            <a:endParaRPr lang="en-US" sz="1170" dirty="0"/>
          </a:p>
        </p:txBody>
      </p:sp>
      <p:sp>
        <p:nvSpPr>
          <p:cNvPr id="43" name="Shape 37"/>
          <p:cNvSpPr/>
          <p:nvPr/>
        </p:nvSpPr>
        <p:spPr>
          <a:xfrm>
            <a:off x="8330184" y="2697480"/>
            <a:ext cx="0" cy="502920"/>
          </a:xfrm>
          <a:prstGeom prst="line">
            <a:avLst/>
          </a:prstGeom>
          <a:noFill/>
          <a:ln w="19050">
            <a:solidFill>
              <a:srgbClr val="19C4A7"/>
            </a:solidFill>
            <a:prstDash val="solid"/>
            <a:tailEnd type="triangle"/>
          </a:ln>
        </p:spPr>
      </p:sp>
      <p:sp>
        <p:nvSpPr>
          <p:cNvPr id="44" name="Shape 38"/>
          <p:cNvSpPr/>
          <p:nvPr/>
        </p:nvSpPr>
        <p:spPr>
          <a:xfrm>
            <a:off x="9610344" y="1673352"/>
            <a:ext cx="1892808" cy="1005840"/>
          </a:xfrm>
          <a:prstGeom prst="roundRect">
            <a:avLst>
              <a:gd name="adj" fmla="val 7273"/>
            </a:avLst>
          </a:prstGeom>
          <a:solidFill>
            <a:srgbClr val="111A35"/>
          </a:solidFill>
          <a:ln w="10160">
            <a:solidFill>
              <a:srgbClr val="2C385B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9774936" y="1847088"/>
            <a:ext cx="530352" cy="530352"/>
          </a:xfrm>
          <a:prstGeom prst="ellipse">
            <a:avLst/>
          </a:prstGeom>
          <a:solidFill>
            <a:srgbClr val="B64FD9"/>
          </a:solidFill>
          <a:ln w="12700">
            <a:solidFill>
              <a:srgbClr val="B64FD9">
                <a:alpha val="0"/>
              </a:srgbClr>
            </a:solidFill>
            <a:prstDash val="solid"/>
          </a:ln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23435" y="1995587"/>
            <a:ext cx="233355" cy="233355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10396728" y="1773936"/>
            <a:ext cx="941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AI</a:t>
            </a:r>
            <a:endParaRPr lang="en-US" sz="1170" dirty="0"/>
          </a:p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48" name="Shape 41"/>
          <p:cNvSpPr/>
          <p:nvPr/>
        </p:nvSpPr>
        <p:spPr>
          <a:xfrm>
            <a:off x="10561320" y="2697480"/>
            <a:ext cx="0" cy="502920"/>
          </a:xfrm>
          <a:prstGeom prst="line">
            <a:avLst/>
          </a:prstGeom>
          <a:noFill/>
          <a:ln w="19050">
            <a:solidFill>
              <a:srgbClr val="B64FD9"/>
            </a:solidFill>
            <a:prstDash val="solid"/>
            <a:tailEnd type="triangle"/>
          </a:ln>
        </p:spPr>
      </p:sp>
      <p:sp>
        <p:nvSpPr>
          <p:cNvPr id="49" name="Shape 42"/>
          <p:cNvSpPr/>
          <p:nvPr/>
        </p:nvSpPr>
        <p:spPr>
          <a:xfrm>
            <a:off x="1042416" y="3163824"/>
            <a:ext cx="10104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354838000" dist="645160000" dir="162000000000">
              <a:srgbClr val="0B1024">
                <a:alpha val="1800000000"/>
              </a:srgbClr>
            </a:outerShdw>
          </a:effectLst>
        </p:spPr>
      </p:sp>
      <p:pic>
        <p:nvPicPr>
          <p:cNvPr id="50" name="Image 5" descr="/mnt/data/kaleido-brand/docs/assets/kaleido-mark-1024.png">    </p:cNvPr>
          <p:cNvPicPr>
            <a:picLocks noChangeAspect="1"/>
          </p:cNvPicPr>
          <p:nvPr/>
        </p:nvPicPr>
        <p:blipFill>
          <a:blip r:embed="rId11">
            <a:alphaModFix amt="97000"/>
          </a:blip>
          <a:stretch>
            <a:fillRect/>
          </a:stretch>
        </p:blipFill>
        <p:spPr>
          <a:xfrm>
            <a:off x="1307592" y="3392424"/>
            <a:ext cx="841248" cy="841248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2331720" y="32644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</a:t>
            </a:r>
            <a:endParaRPr lang="en-US" sz="1900" dirty="0"/>
          </a:p>
        </p:txBody>
      </p:sp>
      <p:sp>
        <p:nvSpPr>
          <p:cNvPr id="52" name="Text 44"/>
          <p:cNvSpPr txBox="1"/>
          <p:nvPr/>
        </p:nvSpPr>
        <p:spPr>
          <a:xfrm>
            <a:off x="2331720" y="359359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business capability contract</a:t>
            </a:r>
            <a:endParaRPr lang="en-US" sz="1090" dirty="0"/>
          </a:p>
        </p:txBody>
      </p:sp>
      <p:sp>
        <p:nvSpPr>
          <p:cNvPr id="53" name="Shape 45"/>
          <p:cNvSpPr/>
          <p:nvPr/>
        </p:nvSpPr>
        <p:spPr>
          <a:xfrm>
            <a:off x="4773168" y="3383280"/>
            <a:ext cx="1764792" cy="832104"/>
          </a:xfrm>
          <a:prstGeom prst="roundRect">
            <a:avLst>
              <a:gd name="adj" fmla="val 8791"/>
            </a:avLst>
          </a:prstGeom>
          <a:solidFill>
            <a:srgbClr val="F7F9FF"/>
          </a:solidFill>
          <a:ln w="10160">
            <a:solidFill>
              <a:srgbClr val="E1E5EF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4773168" y="3383280"/>
            <a:ext cx="73152" cy="832104"/>
          </a:xfrm>
          <a:prstGeom prst="rect">
            <a:avLst/>
          </a:prstGeom>
          <a:solidFill>
            <a:srgbClr val="21B6D7"/>
          </a:solidFill>
          <a:ln w="12700">
            <a:solidFill>
              <a:srgbClr val="21B6D7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4937760" y="34747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25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INFORMATION</a:t>
            </a:r>
            <a:endParaRPr lang="en-US" sz="750" dirty="0"/>
          </a:p>
        </p:txBody>
      </p:sp>
      <p:sp>
        <p:nvSpPr>
          <p:cNvPr id="56" name="Text 48"/>
          <p:cNvSpPr txBox="1"/>
          <p:nvPr/>
        </p:nvSpPr>
        <p:spPr>
          <a:xfrm>
            <a:off x="4937760" y="37947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1B6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Queryable</a:t>
            </a:r>
            <a:endParaRPr lang="en-US" sz="920" dirty="0"/>
          </a:p>
        </p:txBody>
      </p:sp>
      <p:sp>
        <p:nvSpPr>
          <p:cNvPr id="57" name="Shape 49"/>
          <p:cNvSpPr/>
          <p:nvPr/>
        </p:nvSpPr>
        <p:spPr>
          <a:xfrm>
            <a:off x="6784848" y="3383280"/>
            <a:ext cx="1764792" cy="832104"/>
          </a:xfrm>
          <a:prstGeom prst="roundRect">
            <a:avLst>
              <a:gd name="adj" fmla="val 8791"/>
            </a:avLst>
          </a:prstGeom>
          <a:solidFill>
            <a:srgbClr val="F7F9FF"/>
          </a:solidFill>
          <a:ln w="10160">
            <a:solidFill>
              <a:srgbClr val="E1E5EF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6784848" y="3383280"/>
            <a:ext cx="73152" cy="832104"/>
          </a:xfrm>
          <a:prstGeom prst="rect">
            <a:avLst/>
          </a:prstGeom>
          <a:solidFill>
            <a:srgbClr val="19C4A7"/>
          </a:solidFill>
          <a:ln w="12700">
            <a:solidFill>
              <a:srgbClr val="19C4A7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6949440" y="34747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25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ACTIONS</a:t>
            </a:r>
            <a:endParaRPr lang="en-US" sz="750" dirty="0"/>
          </a:p>
        </p:txBody>
      </p:sp>
      <p:sp>
        <p:nvSpPr>
          <p:cNvPr id="60" name="Text 52"/>
          <p:cNvSpPr txBox="1"/>
          <p:nvPr/>
        </p:nvSpPr>
        <p:spPr>
          <a:xfrm>
            <a:off x="6949440" y="37947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9C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</a:t>
            </a:r>
            <a:endParaRPr lang="en-US" sz="920" dirty="0"/>
          </a:p>
        </p:txBody>
      </p:sp>
      <p:sp>
        <p:nvSpPr>
          <p:cNvPr id="61" name="Shape 53"/>
          <p:cNvSpPr/>
          <p:nvPr/>
        </p:nvSpPr>
        <p:spPr>
          <a:xfrm>
            <a:off x="8796528" y="3383280"/>
            <a:ext cx="1764792" cy="832104"/>
          </a:xfrm>
          <a:prstGeom prst="roundRect">
            <a:avLst>
              <a:gd name="adj" fmla="val 8791"/>
            </a:avLst>
          </a:prstGeom>
          <a:solidFill>
            <a:srgbClr val="F7F9FF"/>
          </a:solidFill>
          <a:ln w="10160">
            <a:solidFill>
              <a:srgbClr val="E1E5EF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8796528" y="3383280"/>
            <a:ext cx="73152" cy="8321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3" name="Text 55"/>
          <p:cNvSpPr txBox="1"/>
          <p:nvPr/>
        </p:nvSpPr>
        <p:spPr>
          <a:xfrm>
            <a:off x="8961120" y="34747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25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CATALOG</a:t>
            </a:r>
            <a:endParaRPr lang="en-US" sz="750" dirty="0"/>
          </a:p>
        </p:txBody>
      </p:sp>
      <p:sp>
        <p:nvSpPr>
          <p:cNvPr id="64" name="Text 56"/>
          <p:cNvSpPr txBox="1"/>
          <p:nvPr/>
        </p:nvSpPr>
        <p:spPr>
          <a:xfrm>
            <a:off x="8961120" y="37947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</a:t>
            </a:r>
            <a:endParaRPr lang="en-US" sz="920" dirty="0"/>
          </a:p>
        </p:txBody>
      </p:sp>
      <p:sp>
        <p:nvSpPr>
          <p:cNvPr id="65" name="Text 57"/>
          <p:cNvSpPr txBox="1"/>
          <p:nvPr/>
        </p:nvSpPr>
        <p:spPr>
          <a:xfrm>
            <a:off x="2331720" y="410565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26D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metadata • validation • typed clients • process identity • correlation • telemetry</a:t>
            </a:r>
            <a:endParaRPr lang="en-US" sz="920" dirty="0"/>
          </a:p>
        </p:txBody>
      </p:sp>
      <p:sp>
        <p:nvSpPr>
          <p:cNvPr id="66" name="Shape 58"/>
          <p:cNvSpPr/>
          <p:nvPr/>
        </p:nvSpPr>
        <p:spPr>
          <a:xfrm>
            <a:off x="1472184" y="4590288"/>
            <a:ext cx="0" cy="457200"/>
          </a:xfrm>
          <a:prstGeom prst="line">
            <a:avLst/>
          </a:prstGeom>
          <a:noFill/>
          <a:ln w="15875">
            <a:solidFill>
              <a:srgbClr val="3182F6"/>
            </a:solidFill>
            <a:prstDash val="solid"/>
            <a:tailEnd type="triangle"/>
          </a:ln>
        </p:spPr>
      </p:sp>
      <p:sp>
        <p:nvSpPr>
          <p:cNvPr id="67" name="Shape 59"/>
          <p:cNvSpPr/>
          <p:nvPr/>
        </p:nvSpPr>
        <p:spPr>
          <a:xfrm>
            <a:off x="804672" y="5084064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1832" y="5266944"/>
            <a:ext cx="228600" cy="228600"/>
          </a:xfrm>
          <a:prstGeom prst="rect">
            <a:avLst/>
          </a:prstGeom>
        </p:spPr>
      </p:pic>
      <p:sp>
        <p:nvSpPr>
          <p:cNvPr id="69" name="Text 60"/>
          <p:cNvSpPr txBox="1"/>
          <p:nvPr/>
        </p:nvSpPr>
        <p:spPr>
          <a:xfrm>
            <a:off x="1243584" y="5212080"/>
            <a:ext cx="877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</a:t>
            </a:r>
            <a:endParaRPr lang="en-US" sz="1050" dirty="0"/>
          </a:p>
        </p:txBody>
      </p:sp>
      <p:sp>
        <p:nvSpPr>
          <p:cNvPr id="70" name="Shape 61"/>
          <p:cNvSpPr/>
          <p:nvPr/>
        </p:nvSpPr>
        <p:spPr>
          <a:xfrm>
            <a:off x="3319272" y="4590288"/>
            <a:ext cx="0" cy="457200"/>
          </a:xfrm>
          <a:prstGeom prst="line">
            <a:avLst/>
          </a:prstGeom>
          <a:noFill/>
          <a:ln w="15875">
            <a:solidFill>
              <a:srgbClr val="19C4A7"/>
            </a:solidFill>
            <a:prstDash val="solid"/>
            <a:tailEnd type="triangle"/>
          </a:ln>
        </p:spPr>
      </p:sp>
      <p:sp>
        <p:nvSpPr>
          <p:cNvPr id="71" name="Shape 62"/>
          <p:cNvSpPr/>
          <p:nvPr/>
        </p:nvSpPr>
        <p:spPr>
          <a:xfrm>
            <a:off x="2651760" y="5084064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pic>
        <p:nvPicPr>
          <p:cNvPr id="72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8920" y="5266944"/>
            <a:ext cx="228600" cy="228600"/>
          </a:xfrm>
          <a:prstGeom prst="rect">
            <a:avLst/>
          </a:prstGeom>
        </p:spPr>
      </p:pic>
      <p:sp>
        <p:nvSpPr>
          <p:cNvPr id="73" name="Text 63"/>
          <p:cNvSpPr txBox="1"/>
          <p:nvPr/>
        </p:nvSpPr>
        <p:spPr>
          <a:xfrm>
            <a:off x="3090672" y="5212080"/>
            <a:ext cx="877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</a:t>
            </a:r>
            <a:endParaRPr lang="en-US" sz="1050" dirty="0"/>
          </a:p>
        </p:txBody>
      </p:sp>
      <p:sp>
        <p:nvSpPr>
          <p:cNvPr id="74" name="Shape 64"/>
          <p:cNvSpPr/>
          <p:nvPr/>
        </p:nvSpPr>
        <p:spPr>
          <a:xfrm>
            <a:off x="5166360" y="4590288"/>
            <a:ext cx="0" cy="457200"/>
          </a:xfrm>
          <a:prstGeom prst="line">
            <a:avLst/>
          </a:prstGeom>
          <a:noFill/>
          <a:ln w="15875">
            <a:solidFill>
              <a:srgbClr val="3182F6"/>
            </a:solidFill>
            <a:prstDash val="solid"/>
            <a:tailEnd type="triangle"/>
          </a:ln>
        </p:spPr>
      </p:sp>
      <p:sp>
        <p:nvSpPr>
          <p:cNvPr id="75" name="Shape 65"/>
          <p:cNvSpPr/>
          <p:nvPr/>
        </p:nvSpPr>
        <p:spPr>
          <a:xfrm>
            <a:off x="4498848" y="5084064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pic>
        <p:nvPicPr>
          <p:cNvPr id="76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36008" y="5266944"/>
            <a:ext cx="228600" cy="228600"/>
          </a:xfrm>
          <a:prstGeom prst="rect">
            <a:avLst/>
          </a:prstGeom>
        </p:spPr>
      </p:pic>
      <p:sp>
        <p:nvSpPr>
          <p:cNvPr id="77" name="Text 66"/>
          <p:cNvSpPr txBox="1"/>
          <p:nvPr/>
        </p:nvSpPr>
        <p:spPr>
          <a:xfrm>
            <a:off x="4937760" y="5212080"/>
            <a:ext cx="877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</a:t>
            </a:r>
            <a:endParaRPr lang="en-US" sz="1050" dirty="0"/>
          </a:p>
        </p:txBody>
      </p:sp>
      <p:sp>
        <p:nvSpPr>
          <p:cNvPr id="78" name="Shape 67"/>
          <p:cNvSpPr/>
          <p:nvPr/>
        </p:nvSpPr>
        <p:spPr>
          <a:xfrm>
            <a:off x="7013448" y="4590288"/>
            <a:ext cx="0" cy="457200"/>
          </a:xfrm>
          <a:prstGeom prst="line">
            <a:avLst/>
          </a:prstGeom>
          <a:noFill/>
          <a:ln w="15875">
            <a:solidFill>
              <a:srgbClr val="19C4A7"/>
            </a:solidFill>
            <a:prstDash val="solid"/>
            <a:tailEnd type="triangle"/>
          </a:ln>
        </p:spPr>
      </p:sp>
      <p:sp>
        <p:nvSpPr>
          <p:cNvPr id="79" name="Shape 68"/>
          <p:cNvSpPr/>
          <p:nvPr/>
        </p:nvSpPr>
        <p:spPr>
          <a:xfrm>
            <a:off x="6345936" y="5084064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pic>
        <p:nvPicPr>
          <p:cNvPr id="80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83096" y="5266944"/>
            <a:ext cx="228600" cy="228600"/>
          </a:xfrm>
          <a:prstGeom prst="rect">
            <a:avLst/>
          </a:prstGeom>
        </p:spPr>
      </p:pic>
      <p:sp>
        <p:nvSpPr>
          <p:cNvPr id="81" name="Text 69"/>
          <p:cNvSpPr txBox="1"/>
          <p:nvPr/>
        </p:nvSpPr>
        <p:spPr>
          <a:xfrm>
            <a:off x="6784848" y="5212080"/>
            <a:ext cx="877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1050" dirty="0"/>
          </a:p>
        </p:txBody>
      </p:sp>
      <p:sp>
        <p:nvSpPr>
          <p:cNvPr id="82" name="Shape 70"/>
          <p:cNvSpPr/>
          <p:nvPr/>
        </p:nvSpPr>
        <p:spPr>
          <a:xfrm>
            <a:off x="8860536" y="4590288"/>
            <a:ext cx="0" cy="457200"/>
          </a:xfrm>
          <a:prstGeom prst="line">
            <a:avLst/>
          </a:prstGeom>
          <a:noFill/>
          <a:ln w="15875">
            <a:solidFill>
              <a:srgbClr val="3182F6"/>
            </a:solidFill>
            <a:prstDash val="solid"/>
            <a:tailEnd type="triangle"/>
          </a:ln>
        </p:spPr>
      </p:sp>
      <p:sp>
        <p:nvSpPr>
          <p:cNvPr id="83" name="Shape 71"/>
          <p:cNvSpPr/>
          <p:nvPr/>
        </p:nvSpPr>
        <p:spPr>
          <a:xfrm>
            <a:off x="8193024" y="5084064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pic>
        <p:nvPicPr>
          <p:cNvPr id="84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30184" y="5266944"/>
            <a:ext cx="228600" cy="228600"/>
          </a:xfrm>
          <a:prstGeom prst="rect">
            <a:avLst/>
          </a:prstGeom>
        </p:spPr>
      </p:pic>
      <p:sp>
        <p:nvSpPr>
          <p:cNvPr id="85" name="Text 72"/>
          <p:cNvSpPr txBox="1"/>
          <p:nvPr/>
        </p:nvSpPr>
        <p:spPr>
          <a:xfrm>
            <a:off x="8631936" y="5212080"/>
            <a:ext cx="877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Auth</a:t>
            </a:r>
            <a:endParaRPr lang="en-US" sz="1050" dirty="0"/>
          </a:p>
        </p:txBody>
      </p:sp>
      <p:sp>
        <p:nvSpPr>
          <p:cNvPr id="86" name="Shape 73"/>
          <p:cNvSpPr/>
          <p:nvPr/>
        </p:nvSpPr>
        <p:spPr>
          <a:xfrm>
            <a:off x="10707624" y="4590288"/>
            <a:ext cx="0" cy="457200"/>
          </a:xfrm>
          <a:prstGeom prst="line">
            <a:avLst/>
          </a:prstGeom>
          <a:noFill/>
          <a:ln w="15875">
            <a:solidFill>
              <a:srgbClr val="19C4A7"/>
            </a:solidFill>
            <a:prstDash val="solid"/>
            <a:tailEnd type="triangle"/>
          </a:ln>
        </p:spPr>
      </p:sp>
      <p:sp>
        <p:nvSpPr>
          <p:cNvPr id="87" name="Shape 74"/>
          <p:cNvSpPr/>
          <p:nvPr/>
        </p:nvSpPr>
        <p:spPr>
          <a:xfrm>
            <a:off x="10040112" y="5084064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11A35"/>
          </a:solidFill>
          <a:ln w="10160">
            <a:solidFill>
              <a:srgbClr val="303B5B"/>
            </a:solidFill>
            <a:prstDash val="solid"/>
          </a:ln>
        </p:spPr>
      </p:sp>
      <p:pic>
        <p:nvPicPr>
          <p:cNvPr id="88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177272" y="5266944"/>
            <a:ext cx="228600" cy="228600"/>
          </a:xfrm>
          <a:prstGeom prst="rect">
            <a:avLst/>
          </a:prstGeom>
        </p:spPr>
      </p:pic>
      <p:sp>
        <p:nvSpPr>
          <p:cNvPr id="89" name="Text 75"/>
          <p:cNvSpPr txBox="1"/>
          <p:nvPr/>
        </p:nvSpPr>
        <p:spPr>
          <a:xfrm>
            <a:off x="10479024" y="5212080"/>
            <a:ext cx="877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90" name="Text 76"/>
          <p:cNvSpPr txBox="1"/>
          <p:nvPr/>
        </p:nvSpPr>
        <p:spPr>
          <a:xfrm>
            <a:off x="676656" y="5980176"/>
            <a:ext cx="8823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C8D1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is the contract layer—not the workflow engine, channel runtime, or interoperability standard.</a:t>
            </a:r>
            <a:endParaRPr lang="en-US" sz="1120" dirty="0"/>
          </a:p>
        </p:txBody>
      </p:sp>
      <p:sp>
        <p:nvSpPr>
          <p:cNvPr id="91" name="Text 77"/>
          <p:cNvSpPr txBox="1"/>
          <p:nvPr/>
        </p:nvSpPr>
        <p:spPr>
          <a:xfrm>
            <a:off x="8814816" y="5980176"/>
            <a:ext cx="2414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dirty="0">
                <a:solidFill>
                  <a:srgbClr val="8E9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platforms keep doing what they do best.</a:t>
            </a:r>
            <a:endParaRPr lang="en-US" sz="960" dirty="0"/>
          </a:p>
        </p:txBody>
      </p:sp>
      <p:sp>
        <p:nvSpPr>
          <p:cNvPr id="92" name="Shape 78"/>
          <p:cNvSpPr/>
          <p:nvPr/>
        </p:nvSpPr>
        <p:spPr>
          <a:xfrm>
            <a:off x="667512" y="6446520"/>
            <a:ext cx="10808208" cy="0"/>
          </a:xfrm>
          <a:prstGeom prst="line">
            <a:avLst/>
          </a:prstGeom>
          <a:noFill/>
          <a:ln w="7620">
            <a:solidFill>
              <a:srgbClr val="2D385A"/>
            </a:solidFill>
            <a:prstDash val="solid"/>
          </a:ln>
        </p:spPr>
      </p:sp>
      <p:pic>
        <p:nvPicPr>
          <p:cNvPr id="93" name="Image 12" descr="/mnt/data/kaleido-brand/docs/assets/kaleido-mark-white.png">    </p:cNvPr>
          <p:cNvPicPr>
            <a:picLocks noChangeAspect="1"/>
          </p:cNvPicPr>
          <p:nvPr/>
        </p:nvPicPr>
        <p:blipFill>
          <a:blip r:embed="rId24">
            <a:alphaModFix amt="85000"/>
          </a:blip>
          <a:stretch>
            <a:fillRect/>
          </a:stretch>
        </p:blipFill>
        <p:spPr>
          <a:xfrm>
            <a:off x="667512" y="6510528"/>
            <a:ext cx="146304" cy="169164"/>
          </a:xfrm>
          <a:prstGeom prst="rect">
            <a:avLst/>
          </a:prstGeom>
        </p:spPr>
      </p:pic>
      <p:sp>
        <p:nvSpPr>
          <p:cNvPr id="94" name="Text 79"/>
          <p:cNvSpPr txBox="1"/>
          <p:nvPr/>
        </p:nvSpPr>
        <p:spPr>
          <a:xfrm>
            <a:off x="896112" y="6492240"/>
            <a:ext cx="8869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F8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— executive overview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0A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"/>
            <a:ext cx="3337560" cy="333756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663440"/>
            <a:ext cx="2743200" cy="2011680"/>
          </a:xfrm>
          <a:prstGeom prst="ellipse">
            <a:avLst/>
          </a:prstGeom>
          <a:solidFill>
            <a:srgbClr val="21B6D7">
              <a:alpha val="8000"/>
            </a:srgbClr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757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554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983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126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" y="393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9BA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DIRECTION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Kaleido fits first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1106424"/>
            <a:ext cx="10469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7C0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immediate value is reuse across orchestration, voice channels, and standards-based integrations. AI follows from the same foundation.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482328" y="484632"/>
            <a:ext cx="1746504" cy="283464"/>
          </a:xfrm>
          <a:prstGeom prst="roundRect">
            <a:avLst>
              <a:gd name="adj" fmla="val 25806"/>
            </a:avLst>
          </a:prstGeom>
          <a:solidFill>
            <a:srgbClr val="19C4A7"/>
          </a:solidFill>
          <a:ln w="8890">
            <a:solidFill>
              <a:srgbClr val="19C4A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82328" y="48920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80" kern="0" dirty="0">
                <a:solidFill>
                  <a:srgbClr val="0C13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ADOPTION PATHS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67512" y="1709928"/>
            <a:ext cx="3246120" cy="4160520"/>
          </a:xfrm>
          <a:prstGeom prst="roundRect">
            <a:avLst>
              <a:gd name="adj" fmla="val 2254"/>
            </a:avLst>
          </a:prstGeom>
          <a:solidFill>
            <a:srgbClr val="10182F"/>
          </a:solidFill>
          <a:ln w="10160">
            <a:solidFill>
              <a:srgbClr val="2E38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1709928"/>
            <a:ext cx="3246120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688" y="2029968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910" y="2209190"/>
            <a:ext cx="281635" cy="281635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728216" y="20116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75" kern="0" dirty="0">
                <a:solidFill>
                  <a:srgbClr val="9EA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&amp; CASE MANAGEMENT</a:t>
            </a:r>
            <a:endParaRPr lang="en-US" sz="720" dirty="0"/>
          </a:p>
        </p:txBody>
      </p:sp>
      <p:sp>
        <p:nvSpPr>
          <p:cNvPr id="29" name="Text 26"/>
          <p:cNvSpPr txBox="1"/>
          <p:nvPr/>
        </p:nvSpPr>
        <p:spPr>
          <a:xfrm>
            <a:off x="1728216" y="2276856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Pega and similar platforms</a:t>
            </a:r>
            <a:endParaRPr lang="en-US" sz="1610" dirty="0"/>
          </a:p>
        </p:txBody>
      </p:sp>
      <p:sp>
        <p:nvSpPr>
          <p:cNvPr id="30" name="Text 27"/>
          <p:cNvSpPr txBox="1"/>
          <p:nvPr/>
        </p:nvSpPr>
        <p:spPr>
          <a:xfrm>
            <a:off x="932688" y="3017520"/>
            <a:ext cx="26700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C3CB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orchestration, SLAs, assignments, decisions, and human work in the workflow platform. Call Kaleido for reusable business information and actions.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932688" y="434340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172540"/>
          </a:solidFill>
          <a:ln w="889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32688" y="4347972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spc="35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CONTRACTS</a:t>
            </a:r>
            <a:endParaRPr lang="en-US" sz="670" dirty="0"/>
          </a:p>
        </p:txBody>
      </p:sp>
      <p:sp>
        <p:nvSpPr>
          <p:cNvPr id="33" name="Shape 30"/>
          <p:cNvSpPr/>
          <p:nvPr/>
        </p:nvSpPr>
        <p:spPr>
          <a:xfrm>
            <a:off x="2359152" y="4343400"/>
            <a:ext cx="1261872" cy="274320"/>
          </a:xfrm>
          <a:prstGeom prst="roundRect">
            <a:avLst>
              <a:gd name="adj" fmla="val 26667"/>
            </a:avLst>
          </a:prstGeom>
          <a:solidFill>
            <a:srgbClr val="172540"/>
          </a:solidFill>
          <a:ln w="889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359152" y="434797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spc="2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CUSTOM INTEGRATION</a:t>
            </a:r>
            <a:endParaRPr lang="en-US" sz="630" dirty="0"/>
          </a:p>
        </p:txBody>
      </p:sp>
      <p:sp>
        <p:nvSpPr>
          <p:cNvPr id="35" name="Shape 32"/>
          <p:cNvSpPr/>
          <p:nvPr/>
        </p:nvSpPr>
        <p:spPr>
          <a:xfrm>
            <a:off x="932688" y="4846320"/>
            <a:ext cx="2688336" cy="0"/>
          </a:xfrm>
          <a:prstGeom prst="line">
            <a:avLst/>
          </a:prstGeom>
          <a:noFill/>
          <a:ln w="10160">
            <a:solidFill>
              <a:srgbClr val="37425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32688" y="4992624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8F9B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platforms coordinate the work; Kaleido standardizes the business capabilities they call.</a:t>
            </a:r>
            <a:endParaRPr lang="en-US" sz="880" dirty="0"/>
          </a:p>
        </p:txBody>
      </p:sp>
      <p:sp>
        <p:nvSpPr>
          <p:cNvPr id="37" name="Shape 34"/>
          <p:cNvSpPr/>
          <p:nvPr/>
        </p:nvSpPr>
        <p:spPr>
          <a:xfrm>
            <a:off x="4160520" y="1709928"/>
            <a:ext cx="3246120" cy="4160520"/>
          </a:xfrm>
          <a:prstGeom prst="roundRect">
            <a:avLst>
              <a:gd name="adj" fmla="val 2254"/>
            </a:avLst>
          </a:prstGeom>
          <a:solidFill>
            <a:srgbClr val="10182F"/>
          </a:solidFill>
          <a:ln w="10160">
            <a:solidFill>
              <a:srgbClr val="2E385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60520" y="1709928"/>
            <a:ext cx="3246120" cy="82296"/>
          </a:xfrm>
          <a:prstGeom prst="rect">
            <a:avLst/>
          </a:prstGeom>
          <a:solidFill>
            <a:srgbClr val="21B6D7"/>
          </a:solidFill>
          <a:ln w="12700">
            <a:solidFill>
              <a:srgbClr val="21B6D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425696" y="2029968"/>
            <a:ext cx="640080" cy="64008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4918" y="2209190"/>
            <a:ext cx="281635" cy="281635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5221224" y="20116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75" kern="0" dirty="0">
                <a:solidFill>
                  <a:srgbClr val="9EA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IVR / CONTACT CENTER</a:t>
            </a:r>
            <a:endParaRPr lang="en-US" sz="720" dirty="0"/>
          </a:p>
        </p:txBody>
      </p:sp>
      <p:sp>
        <p:nvSpPr>
          <p:cNvPr id="42" name="Text 38"/>
          <p:cNvSpPr txBox="1"/>
          <p:nvPr/>
        </p:nvSpPr>
        <p:spPr>
          <a:xfrm>
            <a:off x="5221224" y="2276856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and assisted channels</a:t>
            </a:r>
            <a:endParaRPr lang="en-US" sz="1610" dirty="0"/>
          </a:p>
        </p:txBody>
      </p:sp>
      <p:sp>
        <p:nvSpPr>
          <p:cNvPr id="43" name="Text 39"/>
          <p:cNvSpPr txBox="1"/>
          <p:nvPr/>
        </p:nvSpPr>
        <p:spPr>
          <a:xfrm>
            <a:off x="4425696" y="3017520"/>
            <a:ext cx="26700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C3CB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capability metadata to drive prompts and validation, preserve a process ID, and resume the same journey across transfers, agents, web, or mobile.</a:t>
            </a:r>
            <a:endParaRPr lang="en-US" sz="1080" dirty="0"/>
          </a:p>
        </p:txBody>
      </p:sp>
      <p:sp>
        <p:nvSpPr>
          <p:cNvPr id="44" name="Shape 40"/>
          <p:cNvSpPr/>
          <p:nvPr/>
        </p:nvSpPr>
        <p:spPr>
          <a:xfrm>
            <a:off x="4425696" y="434340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172540"/>
          </a:solidFill>
          <a:ln w="8890">
            <a:solidFill>
              <a:srgbClr val="21B6D7">
                <a:alpha val="6500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425696" y="4347972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spc="35" kern="0" dirty="0">
                <a:solidFill>
                  <a:srgbClr val="21B6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PROMPTS</a:t>
            </a:r>
            <a:endParaRPr lang="en-US" sz="670" dirty="0"/>
          </a:p>
        </p:txBody>
      </p:sp>
      <p:sp>
        <p:nvSpPr>
          <p:cNvPr id="46" name="Shape 42"/>
          <p:cNvSpPr/>
          <p:nvPr/>
        </p:nvSpPr>
        <p:spPr>
          <a:xfrm>
            <a:off x="5852160" y="4343400"/>
            <a:ext cx="1261872" cy="274320"/>
          </a:xfrm>
          <a:prstGeom prst="roundRect">
            <a:avLst>
              <a:gd name="adj" fmla="val 26667"/>
            </a:avLst>
          </a:prstGeom>
          <a:solidFill>
            <a:srgbClr val="172540"/>
          </a:solidFill>
          <a:ln w="8890">
            <a:solidFill>
              <a:srgbClr val="21B6D7">
                <a:alpha val="6500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852160" y="434797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spc="20" kern="0" dirty="0">
                <a:solidFill>
                  <a:srgbClr val="21B6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CONTINUITY</a:t>
            </a:r>
            <a:endParaRPr lang="en-US" sz="630" dirty="0"/>
          </a:p>
        </p:txBody>
      </p:sp>
      <p:sp>
        <p:nvSpPr>
          <p:cNvPr id="48" name="Shape 44"/>
          <p:cNvSpPr/>
          <p:nvPr/>
        </p:nvSpPr>
        <p:spPr>
          <a:xfrm>
            <a:off x="4425696" y="4846320"/>
            <a:ext cx="2688336" cy="0"/>
          </a:xfrm>
          <a:prstGeom prst="line">
            <a:avLst/>
          </a:prstGeom>
          <a:noFill/>
          <a:ln w="10160">
            <a:solidFill>
              <a:srgbClr val="37425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4425696" y="4992624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8F9B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business action can support voice, agent desktop, and digital self-service.</a:t>
            </a:r>
            <a:endParaRPr lang="en-US" sz="880" dirty="0"/>
          </a:p>
        </p:txBody>
      </p:sp>
      <p:sp>
        <p:nvSpPr>
          <p:cNvPr id="50" name="Shape 46"/>
          <p:cNvSpPr/>
          <p:nvPr/>
        </p:nvSpPr>
        <p:spPr>
          <a:xfrm>
            <a:off x="7653528" y="1709928"/>
            <a:ext cx="3246120" cy="4160520"/>
          </a:xfrm>
          <a:prstGeom prst="roundRect">
            <a:avLst>
              <a:gd name="adj" fmla="val 2254"/>
            </a:avLst>
          </a:prstGeom>
          <a:solidFill>
            <a:srgbClr val="10182F"/>
          </a:solidFill>
          <a:ln w="10160">
            <a:solidFill>
              <a:srgbClr val="2E3858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653528" y="1709928"/>
            <a:ext cx="3246120" cy="82296"/>
          </a:xfrm>
          <a:prstGeom prst="rect">
            <a:avLst/>
          </a:prstGeom>
          <a:solidFill>
            <a:srgbClr val="19C4A7"/>
          </a:solidFill>
          <a:ln w="12700">
            <a:solidFill>
              <a:srgbClr val="19C4A7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918704" y="2029968"/>
            <a:ext cx="640080" cy="640080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7926" y="2209190"/>
            <a:ext cx="281635" cy="281635"/>
          </a:xfrm>
          <a:prstGeom prst="rect">
            <a:avLst/>
          </a:prstGeom>
        </p:spPr>
      </p:pic>
      <p:sp>
        <p:nvSpPr>
          <p:cNvPr id="54" name="Text 49"/>
          <p:cNvSpPr txBox="1"/>
          <p:nvPr/>
        </p:nvSpPr>
        <p:spPr>
          <a:xfrm>
            <a:off x="8714232" y="20116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75" kern="0" dirty="0">
                <a:solidFill>
                  <a:srgbClr val="9EAA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 &amp; EXTERNAL PARTNERS</a:t>
            </a:r>
            <a:endParaRPr lang="en-US" sz="720" dirty="0"/>
          </a:p>
        </p:txBody>
      </p:sp>
      <p:sp>
        <p:nvSpPr>
          <p:cNvPr id="55" name="Text 50"/>
          <p:cNvSpPr txBox="1"/>
          <p:nvPr/>
        </p:nvSpPr>
        <p:spPr>
          <a:xfrm>
            <a:off x="8714232" y="2276856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Vinci CRD · DTR · PAS</a:t>
            </a:r>
            <a:endParaRPr lang="en-US" sz="1610" dirty="0"/>
          </a:p>
        </p:txBody>
      </p:sp>
      <p:sp>
        <p:nvSpPr>
          <p:cNvPr id="56" name="Text 51"/>
          <p:cNvSpPr txBox="1"/>
          <p:nvPr/>
        </p:nvSpPr>
        <p:spPr>
          <a:xfrm>
            <a:off x="7918704" y="3017520"/>
            <a:ext cx="26700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C3CB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FHIR- and X12-oriented exchange at the boundary, then map it into stable internal information and action contracts that other consumers can reuse.</a:t>
            </a:r>
            <a:endParaRPr lang="en-US" sz="1080" dirty="0"/>
          </a:p>
        </p:txBody>
      </p:sp>
      <p:sp>
        <p:nvSpPr>
          <p:cNvPr id="57" name="Shape 52"/>
          <p:cNvSpPr/>
          <p:nvPr/>
        </p:nvSpPr>
        <p:spPr>
          <a:xfrm>
            <a:off x="7918704" y="434340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172540"/>
          </a:solidFill>
          <a:ln w="8890">
            <a:solidFill>
              <a:srgbClr val="19C4A7">
                <a:alpha val="65000"/>
              </a:srgbClr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7918704" y="4347972"/>
            <a:ext cx="13533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spc="35" kern="0" dirty="0">
                <a:solidFill>
                  <a:srgbClr val="19C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 AT EDGE</a:t>
            </a:r>
            <a:endParaRPr lang="en-US" sz="670" dirty="0"/>
          </a:p>
        </p:txBody>
      </p:sp>
      <p:sp>
        <p:nvSpPr>
          <p:cNvPr id="59" name="Shape 54"/>
          <p:cNvSpPr/>
          <p:nvPr/>
        </p:nvSpPr>
        <p:spPr>
          <a:xfrm>
            <a:off x="9345168" y="4343400"/>
            <a:ext cx="1261872" cy="274320"/>
          </a:xfrm>
          <a:prstGeom prst="roundRect">
            <a:avLst>
              <a:gd name="adj" fmla="val 26667"/>
            </a:avLst>
          </a:prstGeom>
          <a:solidFill>
            <a:srgbClr val="172540"/>
          </a:solidFill>
          <a:ln w="8890">
            <a:solidFill>
              <a:srgbClr val="19C4A7">
                <a:alpha val="65000"/>
              </a:srgbClr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9345168" y="4347972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spc="20" kern="0" dirty="0">
                <a:solidFill>
                  <a:srgbClr val="19C4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INTERNAL MODEL</a:t>
            </a:r>
            <a:endParaRPr lang="en-US" sz="630" dirty="0"/>
          </a:p>
        </p:txBody>
      </p:sp>
      <p:sp>
        <p:nvSpPr>
          <p:cNvPr id="61" name="Shape 56"/>
          <p:cNvSpPr/>
          <p:nvPr/>
        </p:nvSpPr>
        <p:spPr>
          <a:xfrm>
            <a:off x="7918704" y="4846320"/>
            <a:ext cx="2688336" cy="0"/>
          </a:xfrm>
          <a:prstGeom prst="line">
            <a:avLst/>
          </a:prstGeom>
          <a:noFill/>
          <a:ln w="10160">
            <a:solidFill>
              <a:srgbClr val="37425F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7918704" y="4992624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8F9B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CRD surfaces requirements, DTR supports documentation capture, and PAS supports prior-authorization exchange.</a:t>
            </a:r>
            <a:endParaRPr lang="en-US" sz="880" dirty="0"/>
          </a:p>
        </p:txBody>
      </p:sp>
      <p:sp>
        <p:nvSpPr>
          <p:cNvPr id="63" name="Shape 58"/>
          <p:cNvSpPr/>
          <p:nvPr/>
        </p:nvSpPr>
        <p:spPr>
          <a:xfrm>
            <a:off x="667512" y="6016752"/>
            <a:ext cx="10698480" cy="283464"/>
          </a:xfrm>
          <a:prstGeom prst="roundRect">
            <a:avLst>
              <a:gd name="adj" fmla="val 25806"/>
            </a:avLst>
          </a:prstGeom>
          <a:solidFill>
            <a:srgbClr val="18223D"/>
          </a:solidFill>
          <a:ln w="10160">
            <a:solidFill>
              <a:srgbClr val="33405F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932688" y="6035040"/>
            <a:ext cx="10012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CROSS-CUTTING RESULT: </a:t>
            </a:r>
            <a:pPr algn="ctr" indent="0" marL="0">
              <a:buNone/>
            </a:pPr>
            <a:r>
              <a:rPr lang="en-US" sz="900" dirty="0">
                <a:solidFill>
                  <a:srgbClr val="AEB8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experiences and AI agents consume the same catalog rather than introducing another bespoke integration path.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4526280" y="6492240"/>
            <a:ext cx="6675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7786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references: </a:t>
            </a:r>
            <a:pPr algn="r" indent="0" marL="0">
              <a:buNone/>
            </a:pPr>
            <a:r>
              <a:rPr lang="en-US" sz="680" u="sng" dirty="0">
                <a:solidFill>
                  <a:srgbClr val="9DB3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Pega workflow automation</a:t>
            </a:r>
            <a:pPr algn="r" indent="0" marL="0">
              <a:buNone/>
            </a:pPr>
            <a:r>
              <a:rPr lang="en-US" sz="680" dirty="0">
                <a:solidFill>
                  <a:srgbClr val="7786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r" indent="0" marL="0">
              <a:buNone/>
            </a:pPr>
            <a:r>
              <a:rPr lang="en-US" sz="680" u="sng" dirty="0">
                <a:solidFill>
                  <a:srgbClr val="9DB3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HL7 Da Vinci CRD</a:t>
            </a:r>
            <a:pPr algn="r" indent="0" marL="0">
              <a:buNone/>
            </a:pPr>
            <a:r>
              <a:rPr lang="en-US" sz="680" dirty="0">
                <a:solidFill>
                  <a:srgbClr val="7786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r" indent="0" marL="0">
              <a:buNone/>
            </a:pPr>
            <a:r>
              <a:rPr lang="en-US" sz="680" u="sng" dirty="0">
                <a:solidFill>
                  <a:srgbClr val="9DB3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DTR</a:t>
            </a:r>
            <a:pPr algn="r" indent="0" marL="0">
              <a:buNone/>
            </a:pPr>
            <a:r>
              <a:rPr lang="en-US" sz="680" dirty="0">
                <a:solidFill>
                  <a:srgbClr val="7786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pPr algn="r" indent="0" marL="0">
              <a:buNone/>
            </a:pPr>
            <a:r>
              <a:rPr lang="en-US" sz="680" u="sng" dirty="0">
                <a:solidFill>
                  <a:srgbClr val="9DB3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</a:t>
            </a:r>
            <a:endParaRPr lang="en-US" sz="680" dirty="0"/>
          </a:p>
        </p:txBody>
      </p:sp>
      <p:sp>
        <p:nvSpPr>
          <p:cNvPr id="66" name="Shape 61"/>
          <p:cNvSpPr/>
          <p:nvPr/>
        </p:nvSpPr>
        <p:spPr>
          <a:xfrm>
            <a:off x="667512" y="6446520"/>
            <a:ext cx="10808208" cy="0"/>
          </a:xfrm>
          <a:prstGeom prst="line">
            <a:avLst/>
          </a:prstGeom>
          <a:noFill/>
          <a:ln w="7620">
            <a:solidFill>
              <a:srgbClr val="2D385A"/>
            </a:solidFill>
            <a:prstDash val="solid"/>
          </a:ln>
        </p:spPr>
      </p:sp>
      <p:pic>
        <p:nvPicPr>
          <p:cNvPr id="67" name="Image 3" descr="/mnt/data/kaleido-brand/docs/assets/kaleido-mark-white.png">    </p:cNvPr>
          <p:cNvPicPr>
            <a:picLocks noChangeAspect="1"/>
          </p:cNvPicPr>
          <p:nvPr/>
        </p:nvPicPr>
        <p:blipFill>
          <a:blip r:embed="rId11">
            <a:alphaModFix amt="85000"/>
          </a:blip>
          <a:stretch>
            <a:fillRect/>
          </a:stretch>
        </p:blipFill>
        <p:spPr>
          <a:xfrm>
            <a:off x="667512" y="6510528"/>
            <a:ext cx="146304" cy="169164"/>
          </a:xfrm>
          <a:prstGeom prst="rect">
            <a:avLst/>
          </a:prstGeom>
        </p:spPr>
      </p:pic>
      <p:sp>
        <p:nvSpPr>
          <p:cNvPr id="68" name="Text 62"/>
          <p:cNvSpPr txBox="1"/>
          <p:nvPr/>
        </p:nvSpPr>
        <p:spPr>
          <a:xfrm>
            <a:off x="896112" y="6492240"/>
            <a:ext cx="8869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F8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— executive overview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0A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137160"/>
            <a:ext cx="3246120" cy="3246120"/>
          </a:xfrm>
          <a:prstGeom prst="ellipse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892040"/>
            <a:ext cx="1920240" cy="1737360"/>
          </a:xfrm>
          <a:prstGeom prst="ellipse">
            <a:avLst/>
          </a:prstGeom>
          <a:solidFill>
            <a:srgbClr val="3182F6">
              <a:alpha val="5000"/>
            </a:srgbClr>
          </a:solidFill>
          <a:ln w="12700">
            <a:solidFill>
              <a:srgbClr val="3182F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393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5B5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 A CONSEQUENCE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becomes another governed consumer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106424"/>
            <a:ext cx="10469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Typed, discoverable capabilities let an agent use the same business contracts as workflow tools and channels—not unrestricted authority.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77656" y="484632"/>
            <a:ext cx="2596896" cy="283464"/>
          </a:xfrm>
          <a:prstGeom prst="roundRect">
            <a:avLst>
              <a:gd name="adj" fmla="val 25806"/>
            </a:avLst>
          </a:prstGeom>
          <a:solidFill>
            <a:srgbClr val="F1EDFF"/>
          </a:solidFill>
          <a:ln w="8890">
            <a:solidFill>
              <a:srgbClr val="D9D1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77656" y="48920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UNRESTRICTED AUTHORITY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335024" y="2395728"/>
            <a:ext cx="8833104" cy="0"/>
          </a:xfrm>
          <a:prstGeom prst="line">
            <a:avLst/>
          </a:prstGeom>
          <a:noFill/>
          <a:ln w="38100">
            <a:solidFill>
              <a:srgbClr val="C9D2E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4672" y="1947672"/>
            <a:ext cx="896112" cy="89611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>
                <a:alpha val="0"/>
              </a:srgbClr>
            </a:solidFill>
            <a:prstDash val="solid"/>
          </a:ln>
          <a:effectLst>
            <a:outerShdw sx="100000" sy="100000" kx="0" ky="0" algn="bl" rotWithShape="0" blurRad="41623142560000000" dist="104057856400000000" dir="583200000000000000000">
              <a:srgbClr val="111827">
                <a:alpha val="1000000000000000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583" y="2198583"/>
            <a:ext cx="394289" cy="394289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94360" y="2980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</a:t>
            </a:r>
            <a:endParaRPr lang="en-US" sz="1320" dirty="0"/>
          </a:p>
        </p:txBody>
      </p:sp>
      <p:sp>
        <p:nvSpPr>
          <p:cNvPr id="13" name="Text 10"/>
          <p:cNvSpPr txBox="1"/>
          <p:nvPr/>
        </p:nvSpPr>
        <p:spPr>
          <a:xfrm>
            <a:off x="438912" y="3300984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catalog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3017520" y="1947672"/>
            <a:ext cx="896112" cy="896112"/>
          </a:xfrm>
          <a:prstGeom prst="ellipse">
            <a:avLst/>
          </a:prstGeom>
          <a:solidFill>
            <a:srgbClr val="5B5BF7"/>
          </a:solidFill>
          <a:ln w="12700">
            <a:solidFill>
              <a:srgbClr val="5B5BF7">
                <a:alpha val="0"/>
              </a:srgbClr>
            </a:solidFill>
            <a:prstDash val="solid"/>
          </a:ln>
          <a:effectLst>
            <a:outerShdw sx="100000" sy="100000" kx="0" ky="0" algn="bl" rotWithShape="0" blurRad="528613910512000000000" dist="1.32153477628e+21" dir="3.4992e+25">
              <a:srgbClr val="111827">
                <a:alpha val="1e+24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8431" y="2198583"/>
            <a:ext cx="394289" cy="39428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07208" y="2980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</a:t>
            </a:r>
            <a:endParaRPr lang="en-US" sz="1320" dirty="0"/>
          </a:p>
        </p:txBody>
      </p:sp>
      <p:sp>
        <p:nvSpPr>
          <p:cNvPr id="17" name="Text 13"/>
          <p:cNvSpPr txBox="1"/>
          <p:nvPr/>
        </p:nvSpPr>
        <p:spPr>
          <a:xfrm>
            <a:off x="2651760" y="3300984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Schemas and constraints</a:t>
            </a:r>
            <a:endParaRPr lang="en-US" sz="920" dirty="0"/>
          </a:p>
        </p:txBody>
      </p:sp>
      <p:sp>
        <p:nvSpPr>
          <p:cNvPr id="18" name="Shape 14"/>
          <p:cNvSpPr/>
          <p:nvPr/>
        </p:nvSpPr>
        <p:spPr>
          <a:xfrm>
            <a:off x="5230368" y="1947672"/>
            <a:ext cx="896112" cy="8961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sx="100000" sy="100000" kx="0" ky="0" algn="bl" rotWithShape="0" blurRad="6.7133966635024e+24" dist="1.6783491658756e+25" dir="2.09952e+30">
              <a:srgbClr val="111827">
                <a:alpha val="1e+29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1279" y="2198583"/>
            <a:ext cx="394289" cy="39428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020056" y="2980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</a:t>
            </a:r>
            <a:endParaRPr lang="en-US" sz="1320" dirty="0"/>
          </a:p>
        </p:txBody>
      </p:sp>
      <p:sp>
        <p:nvSpPr>
          <p:cNvPr id="21" name="Text 16"/>
          <p:cNvSpPr txBox="1"/>
          <p:nvPr/>
        </p:nvSpPr>
        <p:spPr>
          <a:xfrm>
            <a:off x="4864608" y="3300984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an allowed capability</a:t>
            </a:r>
            <a:endParaRPr lang="en-US" sz="920" dirty="0"/>
          </a:p>
        </p:txBody>
      </p:sp>
      <p:sp>
        <p:nvSpPr>
          <p:cNvPr id="22" name="Shape 17"/>
          <p:cNvSpPr/>
          <p:nvPr/>
        </p:nvSpPr>
        <p:spPr>
          <a:xfrm>
            <a:off x="7443216" y="1947672"/>
            <a:ext cx="896112" cy="896112"/>
          </a:xfrm>
          <a:prstGeom prst="ellipse">
            <a:avLst/>
          </a:prstGeom>
          <a:solidFill>
            <a:srgbClr val="B64FD9"/>
          </a:solidFill>
          <a:ln w="12700">
            <a:solidFill>
              <a:srgbClr val="B64FD9">
                <a:alpha val="0"/>
              </a:srgbClr>
            </a:solidFill>
            <a:prstDash val="solid"/>
          </a:ln>
          <a:effectLst>
            <a:outerShdw sx="100000" sy="100000" kx="0" ky="0" algn="bl" rotWithShape="0" blurRad="8.526013762648047e+28" dist="2.1315034406620118e+29" dir="1.259712e+35">
              <a:srgbClr val="111827">
                <a:alpha val="1e+34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94127" y="2198583"/>
            <a:ext cx="394289" cy="39428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32904" y="2980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</a:t>
            </a:r>
            <a:endParaRPr lang="en-US" sz="1320" dirty="0"/>
          </a:p>
        </p:txBody>
      </p:sp>
      <p:sp>
        <p:nvSpPr>
          <p:cNvPr id="25" name="Text 19"/>
          <p:cNvSpPr txBox="1"/>
          <p:nvPr/>
        </p:nvSpPr>
        <p:spPr>
          <a:xfrm>
            <a:off x="7077456" y="3300984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the advertised route</a:t>
            </a:r>
            <a:endParaRPr lang="en-US" sz="920" dirty="0"/>
          </a:p>
        </p:txBody>
      </p:sp>
      <p:sp>
        <p:nvSpPr>
          <p:cNvPr id="26" name="Shape 20"/>
          <p:cNvSpPr/>
          <p:nvPr/>
        </p:nvSpPr>
        <p:spPr>
          <a:xfrm>
            <a:off x="9656064" y="1947672"/>
            <a:ext cx="896112" cy="896112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  <a:effectLst>
            <a:outerShdw sx="100000" sy="100000" kx="0" ky="0" algn="bl" rotWithShape="0" blurRad="1.0828037478563019e+33" dist="2.707009369640755e+33" dir="7.558272e+39">
              <a:srgbClr val="111827">
                <a:alpha val="1e+39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975" y="2198583"/>
            <a:ext cx="394289" cy="394289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445752" y="2980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</a:t>
            </a:r>
            <a:endParaRPr lang="en-US" sz="1320" dirty="0"/>
          </a:p>
        </p:txBody>
      </p:sp>
      <p:sp>
        <p:nvSpPr>
          <p:cNvPr id="29" name="Text 22"/>
          <p:cNvSpPr txBox="1"/>
          <p:nvPr/>
        </p:nvSpPr>
        <p:spPr>
          <a:xfrm>
            <a:off x="9290304" y="3300984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processId and next steps</a:t>
            </a:r>
            <a:endParaRPr lang="en-US" sz="920" dirty="0"/>
          </a:p>
        </p:txBody>
      </p:sp>
      <p:sp>
        <p:nvSpPr>
          <p:cNvPr id="30" name="Shape 23"/>
          <p:cNvSpPr/>
          <p:nvPr/>
        </p:nvSpPr>
        <p:spPr>
          <a:xfrm>
            <a:off x="676656" y="3977640"/>
            <a:ext cx="5422392" cy="1993392"/>
          </a:xfrm>
          <a:prstGeom prst="roundRect">
            <a:avLst>
              <a:gd name="adj" fmla="val 3670"/>
            </a:avLst>
          </a:prstGeom>
          <a:solidFill>
            <a:srgbClr val="0C132A"/>
          </a:solidFill>
          <a:ln w="10160">
            <a:solidFill>
              <a:srgbClr val="0C132A">
                <a:alpha val="0"/>
              </a:srgbClr>
            </a:solidFill>
            <a:prstDash val="solid"/>
          </a:ln>
          <a:effectLst>
            <a:outerShdw sx="100000" sy="100000" kx="0" ky="0" algn="bl" rotWithShape="0" blurRad="4506442600000" dist="8193532000000" dir="9720000000000000">
              <a:srgbClr val="0B1024">
                <a:alpha val="18000000000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41832" y="4242816"/>
            <a:ext cx="1956816" cy="283464"/>
          </a:xfrm>
          <a:prstGeom prst="roundRect">
            <a:avLst>
              <a:gd name="adj" fmla="val 25806"/>
            </a:avLst>
          </a:prstGeom>
          <a:solidFill>
            <a:srgbClr val="3182F6"/>
          </a:solidFill>
          <a:ln w="8890">
            <a:solidFill>
              <a:srgbClr val="3182F6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41832" y="424738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6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SHARED CATALOG ENABLES</a:t>
            </a:r>
            <a:endParaRPr lang="en-US" sz="720" dirty="0"/>
          </a:p>
        </p:txBody>
      </p:sp>
      <p:sp>
        <p:nvSpPr>
          <p:cNvPr id="33" name="Text 26"/>
          <p:cNvSpPr txBox="1"/>
          <p:nvPr/>
        </p:nvSpPr>
        <p:spPr>
          <a:xfrm>
            <a:off x="941832" y="4590288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Machine-readable operating context</a:t>
            </a:r>
            <a:endParaRPr lang="en-US" sz="1650" dirty="0"/>
          </a:p>
        </p:txBody>
      </p:sp>
      <p:sp>
        <p:nvSpPr>
          <p:cNvPr id="34" name="Shape 27"/>
          <p:cNvSpPr/>
          <p:nvPr/>
        </p:nvSpPr>
        <p:spPr>
          <a:xfrm>
            <a:off x="969264" y="5074920"/>
            <a:ext cx="91440" cy="9144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1170432" y="497433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CFD7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names, descriptions, schemas, and constraints</a:t>
            </a:r>
            <a:endParaRPr lang="en-US" sz="960" dirty="0"/>
          </a:p>
        </p:txBody>
      </p:sp>
      <p:sp>
        <p:nvSpPr>
          <p:cNvPr id="36" name="Shape 29"/>
          <p:cNvSpPr/>
          <p:nvPr/>
        </p:nvSpPr>
        <p:spPr>
          <a:xfrm>
            <a:off x="969264" y="5349240"/>
            <a:ext cx="91440" cy="9144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170432" y="524865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CFD7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Advertised query and execution routes</a:t>
            </a:r>
            <a:endParaRPr lang="en-US" sz="960" dirty="0"/>
          </a:p>
        </p:txBody>
      </p:sp>
      <p:sp>
        <p:nvSpPr>
          <p:cNvPr id="38" name="Shape 31"/>
          <p:cNvSpPr/>
          <p:nvPr/>
        </p:nvSpPr>
        <p:spPr>
          <a:xfrm>
            <a:off x="969264" y="5623560"/>
            <a:ext cx="91440" cy="9144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1170432" y="552297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CFD7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process identity and next-step guidance</a:t>
            </a:r>
            <a:endParaRPr lang="en-US" sz="960" dirty="0"/>
          </a:p>
        </p:txBody>
      </p:sp>
      <p:sp>
        <p:nvSpPr>
          <p:cNvPr id="40" name="Shape 33"/>
          <p:cNvSpPr/>
          <p:nvPr/>
        </p:nvSpPr>
        <p:spPr>
          <a:xfrm>
            <a:off x="969264" y="5897880"/>
            <a:ext cx="91440" cy="9144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1170432" y="579729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CFD7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results, errors, and correlation context</a:t>
            </a:r>
            <a:endParaRPr lang="en-US" sz="960" dirty="0"/>
          </a:p>
        </p:txBody>
      </p:sp>
      <p:sp>
        <p:nvSpPr>
          <p:cNvPr id="42" name="Shape 35"/>
          <p:cNvSpPr/>
          <p:nvPr/>
        </p:nvSpPr>
        <p:spPr>
          <a:xfrm>
            <a:off x="6327648" y="3977640"/>
            <a:ext cx="5175504" cy="1993392"/>
          </a:xfrm>
          <a:prstGeom prst="roundRect">
            <a:avLst>
              <a:gd name="adj" fmla="val 3670"/>
            </a:avLst>
          </a:prstGeom>
          <a:solidFill>
            <a:srgbClr val="F1EDFF"/>
          </a:solidFill>
          <a:ln w="10160">
            <a:solidFill>
              <a:srgbClr val="DED5FF"/>
            </a:solidFill>
            <a:prstDash val="solid"/>
          </a:ln>
          <a:effectLst>
            <a:outerShdw sx="100000" sy="100000" kx="0" ky="0" algn="bl" rotWithShape="0" blurRad="57231821020000000" dist="104057856400000000" dir="583200000000000000000">
              <a:srgbClr val="0B1024">
                <a:alpha val="1800000000000000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6583680" y="4242816"/>
            <a:ext cx="2011680" cy="283464"/>
          </a:xfrm>
          <a:prstGeom prst="roundRect">
            <a:avLst>
              <a:gd name="adj" fmla="val 25806"/>
            </a:avLst>
          </a:prstGeom>
          <a:solidFill>
            <a:srgbClr val="8B5CF6"/>
          </a:solidFill>
          <a:ln w="889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6583680" y="42473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spc="6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GOVERNANCE ADDS</a:t>
            </a:r>
            <a:endParaRPr lang="en-US" sz="720" dirty="0"/>
          </a:p>
        </p:txBody>
      </p:sp>
      <p:sp>
        <p:nvSpPr>
          <p:cNvPr id="45" name="Text 38"/>
          <p:cNvSpPr txBox="1"/>
          <p:nvPr/>
        </p:nvSpPr>
        <p:spPr>
          <a:xfrm>
            <a:off x="6583680" y="45902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controlled decision boundary</a:t>
            </a:r>
            <a:endParaRPr lang="en-US" sz="1650" dirty="0"/>
          </a:p>
        </p:txBody>
      </p:sp>
      <p:sp>
        <p:nvSpPr>
          <p:cNvPr id="46" name="Shape 39"/>
          <p:cNvSpPr/>
          <p:nvPr/>
        </p:nvSpPr>
        <p:spPr>
          <a:xfrm>
            <a:off x="6601968" y="507492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6803136" y="4974336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Authorization-aware discovery and allowlists</a:t>
            </a:r>
            <a:endParaRPr lang="en-US" sz="960" dirty="0"/>
          </a:p>
        </p:txBody>
      </p:sp>
      <p:sp>
        <p:nvSpPr>
          <p:cNvPr id="48" name="Shape 41"/>
          <p:cNvSpPr/>
          <p:nvPr/>
        </p:nvSpPr>
        <p:spPr>
          <a:xfrm>
            <a:off x="6601968" y="534924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6803136" y="5248656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Confirmation and side-effect classifications</a:t>
            </a:r>
            <a:endParaRPr lang="en-US" sz="960" dirty="0"/>
          </a:p>
        </p:txBody>
      </p:sp>
      <p:sp>
        <p:nvSpPr>
          <p:cNvPr id="50" name="Shape 43"/>
          <p:cNvSpPr/>
          <p:nvPr/>
        </p:nvSpPr>
        <p:spPr>
          <a:xfrm>
            <a:off x="6601968" y="562356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6803136" y="5522976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 idempotency and concurrency guarantees</a:t>
            </a:r>
            <a:endParaRPr lang="en-US" sz="960" dirty="0"/>
          </a:p>
        </p:txBody>
      </p:sp>
      <p:sp>
        <p:nvSpPr>
          <p:cNvPr id="52" name="Shape 45"/>
          <p:cNvSpPr/>
          <p:nvPr/>
        </p:nvSpPr>
        <p:spPr>
          <a:xfrm>
            <a:off x="6601968" y="589788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6803136" y="5797296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 freshness, redaction, and resource limits</a:t>
            </a:r>
            <a:endParaRPr lang="en-US" sz="960" dirty="0"/>
          </a:p>
        </p:txBody>
      </p:sp>
      <p:sp>
        <p:nvSpPr>
          <p:cNvPr id="54" name="Shape 47"/>
          <p:cNvSpPr/>
          <p:nvPr/>
        </p:nvSpPr>
        <p:spPr>
          <a:xfrm>
            <a:off x="667512" y="6446520"/>
            <a:ext cx="10808208" cy="0"/>
          </a:xfrm>
          <a:prstGeom prst="line">
            <a:avLst/>
          </a:prstGeom>
          <a:noFill/>
          <a:ln w="7620">
            <a:solidFill>
              <a:srgbClr val="D7DDEA"/>
            </a:solidFill>
            <a:prstDash val="solid"/>
          </a:ln>
        </p:spPr>
      </p:sp>
      <p:pic>
        <p:nvPicPr>
          <p:cNvPr id="55" name="Image 5" descr="/mnt/data/kaleido-brand/docs/assets/kaleido-mark-ink.png">    </p:cNvPr>
          <p:cNvPicPr>
            <a:picLocks noChangeAspect="1"/>
          </p:cNvPicPr>
          <p:nvPr/>
        </p:nvPicPr>
        <p:blipFill>
          <a:blip r:embed="rId11">
            <a:alphaModFix amt="85000"/>
          </a:blip>
          <a:stretch>
            <a:fillRect/>
          </a:stretch>
        </p:blipFill>
        <p:spPr>
          <a:xfrm>
            <a:off x="667512" y="6510528"/>
            <a:ext cx="146304" cy="169164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896112" y="6492240"/>
            <a:ext cx="8869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781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readiness is a consequence of a good capability architecture—not the primary reason to build it.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4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137160"/>
            <a:ext cx="3246120" cy="3246120"/>
          </a:xfrm>
          <a:prstGeom prst="ellipse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892040"/>
            <a:ext cx="1920240" cy="1737360"/>
          </a:xfrm>
          <a:prstGeom prst="ellipse">
            <a:avLst/>
          </a:prstGeom>
          <a:solidFill>
            <a:srgbClr val="3182F6">
              <a:alpha val="5000"/>
            </a:srgbClr>
          </a:solidFill>
          <a:ln w="12700">
            <a:solidFill>
              <a:srgbClr val="3182F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393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5B5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AUTHORIZATION PROOF POINT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64008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process. Multiple channels. Same business rules.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106424"/>
            <a:ext cx="10469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PriorAuth sample makes the operating model tangible: consumers change, while the capability contracts and process state remain consistent.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759952" y="484632"/>
            <a:ext cx="2523744" cy="283464"/>
          </a:xfrm>
          <a:prstGeom prst="roundRect">
            <a:avLst>
              <a:gd name="adj" fmla="val 25806"/>
            </a:avLst>
          </a:prstGeom>
          <a:solidFill>
            <a:srgbClr val="EDE9FE"/>
          </a:solidFill>
          <a:ln w="889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59952" y="48920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spc="65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PRIOR AUTH JOURNEY</a:t>
            </a:r>
            <a:endParaRPr lang="en-US" sz="710" dirty="0"/>
          </a:p>
        </p:txBody>
      </p:sp>
      <p:sp>
        <p:nvSpPr>
          <p:cNvPr id="9" name="Shape 7"/>
          <p:cNvSpPr/>
          <p:nvPr/>
        </p:nvSpPr>
        <p:spPr>
          <a:xfrm>
            <a:off x="667512" y="1700784"/>
            <a:ext cx="1847088" cy="4261104"/>
          </a:xfrm>
          <a:prstGeom prst="roundRect">
            <a:avLst>
              <a:gd name="adj" fmla="val 3960"/>
            </a:avLst>
          </a:prstGeom>
          <a:solidFill>
            <a:srgbClr val="0C132A"/>
          </a:solidFill>
          <a:ln w="10160">
            <a:solidFill>
              <a:srgbClr val="0C132A">
                <a:alpha val="0"/>
              </a:srgbClr>
            </a:solidFill>
            <a:prstDash val="solid"/>
          </a:ln>
          <a:effectLst>
            <a:outerShdw sx="100000" sy="100000" kx="0" ky="0" algn="bl" rotWithShape="0" blurRad="726844126954000000000" dist="1.32153477628e+21" dir="3.4992e+25">
              <a:srgbClr val="0B1024">
                <a:alpha val="1.8e+24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41832" y="195681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10" kern="0" dirty="0">
                <a:solidFill>
                  <a:srgbClr val="9DA8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CONSUMERS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941832" y="2368296"/>
            <a:ext cx="365760" cy="36576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4245" y="2470709"/>
            <a:ext cx="160934" cy="16093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44752" y="2386584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Pega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41832" y="2990088"/>
            <a:ext cx="365760" cy="36576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4245" y="3092501"/>
            <a:ext cx="160934" cy="16093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44752" y="3008376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41832" y="3611880"/>
            <a:ext cx="365760" cy="36576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4245" y="3714293"/>
            <a:ext cx="160934" cy="16093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44752" y="3630168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/ app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41832" y="4233672"/>
            <a:ext cx="365760" cy="36576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4245" y="4336085"/>
            <a:ext cx="160934" cy="16093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44752" y="4251960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Vinci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941832" y="4855464"/>
            <a:ext cx="365760" cy="365760"/>
          </a:xfrm>
          <a:prstGeom prst="ellipse">
            <a:avLst/>
          </a:prstGeom>
          <a:solidFill>
            <a:srgbClr val="1B2947"/>
          </a:solidFill>
          <a:ln w="12700">
            <a:solidFill>
              <a:srgbClr val="2B3A5C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4245" y="4957877"/>
            <a:ext cx="160934" cy="16093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44752" y="4873752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941832" y="55046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AEB8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business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AEB8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capabilities</a:t>
            </a:r>
            <a:endParaRPr lang="en-US" sz="980" dirty="0"/>
          </a:p>
        </p:txBody>
      </p:sp>
      <p:sp>
        <p:nvSpPr>
          <p:cNvPr id="27" name="Shape 20"/>
          <p:cNvSpPr/>
          <p:nvPr/>
        </p:nvSpPr>
        <p:spPr>
          <a:xfrm>
            <a:off x="2761488" y="1700784"/>
            <a:ext cx="6611112" cy="4261104"/>
          </a:xfrm>
          <a:prstGeom prst="roundRect">
            <a:avLst>
              <a:gd name="adj" fmla="val 1717"/>
            </a:avLst>
          </a:prstGeom>
          <a:solidFill>
            <a:srgbClr val="FFFFFF"/>
          </a:solidFill>
          <a:ln w="10160">
            <a:solidFill>
              <a:srgbClr val="E0E5F0"/>
            </a:solidFill>
            <a:prstDash val="solid"/>
          </a:ln>
          <a:effectLst>
            <a:outerShdw sx="100000" sy="100000" kx="0" ky="0" algn="bl" rotWithShape="0" blurRad="9.2309204123158e+24" dist="1.6783491658756e+25" dir="2.09952e+30">
              <a:srgbClr val="0B1024">
                <a:alpha val="1.8e+29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3054096" y="19568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110" kern="0" dirty="0">
                <a:solidFill>
                  <a:srgbClr val="5B5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THREAD</a:t>
            </a:r>
            <a:endParaRPr lang="en-US" sz="830" dirty="0"/>
          </a:p>
        </p:txBody>
      </p:sp>
      <p:sp>
        <p:nvSpPr>
          <p:cNvPr id="29" name="Shape 22"/>
          <p:cNvSpPr/>
          <p:nvPr/>
        </p:nvSpPr>
        <p:spPr>
          <a:xfrm>
            <a:off x="8211312" y="1874520"/>
            <a:ext cx="786384" cy="283464"/>
          </a:xfrm>
          <a:prstGeom prst="roundRect">
            <a:avLst>
              <a:gd name="adj" fmla="val 25806"/>
            </a:avLst>
          </a:prstGeom>
          <a:solidFill>
            <a:srgbClr val="EEF2FF"/>
          </a:solidFill>
          <a:ln w="8890">
            <a:solidFill>
              <a:srgbClr val="C8D1EE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211312" y="187909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spc="40" kern="0" dirty="0">
                <a:solidFill>
                  <a:srgbClr val="5B5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processId</a:t>
            </a:r>
            <a:endParaRPr lang="en-US" sz="710" dirty="0"/>
          </a:p>
        </p:txBody>
      </p:sp>
      <p:sp>
        <p:nvSpPr>
          <p:cNvPr id="31" name="Shape 24"/>
          <p:cNvSpPr/>
          <p:nvPr/>
        </p:nvSpPr>
        <p:spPr>
          <a:xfrm>
            <a:off x="3456432" y="3685032"/>
            <a:ext cx="5413248" cy="0"/>
          </a:xfrm>
          <a:prstGeom prst="line">
            <a:avLst/>
          </a:prstGeom>
          <a:noFill/>
          <a:ln w="26670">
            <a:solidFill>
              <a:srgbClr val="AAB4CD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3099816" y="3236976"/>
            <a:ext cx="731520" cy="731520"/>
          </a:xfrm>
          <a:prstGeom prst="ellipse">
            <a:avLst/>
          </a:prstGeom>
          <a:solidFill>
            <a:srgbClr val="5B5BF7"/>
          </a:solidFill>
          <a:ln w="12700">
            <a:solidFill>
              <a:srgbClr val="5B5BF7">
                <a:alpha val="0"/>
              </a:srgbClr>
            </a:solidFill>
            <a:prstDash val="solid"/>
          </a:ln>
          <a:effectLst>
            <a:outerShdw sx="100000" sy="100000" kx="0" ky="0" algn="bl" rotWithShape="0" blurRad="1.3751607597775034e+37" dist="3.437901899443759e+37" dir="4.5349632000000006e+44">
              <a:srgbClr val="111827">
                <a:alpha val="9.999999999999999e+43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04642" y="3441802"/>
            <a:ext cx="321869" cy="321869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2935224" y="418795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intake</a:t>
            </a:r>
            <a:endParaRPr lang="en-US" sz="1020" dirty="0"/>
          </a:p>
        </p:txBody>
      </p:sp>
      <p:sp>
        <p:nvSpPr>
          <p:cNvPr id="35" name="Shape 27"/>
          <p:cNvSpPr/>
          <p:nvPr/>
        </p:nvSpPr>
        <p:spPr>
          <a:xfrm>
            <a:off x="3008376" y="4828032"/>
            <a:ext cx="932688" cy="265176"/>
          </a:xfrm>
          <a:prstGeom prst="roundRect">
            <a:avLst>
              <a:gd name="adj" fmla="val 27586"/>
            </a:avLst>
          </a:prstGeom>
          <a:solidFill>
            <a:srgbClr val="F2F4F8"/>
          </a:solidFill>
          <a:ln w="8890">
            <a:solidFill>
              <a:srgbClr val="DCE1EB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3008376" y="48326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intake</a:t>
            </a:r>
            <a:endParaRPr lang="en-US" sz="7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86200" y="3529584"/>
            <a:ext cx="201168" cy="201168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4142232" y="3236976"/>
            <a:ext cx="731520" cy="73152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>
                <a:alpha val="0"/>
              </a:srgbClr>
            </a:solidFill>
            <a:prstDash val="solid"/>
          </a:ln>
          <a:effectLst>
            <a:outerShdw sx="100000" sy="100000" kx="0" ky="0" algn="bl" rotWithShape="0" blurRad="1.7464541649174293e+41" dist="4.366135412293574e+41" dir="2.72097792e+49">
              <a:srgbClr val="111827">
                <a:alpha val="1e+49"/>
              </a:srgbClr>
            </a:outerShdw>
          </a:effectLst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47058" y="3441802"/>
            <a:ext cx="321869" cy="321869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3977640" y="418795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</a:t>
            </a:r>
            <a:endParaRPr lang="en-US" sz="1020" dirty="0"/>
          </a:p>
        </p:txBody>
      </p:sp>
      <p:sp>
        <p:nvSpPr>
          <p:cNvPr id="41" name="Shape 31"/>
          <p:cNvSpPr/>
          <p:nvPr/>
        </p:nvSpPr>
        <p:spPr>
          <a:xfrm>
            <a:off x="4050792" y="4828032"/>
            <a:ext cx="932688" cy="265176"/>
          </a:xfrm>
          <a:prstGeom prst="roundRect">
            <a:avLst>
              <a:gd name="adj" fmla="val 27586"/>
            </a:avLst>
          </a:prstGeom>
          <a:solidFill>
            <a:srgbClr val="F2F4F8"/>
          </a:solidFill>
          <a:ln w="8890">
            <a:solidFill>
              <a:srgbClr val="DCE1EB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4050792" y="48326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</a:t>
            </a:r>
            <a:endParaRPr lang="en-US" sz="70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28616" y="3529584"/>
            <a:ext cx="201168" cy="20116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5184648" y="3236976"/>
            <a:ext cx="731520" cy="731520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  <a:effectLst>
            <a:outerShdw sx="100000" sy="100000" kx="0" ky="0" algn="bl" rotWithShape="0" blurRad="2.2179967894451352e+45" dist="5.544991973612839e+45" dir="1.6325867520000003e+54">
              <a:srgbClr val="111827">
                <a:alpha val="9.999999999999999e+53"/>
              </a:srgbClr>
            </a:outerShdw>
          </a:effectLst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389474" y="3441802"/>
            <a:ext cx="321869" cy="321869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5020056" y="418795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1020" dirty="0"/>
          </a:p>
        </p:txBody>
      </p:sp>
      <p:sp>
        <p:nvSpPr>
          <p:cNvPr id="47" name="Shape 35"/>
          <p:cNvSpPr/>
          <p:nvPr/>
        </p:nvSpPr>
        <p:spPr>
          <a:xfrm>
            <a:off x="5093208" y="4828032"/>
            <a:ext cx="932688" cy="265176"/>
          </a:xfrm>
          <a:prstGeom prst="roundRect">
            <a:avLst>
              <a:gd name="adj" fmla="val 27586"/>
            </a:avLst>
          </a:prstGeom>
          <a:solidFill>
            <a:srgbClr val="F2F4F8"/>
          </a:solidFill>
          <a:ln w="8890">
            <a:solidFill>
              <a:srgbClr val="DCE1EB"/>
            </a:solidFill>
            <a:prstDash val="solid"/>
          </a:ln>
        </p:spPr>
      </p:sp>
      <p:sp>
        <p:nvSpPr>
          <p:cNvPr id="48" name="Text 36"/>
          <p:cNvSpPr txBox="1"/>
          <p:nvPr/>
        </p:nvSpPr>
        <p:spPr>
          <a:xfrm>
            <a:off x="5093208" y="48326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radiology</a:t>
            </a:r>
            <a:endParaRPr lang="en-US" sz="70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71032" y="3529584"/>
            <a:ext cx="201168" cy="201168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6227064" y="3236976"/>
            <a:ext cx="731520" cy="731520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  <a:effectLst>
            <a:outerShdw sx="100000" sy="100000" kx="0" ky="0" algn="bl" rotWithShape="0" blurRad="2.816855922595322e+49" dist="7.042139806488305e+49" dir="9.795520512000002e+58">
              <a:srgbClr val="111827">
                <a:alpha val="9.999999999999999e+58"/>
              </a:srgbClr>
            </a:outerShdw>
          </a:effectLst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31890" y="3441802"/>
            <a:ext cx="321869" cy="321869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6062472" y="418795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</a:t>
            </a:r>
            <a:endParaRPr lang="en-US" sz="1020" dirty="0"/>
          </a:p>
        </p:txBody>
      </p:sp>
      <p:sp>
        <p:nvSpPr>
          <p:cNvPr id="53" name="Shape 39"/>
          <p:cNvSpPr/>
          <p:nvPr/>
        </p:nvSpPr>
        <p:spPr>
          <a:xfrm>
            <a:off x="6135624" y="4828032"/>
            <a:ext cx="932688" cy="265176"/>
          </a:xfrm>
          <a:prstGeom prst="roundRect">
            <a:avLst>
              <a:gd name="adj" fmla="val 27586"/>
            </a:avLst>
          </a:prstGeom>
          <a:solidFill>
            <a:srgbClr val="F2F4F8"/>
          </a:solidFill>
          <a:ln w="8890">
            <a:solidFill>
              <a:srgbClr val="DCE1EB"/>
            </a:solidFill>
            <a:prstDash val="solid"/>
          </a:ln>
        </p:spPr>
      </p:sp>
      <p:sp>
        <p:nvSpPr>
          <p:cNvPr id="54" name="Text 40"/>
          <p:cNvSpPr txBox="1"/>
          <p:nvPr/>
        </p:nvSpPr>
        <p:spPr>
          <a:xfrm>
            <a:off x="6135624" y="48326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</a:t>
            </a:r>
            <a:endParaRPr lang="en-US" sz="70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13448" y="3529584"/>
            <a:ext cx="201168" cy="201168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7269480" y="3236976"/>
            <a:ext cx="731520" cy="7315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sx="100000" sy="100000" kx="0" ky="0" algn="bl" rotWithShape="0" blurRad="3.5774070216960587e+53" dist="8.943517554240149e+53" dir="5.877312307200001e+63">
              <a:srgbClr val="111827">
                <a:alpha val="9.999999999999999e+63"/>
              </a:srgbClr>
            </a:outerShdw>
          </a:effectLst>
        </p:spPr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474306" y="3441802"/>
            <a:ext cx="321869" cy="321869"/>
          </a:xfrm>
          <a:prstGeom prst="rect">
            <a:avLst/>
          </a:prstGeom>
        </p:spPr>
      </p:pic>
      <p:sp>
        <p:nvSpPr>
          <p:cNvPr id="58" name="Text 42"/>
          <p:cNvSpPr txBox="1"/>
          <p:nvPr/>
        </p:nvSpPr>
        <p:spPr>
          <a:xfrm>
            <a:off x="7104888" y="418795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</a:t>
            </a:r>
            <a:endParaRPr lang="en-US" sz="1020" dirty="0"/>
          </a:p>
        </p:txBody>
      </p:sp>
      <p:sp>
        <p:nvSpPr>
          <p:cNvPr id="59" name="Shape 43"/>
          <p:cNvSpPr/>
          <p:nvPr/>
        </p:nvSpPr>
        <p:spPr>
          <a:xfrm>
            <a:off x="7178040" y="4828032"/>
            <a:ext cx="932688" cy="265176"/>
          </a:xfrm>
          <a:prstGeom prst="roundRect">
            <a:avLst>
              <a:gd name="adj" fmla="val 27586"/>
            </a:avLst>
          </a:prstGeom>
          <a:solidFill>
            <a:srgbClr val="F2F4F8"/>
          </a:solidFill>
          <a:ln w="8890">
            <a:solidFill>
              <a:srgbClr val="DCE1EB"/>
            </a:solidFill>
            <a:prstDash val="solid"/>
          </a:ln>
        </p:spPr>
      </p:sp>
      <p:sp>
        <p:nvSpPr>
          <p:cNvPr id="60" name="Text 44"/>
          <p:cNvSpPr txBox="1"/>
          <p:nvPr/>
        </p:nvSpPr>
        <p:spPr>
          <a:xfrm>
            <a:off x="7178040" y="48326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</a:t>
            </a:r>
            <a:endParaRPr lang="en-US" sz="700" dirty="0"/>
          </a:p>
        </p:txBody>
      </p:sp>
      <p:pic>
        <p:nvPicPr>
          <p:cNvPr id="61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055864" y="3529584"/>
            <a:ext cx="201168" cy="201168"/>
          </a:xfrm>
          <a:prstGeom prst="rect">
            <a:avLst/>
          </a:prstGeom>
        </p:spPr>
      </p:pic>
      <p:sp>
        <p:nvSpPr>
          <p:cNvPr id="62" name="Shape 45"/>
          <p:cNvSpPr/>
          <p:nvPr/>
        </p:nvSpPr>
        <p:spPr>
          <a:xfrm>
            <a:off x="8311896" y="3236976"/>
            <a:ext cx="731520" cy="731520"/>
          </a:xfrm>
          <a:prstGeom prst="ellipse">
            <a:avLst/>
          </a:prstGeom>
          <a:solidFill>
            <a:srgbClr val="B64FD9"/>
          </a:solidFill>
          <a:ln w="12700">
            <a:solidFill>
              <a:srgbClr val="B64FD9">
                <a:alpha val="0"/>
              </a:srgbClr>
            </a:solidFill>
            <a:prstDash val="solid"/>
          </a:ln>
          <a:effectLst>
            <a:outerShdw sx="100000" sy="100000" kx="0" ky="0" algn="bl" rotWithShape="0" blurRad="4.543306917553994e+57" dist="1.1358267293884988e+58" dir="3.526387384320001e+68">
              <a:srgbClr val="111827">
                <a:alpha val="9.999999999999999e+68"/>
              </a:srgbClr>
            </a:outerShdw>
          </a:effectLst>
        </p:spPr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516722" y="3441802"/>
            <a:ext cx="321869" cy="321869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8147304" y="418795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&amp;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</a:t>
            </a:r>
            <a:endParaRPr lang="en-US" sz="1020" dirty="0"/>
          </a:p>
        </p:txBody>
      </p:sp>
      <p:sp>
        <p:nvSpPr>
          <p:cNvPr id="65" name="Shape 47"/>
          <p:cNvSpPr/>
          <p:nvPr/>
        </p:nvSpPr>
        <p:spPr>
          <a:xfrm>
            <a:off x="8220456" y="4828032"/>
            <a:ext cx="932688" cy="265176"/>
          </a:xfrm>
          <a:prstGeom prst="roundRect">
            <a:avLst>
              <a:gd name="adj" fmla="val 27586"/>
            </a:avLst>
          </a:prstGeom>
          <a:solidFill>
            <a:srgbClr val="F2F4F8"/>
          </a:solidFill>
          <a:ln w="8890">
            <a:solidFill>
              <a:srgbClr val="DCE1EB"/>
            </a:solidFill>
            <a:prstDash val="solid"/>
          </a:ln>
        </p:spPr>
      </p:sp>
      <p:sp>
        <p:nvSpPr>
          <p:cNvPr id="66" name="Text 48"/>
          <p:cNvSpPr txBox="1"/>
          <p:nvPr/>
        </p:nvSpPr>
        <p:spPr>
          <a:xfrm>
            <a:off x="8220456" y="48326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700" dirty="0"/>
          </a:p>
        </p:txBody>
      </p:sp>
      <p:sp>
        <p:nvSpPr>
          <p:cNvPr id="67" name="Text 49"/>
          <p:cNvSpPr txBox="1"/>
          <p:nvPr/>
        </p:nvSpPr>
        <p:spPr>
          <a:xfrm>
            <a:off x="3054096" y="5376672"/>
            <a:ext cx="5961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i="1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Information supplies context; Business Actions manage the resumable journey.</a:t>
            </a:r>
            <a:endParaRPr lang="en-US" sz="1020" dirty="0"/>
          </a:p>
        </p:txBody>
      </p:sp>
      <p:sp>
        <p:nvSpPr>
          <p:cNvPr id="68" name="Shape 50"/>
          <p:cNvSpPr/>
          <p:nvPr/>
        </p:nvSpPr>
        <p:spPr>
          <a:xfrm>
            <a:off x="9619488" y="1700784"/>
            <a:ext cx="1883664" cy="4261104"/>
          </a:xfrm>
          <a:prstGeom prst="roundRect">
            <a:avLst>
              <a:gd name="adj" fmla="val 3883"/>
            </a:avLst>
          </a:prstGeom>
          <a:solidFill>
            <a:srgbClr val="F1EDFF"/>
          </a:solidFill>
          <a:ln w="10160">
            <a:solidFill>
              <a:srgbClr val="DED6FF"/>
            </a:solidFill>
            <a:prstDash val="solid"/>
          </a:ln>
          <a:effectLst>
            <a:outerShdw sx="100000" sy="100000" kx="0" ky="0" algn="bl" rotWithShape="0" blurRad="1.1723268923641065e+29" dist="2.1315034406620118e+29" dir="1.259712e+35">
              <a:srgbClr val="0B1024">
                <a:alpha val="1.7999999999999998e+34"/>
              </a:srgbClr>
            </a:outerShdw>
          </a:effectLst>
        </p:spPr>
      </p:sp>
      <p:sp>
        <p:nvSpPr>
          <p:cNvPr id="69" name="Text 51"/>
          <p:cNvSpPr txBox="1"/>
          <p:nvPr/>
        </p:nvSpPr>
        <p:spPr>
          <a:xfrm>
            <a:off x="9884664" y="195681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9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OUTCOME</a:t>
            </a:r>
            <a:endParaRPr lang="en-US" sz="820" dirty="0"/>
          </a:p>
        </p:txBody>
      </p:sp>
      <p:pic>
        <p:nvPicPr>
          <p:cNvPr id="70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902952" y="2441448"/>
            <a:ext cx="219456" cy="219456"/>
          </a:xfrm>
          <a:prstGeom prst="rect">
            <a:avLst/>
          </a:prstGeom>
        </p:spPr>
      </p:pic>
      <p:sp>
        <p:nvSpPr>
          <p:cNvPr id="71" name="Text 52"/>
          <p:cNvSpPr txBox="1"/>
          <p:nvPr/>
        </p:nvSpPr>
        <p:spPr>
          <a:xfrm>
            <a:off x="10241280" y="2423160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metadata</a:t>
            </a:r>
            <a:endParaRPr lang="en-US" sz="1010" dirty="0"/>
          </a:p>
        </p:txBody>
      </p:sp>
      <p:pic>
        <p:nvPicPr>
          <p:cNvPr id="72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902952" y="3044952"/>
            <a:ext cx="219456" cy="219456"/>
          </a:xfrm>
          <a:prstGeom prst="rect">
            <a:avLst/>
          </a:prstGeom>
        </p:spPr>
      </p:pic>
      <p:sp>
        <p:nvSpPr>
          <p:cNvPr id="73" name="Text 53"/>
          <p:cNvSpPr txBox="1"/>
          <p:nvPr/>
        </p:nvSpPr>
        <p:spPr>
          <a:xfrm>
            <a:off x="10241280" y="3026664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validation</a:t>
            </a:r>
            <a:endParaRPr lang="en-US" sz="1010" dirty="0"/>
          </a:p>
        </p:txBody>
      </p:sp>
      <p:pic>
        <p:nvPicPr>
          <p:cNvPr id="74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902952" y="3648456"/>
            <a:ext cx="219456" cy="219456"/>
          </a:xfrm>
          <a:prstGeom prst="rect">
            <a:avLst/>
          </a:prstGeom>
        </p:spPr>
      </p:pic>
      <p:sp>
        <p:nvSpPr>
          <p:cNvPr id="75" name="Text 54"/>
          <p:cNvSpPr txBox="1"/>
          <p:nvPr/>
        </p:nvSpPr>
        <p:spPr>
          <a:xfrm>
            <a:off x="10241280" y="3630168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process state</a:t>
            </a:r>
            <a:endParaRPr lang="en-US" sz="1010" dirty="0"/>
          </a:p>
        </p:txBody>
      </p:sp>
      <p:pic>
        <p:nvPicPr>
          <p:cNvPr id="76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902952" y="4251960"/>
            <a:ext cx="219456" cy="219456"/>
          </a:xfrm>
          <a:prstGeom prst="rect">
            <a:avLst/>
          </a:prstGeom>
        </p:spPr>
      </p:pic>
      <p:sp>
        <p:nvSpPr>
          <p:cNvPr id="77" name="Text 55"/>
          <p:cNvSpPr txBox="1"/>
          <p:nvPr/>
        </p:nvSpPr>
        <p:spPr>
          <a:xfrm>
            <a:off x="10241280" y="4233672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correlation</a:t>
            </a:r>
            <a:endParaRPr lang="en-US" sz="1010" dirty="0"/>
          </a:p>
        </p:txBody>
      </p:sp>
      <p:pic>
        <p:nvPicPr>
          <p:cNvPr id="78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902952" y="4855464"/>
            <a:ext cx="219456" cy="219456"/>
          </a:xfrm>
          <a:prstGeom prst="rect">
            <a:avLst/>
          </a:prstGeom>
        </p:spPr>
      </p:pic>
      <p:sp>
        <p:nvSpPr>
          <p:cNvPr id="79" name="Text 56"/>
          <p:cNvSpPr txBox="1"/>
          <p:nvPr/>
        </p:nvSpPr>
        <p:spPr>
          <a:xfrm>
            <a:off x="10241280" y="4837176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observability</a:t>
            </a:r>
            <a:endParaRPr lang="en-US" sz="1010" dirty="0"/>
          </a:p>
        </p:txBody>
      </p:sp>
      <p:sp>
        <p:nvSpPr>
          <p:cNvPr id="80" name="Text 57"/>
          <p:cNvSpPr txBox="1"/>
          <p:nvPr/>
        </p:nvSpPr>
        <p:spPr>
          <a:xfrm>
            <a:off x="9884664" y="5431536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F6B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channel can change without redefining the business capability.</a:t>
            </a:r>
            <a:endParaRPr lang="en-US" sz="900" dirty="0"/>
          </a:p>
        </p:txBody>
      </p:sp>
      <p:sp>
        <p:nvSpPr>
          <p:cNvPr id="81" name="Shape 58"/>
          <p:cNvSpPr/>
          <p:nvPr/>
        </p:nvSpPr>
        <p:spPr>
          <a:xfrm>
            <a:off x="667512" y="6446520"/>
            <a:ext cx="10808208" cy="0"/>
          </a:xfrm>
          <a:prstGeom prst="line">
            <a:avLst/>
          </a:prstGeom>
          <a:noFill/>
          <a:ln w="7620">
            <a:solidFill>
              <a:srgbClr val="D7DDEA"/>
            </a:solidFill>
            <a:prstDash val="solid"/>
          </a:ln>
        </p:spPr>
      </p:sp>
      <p:pic>
        <p:nvPicPr>
          <p:cNvPr id="82" name="Image 21" descr="/mnt/data/kaleido-brand/docs/assets/kaleido-mark-ink.png">    </p:cNvPr>
          <p:cNvPicPr>
            <a:picLocks noChangeAspect="1"/>
          </p:cNvPicPr>
          <p:nvPr/>
        </p:nvPicPr>
        <p:blipFill>
          <a:blip r:embed="rId43">
            <a:alphaModFix amt="85000"/>
          </a:blip>
          <a:stretch>
            <a:fillRect/>
          </a:stretch>
        </p:blipFill>
        <p:spPr>
          <a:xfrm>
            <a:off x="667512" y="6510528"/>
            <a:ext cx="146304" cy="169164"/>
          </a:xfrm>
          <a:prstGeom prst="rect">
            <a:avLst/>
          </a:prstGeom>
        </p:spPr>
      </p:pic>
      <p:sp>
        <p:nvSpPr>
          <p:cNvPr id="83" name="Text 59"/>
          <p:cNvSpPr txBox="1"/>
          <p:nvPr/>
        </p:nvSpPr>
        <p:spPr>
          <a:xfrm>
            <a:off x="896112" y="6492240"/>
            <a:ext cx="8869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781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Illustrative: service and workflow concepts are grounded in the repository’s PriorAuth sample.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4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"/>
            <a:ext cx="3337560" cy="333756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663440"/>
            <a:ext cx="2743200" cy="2011680"/>
          </a:xfrm>
          <a:prstGeom prst="ellipse">
            <a:avLst/>
          </a:prstGeom>
          <a:solidFill>
            <a:srgbClr val="21B6D7">
              <a:alpha val="8000"/>
            </a:srgbClr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75720" y="0"/>
            <a:ext cx="0" cy="685800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554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697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983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126480"/>
            <a:ext cx="12191695" cy="0"/>
          </a:xfrm>
          <a:prstGeom prst="line">
            <a:avLst/>
          </a:prstGeom>
          <a:noFill/>
          <a:ln w="6350">
            <a:solidFill>
              <a:srgbClr val="6C73A5">
                <a:alpha val="6000"/>
              </a:srgbClr>
            </a:solidFill>
            <a:prstDash val="solid"/>
          </a:ln>
        </p:spPr>
      </p:sp>
      <p:pic>
        <p:nvPicPr>
          <p:cNvPr id="19" name="Image 0" descr="/mnt/data/kaleido-brand/docs/assets/kaleido-mark-white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9198864" y="548640"/>
            <a:ext cx="2496312" cy="28803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76656" y="5577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9BA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TAKEAWAY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676656" y="914400"/>
            <a:ext cx="7095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once.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 everywhere.</a:t>
            </a:r>
            <a:endParaRPr lang="en-US" sz="3400" dirty="0"/>
          </a:p>
        </p:txBody>
      </p:sp>
      <p:sp>
        <p:nvSpPr>
          <p:cNvPr id="22" name="Shape 19"/>
          <p:cNvSpPr/>
          <p:nvPr/>
        </p:nvSpPr>
        <p:spPr>
          <a:xfrm>
            <a:off x="676656" y="2313432"/>
            <a:ext cx="10826496" cy="1490472"/>
          </a:xfrm>
          <a:prstGeom prst="roundRect">
            <a:avLst>
              <a:gd name="adj" fmla="val 4908"/>
            </a:avLst>
          </a:prstGeom>
          <a:solidFill>
            <a:srgbClr val="111A35"/>
          </a:solidFill>
          <a:ln w="10160">
            <a:solidFill>
              <a:srgbClr val="35436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656" y="2313432"/>
            <a:ext cx="91440" cy="1490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33272" y="2542032"/>
            <a:ext cx="9811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is not another workflow engine, channel platform, or interoperability layer.</a:t>
            </a:r>
            <a:endParaRPr lang="en-US" sz="1850" dirty="0"/>
          </a:p>
        </p:txBody>
      </p:sp>
      <p:sp>
        <p:nvSpPr>
          <p:cNvPr id="25" name="Text 22"/>
          <p:cNvSpPr txBox="1"/>
          <p:nvPr/>
        </p:nvSpPr>
        <p:spPr>
          <a:xfrm>
            <a:off x="1033272" y="3008376"/>
            <a:ext cx="98115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BFC8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the shared capability contract that allows all of them to work together.</a:t>
            </a:r>
            <a:endParaRPr lang="en-US" sz="1850" dirty="0"/>
          </a:p>
        </p:txBody>
      </p:sp>
      <p:sp>
        <p:nvSpPr>
          <p:cNvPr id="26" name="Shape 23"/>
          <p:cNvSpPr/>
          <p:nvPr/>
        </p:nvSpPr>
        <p:spPr>
          <a:xfrm>
            <a:off x="676656" y="4160520"/>
            <a:ext cx="3172968" cy="1353312"/>
          </a:xfrm>
          <a:prstGeom prst="roundRect">
            <a:avLst>
              <a:gd name="adj" fmla="val 5405"/>
            </a:avLst>
          </a:prstGeom>
          <a:solidFill>
            <a:srgbClr val="10182F"/>
          </a:solidFill>
          <a:ln w="10160">
            <a:solidFill>
              <a:srgbClr val="303B5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77824" y="4407408"/>
            <a:ext cx="530352" cy="530352"/>
          </a:xfrm>
          <a:prstGeom prst="ellipse">
            <a:avLst/>
          </a:prstGeom>
          <a:solidFill>
            <a:srgbClr val="21B6D7"/>
          </a:solidFill>
          <a:ln w="12700">
            <a:solidFill>
              <a:srgbClr val="21B6D7">
                <a:alpha val="0"/>
              </a:srgbClr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6323" y="4555907"/>
            <a:ext cx="233355" cy="23335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545336" y="431596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capability model</a:t>
            </a:r>
            <a:endParaRPr lang="en-US" sz="1430" dirty="0"/>
          </a:p>
        </p:txBody>
      </p:sp>
      <p:sp>
        <p:nvSpPr>
          <p:cNvPr id="30" name="Text 26"/>
          <p:cNvSpPr txBox="1"/>
          <p:nvPr/>
        </p:nvSpPr>
        <p:spPr>
          <a:xfrm>
            <a:off x="877824" y="4882896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EB8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information, actions, metadata, validation, and state are defined consistently.</a:t>
            </a:r>
            <a:endParaRPr lang="en-US" sz="960" dirty="0"/>
          </a:p>
        </p:txBody>
      </p:sp>
      <p:sp>
        <p:nvSpPr>
          <p:cNvPr id="31" name="Shape 27"/>
          <p:cNvSpPr/>
          <p:nvPr/>
        </p:nvSpPr>
        <p:spPr>
          <a:xfrm>
            <a:off x="4096512" y="4160520"/>
            <a:ext cx="3172968" cy="1353312"/>
          </a:xfrm>
          <a:prstGeom prst="roundRect">
            <a:avLst>
              <a:gd name="adj" fmla="val 5405"/>
            </a:avLst>
          </a:prstGeom>
          <a:solidFill>
            <a:srgbClr val="10182F"/>
          </a:solidFill>
          <a:ln w="10160">
            <a:solidFill>
              <a:srgbClr val="303B5B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297680" y="4407408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6179" y="4555907"/>
            <a:ext cx="233355" cy="233355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4965192" y="431596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consumers</a:t>
            </a:r>
            <a:endParaRPr lang="en-US" sz="1430" dirty="0"/>
          </a:p>
        </p:txBody>
      </p:sp>
      <p:sp>
        <p:nvSpPr>
          <p:cNvPr id="35" name="Text 30"/>
          <p:cNvSpPr txBox="1"/>
          <p:nvPr/>
        </p:nvSpPr>
        <p:spPr>
          <a:xfrm>
            <a:off x="4297680" y="4882896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EB8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Pega, IVR, digital channels, Da Vinci integrations, partners, and agents reuse the same contract.</a:t>
            </a:r>
            <a:endParaRPr lang="en-US" sz="960" dirty="0"/>
          </a:p>
        </p:txBody>
      </p:sp>
      <p:sp>
        <p:nvSpPr>
          <p:cNvPr id="36" name="Shape 31"/>
          <p:cNvSpPr/>
          <p:nvPr/>
        </p:nvSpPr>
        <p:spPr>
          <a:xfrm>
            <a:off x="7516368" y="4160520"/>
            <a:ext cx="3172968" cy="1353312"/>
          </a:xfrm>
          <a:prstGeom prst="roundRect">
            <a:avLst>
              <a:gd name="adj" fmla="val 5405"/>
            </a:avLst>
          </a:prstGeom>
          <a:solidFill>
            <a:srgbClr val="10182F"/>
          </a:solidFill>
          <a:ln w="10160">
            <a:solidFill>
              <a:srgbClr val="303B5B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717536" y="4407408"/>
            <a:ext cx="530352" cy="530352"/>
          </a:xfrm>
          <a:prstGeom prst="ellipse">
            <a:avLst/>
          </a:prstGeom>
          <a:solidFill>
            <a:srgbClr val="19C4A7"/>
          </a:solidFill>
          <a:ln w="12700">
            <a:solidFill>
              <a:srgbClr val="19C4A7">
                <a:alpha val="0"/>
              </a:srgbClr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66035" y="4555907"/>
            <a:ext cx="233355" cy="233355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385048" y="431596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behavior</a:t>
            </a:r>
            <a:endParaRPr lang="en-US" sz="1430" dirty="0"/>
          </a:p>
        </p:txBody>
      </p:sp>
      <p:sp>
        <p:nvSpPr>
          <p:cNvPr id="40" name="Text 34"/>
          <p:cNvSpPr txBox="1"/>
          <p:nvPr/>
        </p:nvSpPr>
        <p:spPr>
          <a:xfrm>
            <a:off x="7717536" y="4882896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EB8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can change without duplicating the business rules or redefining the journey.</a:t>
            </a:r>
            <a:endParaRPr lang="en-US" sz="960" dirty="0"/>
          </a:p>
        </p:txBody>
      </p:sp>
      <p:sp>
        <p:nvSpPr>
          <p:cNvPr id="41" name="Shape 35"/>
          <p:cNvSpPr/>
          <p:nvPr/>
        </p:nvSpPr>
        <p:spPr>
          <a:xfrm>
            <a:off x="676656" y="5888736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5B5BF7"/>
          </a:solidFill>
          <a:ln w="8890">
            <a:solidFill>
              <a:srgbClr val="5B5BF7">
                <a:alpha val="0"/>
              </a:srgbClr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76656" y="589330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spc="7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BUSINESS CAPABILITIES ONCE</a:t>
            </a:r>
            <a:endParaRPr lang="en-US" sz="760" dirty="0"/>
          </a:p>
        </p:txBody>
      </p:sp>
      <p:sp>
        <p:nvSpPr>
          <p:cNvPr id="43" name="Text 37"/>
          <p:cNvSpPr txBox="1"/>
          <p:nvPr/>
        </p:nvSpPr>
        <p:spPr>
          <a:xfrm>
            <a:off x="3858768" y="5879592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1D8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allow every authorized consumer to discover and use them consistently.</a:t>
            </a:r>
            <a:endParaRPr lang="en-US" sz="1300" dirty="0"/>
          </a:p>
        </p:txBody>
      </p:sp>
      <p:sp>
        <p:nvSpPr>
          <p:cNvPr id="44" name="Text 38"/>
          <p:cNvSpPr txBox="1"/>
          <p:nvPr/>
        </p:nvSpPr>
        <p:spPr>
          <a:xfrm>
            <a:off x="9281160" y="62910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spc="90" kern="0" dirty="0">
                <a:solidFill>
                  <a:srgbClr val="7F8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PRE-1.0 PROJECT PREVIEW</a:t>
            </a:r>
            <a:endParaRPr lang="en-US" sz="740" dirty="0"/>
          </a:p>
        </p:txBody>
      </p:sp>
      <p:sp>
        <p:nvSpPr>
          <p:cNvPr id="45" name="Shape 39"/>
          <p:cNvSpPr/>
          <p:nvPr/>
        </p:nvSpPr>
        <p:spPr>
          <a:xfrm>
            <a:off x="667512" y="6446520"/>
            <a:ext cx="10808208" cy="0"/>
          </a:xfrm>
          <a:prstGeom prst="line">
            <a:avLst/>
          </a:prstGeom>
          <a:noFill/>
          <a:ln w="7620">
            <a:solidFill>
              <a:srgbClr val="2D385A"/>
            </a:solidFill>
            <a:prstDash val="solid"/>
          </a:ln>
        </p:spPr>
      </p:sp>
      <p:pic>
        <p:nvPicPr>
          <p:cNvPr id="46" name="Image 4" descr="/mnt/data/kaleido-brand/docs/assets/kaleido-mark-white.png">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667512" y="6510528"/>
            <a:ext cx="146304" cy="169164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896112" y="6492240"/>
            <a:ext cx="8869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F8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Kaleido — typed, discoverable, stateful business capabilities.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83096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490AA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Kaleido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Kaleido — Executive Overview</dc:title>
  <dc:subject>Executive overview of Kaleido</dc:subject>
  <dc:creator>Kaleido</dc:creator>
  <cp:lastModifiedBy>Kaleido</cp:lastModifiedBy>
  <cp:revision>1</cp:revision>
  <dcterms:created xsi:type="dcterms:W3CDTF">2026-09-30T15:15:44Z</dcterms:created>
  <dcterms:modified xsi:type="dcterms:W3CDTF">2026-09-30T15:15:44Z</dcterms:modified>
</cp:coreProperties>
</file>