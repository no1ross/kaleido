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Lead with the updated position: Kaleido makes business information and business actions understandable to software consumers, including AI agents. The MCP adapter is implemented, so AI is a first-class interface, not a speculative future add-on. The core continues to execute declared capabilities and maintain process state; it does not perform model inference or decide business outcomes.</a:t>
            </a:r>
          </a:p>
          <a:p/>
          <a:p>
            <a:r>
              <a:t>SOURCE BASIS</a:t>
            </a:r>
          </a:p>
          <a:p>
            <a:r>
              <a:t>Kaleido_Executive_Overview_v2(1).pptx, supplied eight-slide executive overview. Original Kaleido mark and icon artwork reused; old AI-as-a-consequence wording replaced.</a:t>
            </a:r>
          </a:p>
          <a:p>
            <a:r>
              <a:t>kaleido-context(3).xml: src/Kaleido.Http.Mcp/README.md (export lines 71861-72032); Instructions/DefaultInstructions.md (23561-23574); Tools/ToolCatalog.cs. Retrieved from the user Library.</a:t>
            </a:r>
          </a:p>
          <a:p>
            <a:r>
              <a:t>cleanup-chatgpt.md: sections 5, 9 and 15, especially KAL-REL-001, KAL-SEC-001 and OQ-07. cleanup-devin.md: KAL-REL-001 and KAL-SEC-001. These are review findings, not fixes or executed demonstrations in this update.</a:t>
            </a:r>
          </a:p>
          <a:p/>
          <a:p>
            <a:r>
              <a:t>QUALIFICATION</a:t>
            </a:r>
          </a:p>
          <a:p>
            <a:r>
              <a:t>AI-native refers to the implemented MCP tool interface and its use of the common capability model. It does not mean a built-in LLM, autonomous planner, retrieval platform, or completed 1.0 safety validation.</a:t>
            </a:r>
          </a:p>
          <a:p/>
          <a:p>
            <a:r>
              <a:t>DECK STATUS</a:t>
            </a:r>
          </a:p>
          <a:p>
            <a:r>
              <a:t>Pre-1.0 project preview. The source export and review reports describe a development state; this presentation does not certify production readiness. No code or live agent demo was executed during this deck update.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This slide is the founder story in professional, non-blaming language. The user explained that, over several years, attempts to explain the step concept did not help people grasp how particular scenarios would work. The narrative here is: make the idea tangible through a working project. It is not a verbatim quotation.</a:t>
            </a:r>
          </a:p>
          <a:p/>
          <a:p>
            <a:r>
              <a:t>Suggested spoken bridge: "I had been trying to explain the step concept for years. Rather than another abstract explanation, Kaleido gives us something we can run and inspect. And once those steps are explicit enough for people and software to understand, they become useful to AI too."</a:t>
            </a:r>
          </a:p>
          <a:p/>
          <a:p>
            <a:r>
              <a:t>SOURCE BASIS</a:t>
            </a:r>
          </a:p>
          <a:p>
            <a:r>
              <a:t>Founder account in the current request, plus kaleido-context(3).xml: src/Kaleido/README.md, Process execution model (export lines 71269-71287); src/AGENTS.md, Process runtime rules and information-request responsibilities; relationship and Lookup attribute comments.</a:t>
            </a:r>
          </a:p>
          <a:p/>
          <a:p>
            <a:r>
              <a:t>QUALIFICATION</a:t>
            </a:r>
          </a:p>
          <a:p>
            <a:r>
              <a:t>No personal origin history was recovered from the available source export. Root docs and decision-record contents are outside that export. Do not attribute the founder story to a repository quotation or imply that AI was the original motivation.</a:t>
            </a:r>
          </a:p>
          <a:p/>
          <a:p>
            <a:r>
              <a:t>DECK STATUS</a:t>
            </a:r>
          </a:p>
          <a:p>
            <a:r>
              <a:t>Pre-1.0 project preview. The source export and review reports describe a development state; this presentation does not certify production readiness. No code or live agent demo was executed during this deck update.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Start with the misconception: a step is not a screen, a chat turn, or merely a box in a rigid sequence. It is a named business action with declared input metadata, relationships, an implementation, and an execution result. The runtime checks process rules and input structure, invokes the business handler, and records state.</a:t>
            </a:r>
          </a:p>
          <a:p/>
          <a:p>
            <a:r>
              <a:t>The next result may require a specific step, expose a set of available steps, or wait for information. Business handlers own domain decisions and question content. Kaleido does not choose a business path because it thinks it is best. A UI and an agent can present the same available choices in different ways.</a:t>
            </a:r>
          </a:p>
          <a:p/>
          <a:p>
            <a:r>
              <a:t>SOURCE BASIS</a:t>
            </a:r>
          </a:p>
          <a:p>
            <a:r>
              <a:t>kaleido-context(3).xml: src/Kaleido/README.md, Process execution model (export lines 71269-71287); src/AGENTS.md, Process runtime rules and information-request responsibilities; relationship and Lookup attribute comments.</a:t>
            </a:r>
          </a:p>
          <a:p>
            <a:r>
              <a:t>kaleido-context(3).xml: src/Kaleido.Http.Mcp/README.md (export lines 71861-72032); Instructions/DefaultInstructions.md (23561-23574); Tools/ToolCatalog.cs. Retrieved from the user Library.</a:t>
            </a:r>
          </a:p>
          <a:p/>
          <a:p>
            <a:r>
              <a:t>QUALIFICATION</a:t>
            </a:r>
          </a:p>
          <a:p>
            <a:r>
              <a:t>The three next-state cards are explanatory categories, not an exhaustive list of enum states. Required information belongs to a required information step. History/event retention and execution reliability depend on the documented storage and release contracts.</a:t>
            </a:r>
          </a:p>
          <a:p/>
          <a:p>
            <a:r>
              <a:t>DECK STATUS</a:t>
            </a:r>
          </a:p>
          <a:p>
            <a:r>
              <a:t>Pre-1.0 project preview. The source export and review reports describe a development state; this presentation does not certify production readiness. No code or live agent demo was executed during this deck update.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The original integration-tax argument remains. Different workflow, channel, partner and agent consumers otherwise tend to embed their own mappings and assumptions. The updated story does not discard that value; it shows why adding AI makes a common contract more important.</a:t>
            </a:r>
          </a:p>
          <a:p/>
          <a:p>
            <a:r>
              <a:t>Kaleido publishes a capability model that can tell an agent what is available, what inputs are expected, and how process state constrains continuation. The proposition is reduced duplication and clearer responsibilities, not zero integration work. There are no measured savings or performance claims on this slide.</a:t>
            </a:r>
          </a:p>
          <a:p/>
          <a:p>
            <a:r>
              <a:t>SOURCE BASIS</a:t>
            </a:r>
          </a:p>
          <a:p>
            <a:r>
              <a:t>Kaleido_Executive_Overview_v2(1).pptx, supplied eight-slide executive overview. Original Kaleido mark and icon artwork reused; old AI-as-a-consequence wording replaced.</a:t>
            </a:r>
          </a:p>
          <a:p>
            <a:r>
              <a:t>kaleido-context(3).xml: src/Kaleido.Http.Mcp/README.md (export lines 71861-72032); Instructions/DefaultInstructions.md (23561-23574); Tools/ToolCatalog.cs. Retrieved from the user Library.</a:t>
            </a:r>
          </a:p>
          <a:p>
            <a:r>
              <a:t>kaleido-context(3).xml: src/Kaleido/README.md, Process execution model (export lines 71269-71287); src/AGENTS.md, Process runtime rules and information-request responsibilities; relationship and Lookup attribute comments.</a:t>
            </a:r>
          </a:p>
          <a:p/>
          <a:p>
            <a:r>
              <a:t>DECK STATUS</a:t>
            </a:r>
          </a:p>
          <a:p>
            <a:r>
              <a:t>Pre-1.0 project preview. The source export and review reports describe a development state; this presentation does not certify production readiness. No code or live agent demo was executed during this deck update.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Keep the original executive terminology so existing stakeholders can recognize the model. Queryable describes business information. Process describes business actions and their resumable execution. Registry makes those capabilities discoverable. MCP is the agent-facing adapter over that existing model, not a fourth business runtime.</a:t>
            </a:r>
          </a:p>
          <a:p/>
          <a:p>
            <a:r>
              <a:t>Caller-filtered discovery is implemented in the exposed registry/tool path, but its production authorization configuration and downstream delegation still require explicit deployment choices and release validation.</a:t>
            </a:r>
          </a:p>
          <a:p/>
          <a:p>
            <a:r>
              <a:t>SOURCE BASIS</a:t>
            </a:r>
          </a:p>
          <a:p>
            <a:r>
              <a:t>Kaleido_Executive_Overview_v2(1).pptx, supplied eight-slide executive overview. Original Kaleido mark and icon artwork reused; old AI-as-a-consequence wording replaced.</a:t>
            </a:r>
          </a:p>
          <a:p>
            <a:r>
              <a:t>kaleido-context(3).xml: src/Kaleido/README.md, Process execution model (export lines 71269-71287); src/AGENTS.md, Process runtime rules and information-request responsibilities; relationship and Lookup attribute comments.</a:t>
            </a:r>
          </a:p>
          <a:p>
            <a:r>
              <a:t>kaleido-context(3).xml: src/Kaleido.Http.Mcp/README.md (export lines 71861-72032); Instructions/DefaultInstructions.md (23561-23574); Tools/ToolCatalog.cs. Retrieved from the user Library.</a:t>
            </a:r>
          </a:p>
          <a:p/>
          <a:p>
            <a:r>
              <a:t>QUALIFICATION</a:t>
            </a:r>
          </a:p>
          <a:p>
            <a:r>
              <a:t>The slide describes architectural roles. It does not claim correct totals on every paging path, universal cache isolation, or completion of the review findings.</a:t>
            </a:r>
          </a:p>
          <a:p/>
          <a:p>
            <a:r>
              <a:t>DECK STATUS</a:t>
            </a:r>
          </a:p>
          <a:p>
            <a:r>
              <a:t>Pre-1.0 project preview. The source export and review reports describe a development state; this presentation does not certify production readiness. No code or live agent demo was executed during this deck update.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Walk down the AI lane first. An agent uses the MCP adapter; the adapter derives tool definitions from the registry and invokes Kaleido clients. The common information/action/catalog model is the same model available through HTTP.</a:t>
            </a:r>
          </a:p>
          <a:p/>
          <a:p>
            <a:r>
              <a:t>The core executes framework operations; business handlers and domain services implement the business. Kaleido is not the LLM, the workflow/case platform, the IVR runtime, or an interoperability standard. The consumers and adapters shown are architectural categories, not bundled integrations.</a:t>
            </a:r>
          </a:p>
          <a:p/>
          <a:p>
            <a:r>
              <a:t>SOURCE BASIS</a:t>
            </a:r>
          </a:p>
          <a:p>
            <a:r>
              <a:t>kaleido-context(3).xml: src/Kaleido.Http.Mcp/README.md (export lines 71861-72032); Instructions/DefaultInstructions.md (23561-23574); Tools/ToolCatalog.cs. Retrieved from the user Library.</a:t>
            </a:r>
          </a:p>
          <a:p>
            <a:r>
              <a:t>kaleido-context(3).xml: src/Kaleido/README.md, Process execution model (export lines 71269-71287); src/AGENTS.md, Process runtime rules and information-request responsibilities; relationship and Lookup attribute comments.</a:t>
            </a:r>
          </a:p>
          <a:p>
            <a:r>
              <a:t>Kaleido_Executive_Overview_v2(1).pptx, supplied eight-slide executive overview. Original Kaleido mark and icon artwork reused; old AI-as-a-consequence wording replaced.</a:t>
            </a:r>
          </a:p>
          <a:p/>
          <a:p>
            <a:r>
              <a:t>QUALIFICATION</a:t>
            </a:r>
          </a:p>
          <a:p>
            <a:r>
              <a:t>The architecture graphic omits host authentication and detailed network topology for readability. It must not be read as a guarantee of correctly scoped downstream credentials; that remains a reviewed release concern.</a:t>
            </a:r>
          </a:p>
          <a:p/>
          <a:p>
            <a:r>
              <a:t>DECK STATUS</a:t>
            </a:r>
          </a:p>
          <a:p>
            <a:r>
              <a:t>Pre-1.0 project preview. The source export and review reports describe a development state; this presentation does not certify production readiness. No code or live agent demo was executed during this deck update.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These are implemented MCP behaviors rather than a roadmap of hypothetical AI features. Tools are generated from the caller-visible registry. Query tools expose the query contract; step tools invoke process actions. Built-in answer_information_request and get_process_state tools support information collection and continuation. Lookup metadata connects step inputs to values in one query result.</a:t>
            </a:r>
          </a:p>
          <a:p/>
          <a:p>
            <a:r>
              <a:t>The default instructions tell agents to offer available choices to the user, show business messages, ask questions as provided, and obtain confirmed answers. Forms are used where supported. These are useful UX behaviors, but instructions and annotations are not enforceable proof of consent or permission.</a:t>
            </a:r>
          </a:p>
          <a:p/>
          <a:p>
            <a:r>
              <a:t>SOURCE BASIS</a:t>
            </a:r>
          </a:p>
          <a:p>
            <a:r>
              <a:t>kaleido-context(3).xml: src/Kaleido.Http.Mcp/README.md (export lines 71861-72032); Instructions/DefaultInstructions.md (23561-23574); Tools/ToolCatalog.cs. Retrieved from the user Library.</a:t>
            </a:r>
          </a:p>
          <a:p>
            <a:r>
              <a:t>cleanup-chatgpt.md: sections 5, 9 and 15, especially KAL-REL-001, KAL-SEC-001 and OQ-07. cleanup-devin.md: KAL-REL-001 and KAL-SEC-001. These are review findings, not fixes or executed demonstrations in this update.</a:t>
            </a:r>
          </a:p>
          <a:p/>
          <a:p>
            <a:r>
              <a:t>QUALIFICATION</a:t>
            </a:r>
          </a:p>
          <a:p>
            <a:r>
              <a:t>The old deck said the agent chooses an allowed capability. This version more precisely emphasizes offering allowed choices and following returned state. No inference engine, model-provider support, or universal model correctness is claimed.</a:t>
            </a:r>
          </a:p>
          <a:p/>
          <a:p>
            <a:r>
              <a:t>DECK STATUS</a:t>
            </a:r>
          </a:p>
          <a:p>
            <a:r>
              <a:t>Pre-1.0 project preview. The source export and review reports describe a development state; this presentation does not certify production readiness. No code or live agent demo was executed during this deck update.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Use this example to make the step concept practical. The first beat is a lookup: the person describes a record, a query returns candidates, and a person chooses. The source describes grouping related identifiers from the same row; services still validate relationships, because client guidance is not enforcement.</a:t>
            </a:r>
          </a:p>
          <a:p/>
          <a:p>
            <a:r>
              <a:t>The second beat is an information request. Kaleido owns the answer schema and structural validation, while the business owns the question wording and answer meaning. The third beat is the sample submission attestation: the handler checks the supplied attestation before recording submission. The sample explicitly says Kaleido does not decide approval.</a:t>
            </a:r>
          </a:p>
          <a:p/>
          <a:p>
            <a:r>
              <a:t>This slide compresses these interactions into three explanatory beats. It is not the complete sample workflow and makes no clinical recommendation.</a:t>
            </a:r>
          </a:p>
          <a:p/>
          <a:p>
            <a:r>
              <a:t>SOURCE BASIS</a:t>
            </a:r>
          </a:p>
          <a:p>
            <a:r>
              <a:t>kaleido-context(3).xml: src/Kaleido.Http.Mcp/README.md (export lines 71861-72032); Instructions/DefaultInstructions.md (23561-23574); Tools/ToolCatalog.cs. Retrieved from the user Library.</a:t>
            </a:r>
          </a:p>
          <a:p>
            <a:r>
              <a:t>kaleido-context(3).xml: samples/PriorAuth/Common/Radiology/Process/Steps/SubmitPriorAuthorizationStep.cs and corresponding handler; CaptureRequestingProviderStep.cs; CaptureClinicalInfoStep.cs; samples/PriorAuth/HANDOFF.md. The sample documents open handoff validation issues.</a:t>
            </a:r>
          </a:p>
          <a:p>
            <a:r>
              <a:t>kaleido-context(3).xml: src/Kaleido/README.md, Process execution model (export lines 71269-71287); src/AGENTS.md, Process runtime rules and information-request responsibilities; relationship and Lookup attribute comments.</a:t>
            </a:r>
          </a:p>
          <a:p/>
          <a:p>
            <a:r>
              <a:t>QUALIFICATION</a:t>
            </a:r>
          </a:p>
          <a:p>
            <a:r>
              <a:t>Attestation validation verifies a submitted answer, not that an arbitrary model/client truly obtained human consent. The sequence is illustrative and omits other steps. No live OAuth, lookup, form, or submission path was executed for this presentation.</a:t>
            </a:r>
          </a:p>
          <a:p/>
          <a:p>
            <a:r>
              <a:t>DECK STATUS</a:t>
            </a:r>
          </a:p>
          <a:p>
            <a:r>
              <a:t>Pre-1.0 project preview. The source export and review reports describe a development state; this presentation does not certify production readiness. No code or live agent demo was executed during this deck update.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This preserves the original deck’s cross-channel story while sharpening the role of process state. The process identifier and current resumable state are separate from the UI or chat session. A subsequent authorized consumer uses that identity and reads the authoritative state before continuing. That reduces reliance on reconstructing the business state from conversation text.</a:t>
            </a:r>
          </a:p>
          <a:p/>
          <a:p>
            <a:r>
              <a:t>A service-to-service handoff is a related but distinct operation: the returned target processor must be read for its current next-step information. The PriorAuth HANDOFF.md explicitly notes an open propagation/state validation issue (HP-025). Do not sell the diagram as evidence that every handoff path is already proven.</a:t>
            </a:r>
          </a:p>
          <a:p/>
          <a:p>
            <a:r>
              <a:t>SOURCE BASIS</a:t>
            </a:r>
          </a:p>
          <a:p>
            <a:r>
              <a:t>kaleido-context(3).xml: src/Kaleido.Http.Mcp/README.md (export lines 71861-72032); Instructions/DefaultInstructions.md (23561-23574); Tools/ToolCatalog.cs. Retrieved from the user Library.</a:t>
            </a:r>
          </a:p>
          <a:p>
            <a:r>
              <a:t>kaleido-context(3).xml: src/Kaleido/README.md, Process execution model (export lines 71269-71287); src/AGENTS.md, Process runtime rules and information-request responsibilities; relationship and Lookup attribute comments.</a:t>
            </a:r>
          </a:p>
          <a:p>
            <a:r>
              <a:t>kaleido-context(3).xml: samples/PriorAuth/Common/Radiology/Process/Steps/SubmitPriorAuthorizationStep.cs and corresponding handler; CaptureRequestingProviderStep.cs; CaptureClinicalInfoStep.cs; samples/PriorAuth/HANDOFF.md. The sample documents open handoff validation issues.</a:t>
            </a:r>
          </a:p>
          <a:p>
            <a:r>
              <a:t>Kaleido_Executive_Overview_v2(1).pptx, supplied eight-slide executive overview. Original Kaleido mark and icon artwork reused; old AI-as-a-consequence wording replaced.</a:t>
            </a:r>
          </a:p>
          <a:p/>
          <a:p>
            <a:r>
              <a:t>QUALIFICATION</a:t>
            </a:r>
          </a:p>
          <a:p>
            <a:r>
              <a:t>This is a supported architectural pattern, contingent on durable storage and host/application authorization. ProcessId is not automatic case-level authorization or proof of ownership. The framework’s process-ID access model and cross-processor behavior need the documented checks. No durable exactly-once guarantee is claimed.</a:t>
            </a:r>
          </a:p>
          <a:p/>
          <a:p>
            <a:r>
              <a:t>DECK STATUS</a:t>
            </a:r>
          </a:p>
          <a:p>
            <a:r>
              <a:t>Pre-1.0 project preview. The source export and review reports describe a development state; this presentation does not certify production readiness. No code or live agent demo was executed during this deck update.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Retain the audience’s existing platform investments. Workflow/case software still owns orchestration, human assignments and service-level work management. Channels own presentation and interaction. Standards adapters own their external exchange boundary. Kaleido supplies a reusable internal capability contract.</a:t>
            </a:r>
          </a:p>
          <a:p/>
          <a:p>
            <a:r>
              <a:t>AI is now an immediate peer use case through the implemented MCP adapter, rather than something that follows later. It increases the value of a shared contract without turning Kaleido into a replacement for those platforms.</a:t>
            </a:r>
          </a:p>
          <a:p/>
          <a:p>
            <a:r>
              <a:t>SOURCE BASIS</a:t>
            </a:r>
          </a:p>
          <a:p>
            <a:r>
              <a:t>Kaleido_Executive_Overview_v2(1).pptx, supplied eight-slide executive overview. Original Kaleido mark and icon artwork reused; old AI-as-a-consequence wording replaced.</a:t>
            </a:r>
          </a:p>
          <a:p>
            <a:r>
              <a:t>kaleido-context(3).xml: src/Kaleido.Http.Mcp/README.md (export lines 71861-72032); Instructions/DefaultInstructions.md (23561-23574); Tools/ToolCatalog.cs. Retrieved from the user Library.</a:t>
            </a:r>
          </a:p>
          <a:p/>
          <a:p>
            <a:r>
              <a:t>QUALIFICATION</a:t>
            </a:r>
          </a:p>
          <a:p>
            <a:r>
              <a:t>Pega, IVR and Da Vinci are illustrative integration categories carried over from the supplied deck. This update did not research current vendor specifications or establish a packaged connector, standards implementation, or conformance result. Avoid presenting these examples as already delivered integrations.</a:t>
            </a:r>
          </a:p>
          <a:p/>
          <a:p>
            <a:r>
              <a:t>DECK STATUS</a:t>
            </a:r>
          </a:p>
          <a:p>
            <a:r>
              <a:t>Pre-1.0 project preview. The source export and review reports describe a development state; this presentation does not certify production readiness. No code or live agent demo was executed during this deck update.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Be affirmative about the architecture and precise about its authority. There are implemented deterministic mechanisms: metadata schemas, caller-filtered tool exposure, input validation, process availability rules and state-driven continuation. The application still owns business meaning, record/case authorization, and any actual approval requirement.</a:t>
            </a:r>
          </a:p>
          <a:p/>
          <a:p>
            <a:r>
              <a:t>The review reports identify real pre-1.0 work: destination-specific MCP credential delegation, duplicate-operation/retry admission and completion semantics, post-handler cancellation, and end-to-end client/consent behavior. This slide intentionally separates implemented mechanisms from deployment responsibilities and unclosed release validation. No cleanup recommendation is treated as already implemented.</a:t>
            </a:r>
          </a:p>
          <a:p/>
          <a:p>
            <a:r>
              <a:t>SOURCE BASIS</a:t>
            </a:r>
          </a:p>
          <a:p>
            <a:r>
              <a:t>kaleido-context(3).xml: src/Kaleido.Http.Mcp/README.md (export lines 71861-72032); Instructions/DefaultInstructions.md (23561-23574); Tools/ToolCatalog.cs. Retrieved from the user Library.</a:t>
            </a:r>
          </a:p>
          <a:p>
            <a:r>
              <a:t>kaleido-context(3).xml: src/Kaleido/README.md, Process execution model (export lines 71269-71287); src/AGENTS.md, Process runtime rules and information-request responsibilities; relationship and Lookup attribute comments.</a:t>
            </a:r>
          </a:p>
          <a:p>
            <a:r>
              <a:t>cleanup-chatgpt.md: sections 5, 9 and 15, especially KAL-REL-001, KAL-SEC-001 and OQ-07. cleanup-devin.md: KAL-REL-001 and KAL-SEC-001. These are review findings, not fixes or executed demonstrations in this update.</a:t>
            </a:r>
          </a:p>
          <a:p/>
          <a:p>
            <a:r>
              <a:t>QUALIFICATION</a:t>
            </a:r>
          </a:p>
          <a:p>
            <a:r>
              <a:t>Tool descriptions, RequiresConfirmation annotations, prompt instructions and forms are not by themselves technical evidence of human consent. The deck does not claim prompt-injection immunity, automatic business approval, safe retries in every failure window, or arbitrary exactly-once external effects.</a:t>
            </a:r>
          </a:p>
          <a:p/>
          <a:p>
            <a:r>
              <a:t>DECK STATUS</a:t>
            </a:r>
          </a:p>
          <a:p>
            <a:r>
              <a:t>Pre-1.0 project preview. The source export and review reports describe a development state; this presentation does not certify production readiness. No code or live agent demo was executed during this deck update.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Close by connecting the origin and the new strategic relevance. Kaleido began as a way to make the step concept understandable through working behavior. Its metadata, query/action boundaries and explicit process state are now usable through an implemented MCP interface.</a:t>
            </a:r>
          </a:p>
          <a:p/>
          <a:p>
            <a:r>
              <a:t>The message is not that AI should take over the business. It is that the business can publish a coherent set of capabilities that both people and AI-assisted consumers can use, while preserving application-owned decisions and host-owned authority.</a:t>
            </a:r>
          </a:p>
          <a:p/>
          <a:p>
            <a:r>
              <a:t>Suggested final line: "The original problem was making steps understandable. The new opportunity is making those same steps usable by AI—without redefining the business for every new consumer."</a:t>
            </a:r>
          </a:p>
          <a:p/>
          <a:p>
            <a:r>
              <a:t>SOURCE BASIS</a:t>
            </a:r>
          </a:p>
          <a:p>
            <a:r>
              <a:t>Founder account in the current request.</a:t>
            </a:r>
          </a:p>
          <a:p>
            <a:r>
              <a:t>Kaleido_Executive_Overview_v2(1).pptx, supplied eight-slide executive overview. Original Kaleido mark and icon artwork reused; old AI-as-a-consequence wording replaced.</a:t>
            </a:r>
          </a:p>
          <a:p>
            <a:r>
              <a:t>kaleido-context(3).xml: src/Kaleido.Http.Mcp/README.md (export lines 71861-72032); Instructions/DefaultInstructions.md (23561-23574); Tools/ToolCatalog.cs. Retrieved from the user Library.</a:t>
            </a:r>
          </a:p>
          <a:p>
            <a:r>
              <a:t>kaleido-context(3).xml: src/Kaleido/README.md, Process execution model (export lines 71269-71287); src/AGENTS.md, Process runtime rules and information-request responsibilities; relationship and Lookup attribute comments.</a:t>
            </a:r>
          </a:p>
          <a:p/>
          <a:p>
            <a:r>
              <a:t>QUALIFICATION</a:t>
            </a:r>
          </a:p>
          <a:p>
            <a:r>
              <a:t>The statement is a positioning synthesis, not a measured adoption claim or approval for a 1.0 release. Retain the pre-1.0 preview status when sharing externally.</a:t>
            </a:r>
          </a:p>
          <a:p/>
          <a:p>
            <a:r>
              <a:t>DECK STATUS</a:t>
            </a:r>
          </a:p>
          <a:p>
            <a:r>
              <a:t>Pre-1.0 project preview. The source export and review reports describe a development state; this presentation does not certify production readiness. No code or live agent demo was executed during this deck update.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15.png"/><Relationship Id="rId6" Type="http://schemas.openxmlformats.org/officeDocument/2006/relationships/image" Target="../media/image10.png"/><Relationship Id="rId7" Type="http://schemas.openxmlformats.org/officeDocument/2006/relationships/image" Target="../media/image16.png"/><Relationship Id="rId8" Type="http://schemas.openxmlformats.org/officeDocument/2006/relationships/image" Target="../media/image1.png"/><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7.png"/><Relationship Id="rId6" Type="http://schemas.openxmlformats.org/officeDocument/2006/relationships/image" Target="../media/image19.png"/><Relationship Id="rId7" Type="http://schemas.openxmlformats.org/officeDocument/2006/relationships/image" Target="../media/image4.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26.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image" Target="../media/image27.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C1E"/>
        </a:solidFill>
        <a:effectLst/>
      </p:bgPr>
    </p:bg>
    <p:spTree>
      <p:nvGrpSpPr>
        <p:cNvPr id="1" name=""/>
        <p:cNvGrpSpPr/>
        <p:nvPr/>
      </p:nvGrpSpPr>
      <p:grpSpPr/>
      <p:sp>
        <p:nvSpPr>
          <p:cNvPr id="2" name="Rectangle 1"/>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7452360" y="41148"/>
            <a:ext cx="4739639" cy="6816852"/>
          </a:xfrm>
          <a:prstGeom prst="rect">
            <a:avLst/>
          </a:prstGeom>
          <a:solidFill>
            <a:srgbClr val="161D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Oval 3"/>
          <p:cNvSpPr/>
          <p:nvPr/>
        </p:nvSpPr>
        <p:spPr>
          <a:xfrm>
            <a:off x="7589520" y="585216"/>
            <a:ext cx="4114800" cy="4114800"/>
          </a:xfrm>
          <a:prstGeom prst="ellipse">
            <a:avLst/>
          </a:prstGeom>
          <a:solidFill>
            <a:srgbClr val="24245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Oval 4"/>
          <p:cNvSpPr/>
          <p:nvPr/>
        </p:nvSpPr>
        <p:spPr>
          <a:xfrm>
            <a:off x="7827264" y="841248"/>
            <a:ext cx="3602736" cy="3602736"/>
          </a:xfrm>
          <a:prstGeom prst="ellipse">
            <a:avLst/>
          </a:prstGeom>
          <a:noFill/>
          <a:ln w="10160">
            <a:solidFill>
              <a:srgbClr val="51528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8083296" y="1097280"/>
            <a:ext cx="3090672" cy="3090672"/>
          </a:xfrm>
          <a:prstGeom prst="ellipse">
            <a:avLst/>
          </a:prstGeom>
          <a:noFill/>
          <a:ln w="10160">
            <a:solidFill>
              <a:srgbClr val="4249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7" name="Picture 6" descr="image-4-11.png"/>
          <p:cNvPicPr>
            <a:picLocks noChangeAspect="1"/>
          </p:cNvPicPr>
          <p:nvPr/>
        </p:nvPicPr>
        <p:blipFill>
          <a:blip r:embed="rId2"/>
          <a:stretch>
            <a:fillRect/>
          </a:stretch>
        </p:blipFill>
        <p:spPr>
          <a:xfrm>
            <a:off x="7955279" y="1143000"/>
            <a:ext cx="3383280" cy="3383280"/>
          </a:xfrm>
          <a:prstGeom prst="rect">
            <a:avLst/>
          </a:prstGeom>
          <a:effectLst/>
        </p:spPr>
      </p:pic>
      <p:pic>
        <p:nvPicPr>
          <p:cNvPr id="8" name="Picture 7" descr="image-4-11.png"/>
          <p:cNvPicPr>
            <a:picLocks noChangeAspect="1"/>
          </p:cNvPicPr>
          <p:nvPr/>
        </p:nvPicPr>
        <p:blipFill>
          <a:blip r:embed="rId2"/>
          <a:stretch>
            <a:fillRect/>
          </a:stretch>
        </p:blipFill>
        <p:spPr>
          <a:xfrm>
            <a:off x="585216" y="548640"/>
            <a:ext cx="685800" cy="685800"/>
          </a:xfrm>
          <a:prstGeom prst="rect">
            <a:avLst/>
          </a:prstGeom>
          <a:effectLst/>
        </p:spPr>
      </p:pic>
      <p:sp>
        <p:nvSpPr>
          <p:cNvPr id="9" name="S01 Text 08 - Kaleido"/>
          <p:cNvSpPr txBox="1"/>
          <p:nvPr/>
        </p:nvSpPr>
        <p:spPr>
          <a:xfrm>
            <a:off x="1408176" y="676656"/>
            <a:ext cx="4572000" cy="612648"/>
          </a:xfrm>
          <a:prstGeom prst="rect">
            <a:avLst/>
          </a:prstGeom>
          <a:noFill/>
          <a:effectLst/>
        </p:spPr>
        <p:txBody>
          <a:bodyPr wrap="square" lIns="0" rIns="0" tIns="0" bIns="0" anchor="t">
            <a:noAutofit/>
          </a:bodyPr>
          <a:lstStyle/>
          <a:p>
            <a:pPr algn="l">
              <a:lnSpc>
                <a:spcPct val="110000"/>
              </a:lnSpc>
              <a:spcBef>
                <a:spcPts val="0"/>
              </a:spcBef>
              <a:spcAft>
                <a:spcPts val="0"/>
              </a:spcAft>
            </a:pPr>
            <a:r>
              <a:rPr sz="3600" b="1">
                <a:solidFill>
                  <a:srgbClr val="FFFFFF"/>
                </a:solidFill>
                <a:latin typeface="Inter"/>
              </a:rPr>
              <a:t>Kaleido</a:t>
            </a:r>
          </a:p>
        </p:txBody>
      </p:sp>
      <p:sp>
        <p:nvSpPr>
          <p:cNvPr id="10" name="Rounded Rectangle 9"/>
          <p:cNvSpPr/>
          <p:nvPr/>
        </p:nvSpPr>
        <p:spPr>
          <a:xfrm>
            <a:off x="667512" y="1554480"/>
            <a:ext cx="2258568" cy="265176"/>
          </a:xfrm>
          <a:prstGeom prst="roundRect">
            <a:avLst>
              <a:gd name="adj" fmla="val 14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01 Text 10 - EXECUTIVE OVERVIEW"/>
          <p:cNvSpPr txBox="1"/>
          <p:nvPr/>
        </p:nvSpPr>
        <p:spPr>
          <a:xfrm>
            <a:off x="740664" y="1568195"/>
            <a:ext cx="2112264" cy="246887"/>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B8C3DC"/>
                </a:solidFill>
                <a:latin typeface="Inter"/>
              </a:rPr>
              <a:t>EXECUTIVE OVERVIEW</a:t>
            </a:r>
          </a:p>
        </p:txBody>
      </p:sp>
      <p:sp>
        <p:nvSpPr>
          <p:cNvPr id="12" name="S01 Text 11 - Business capabilities. Built for people and AI."/>
          <p:cNvSpPr txBox="1"/>
          <p:nvPr/>
        </p:nvSpPr>
        <p:spPr>
          <a:xfrm>
            <a:off x="658368" y="2231136"/>
            <a:ext cx="6766560" cy="1938528"/>
          </a:xfrm>
          <a:prstGeom prst="rect">
            <a:avLst/>
          </a:prstGeom>
          <a:noFill/>
          <a:effectLst/>
        </p:spPr>
        <p:txBody>
          <a:bodyPr wrap="square" lIns="0" rIns="0" tIns="0" bIns="0" anchor="t">
            <a:noAutofit/>
          </a:bodyPr>
          <a:lstStyle/>
          <a:p>
            <a:pPr algn="l">
              <a:lnSpc>
                <a:spcPct val="110000"/>
              </a:lnSpc>
              <a:spcBef>
                <a:spcPts val="0"/>
              </a:spcBef>
              <a:spcAft>
                <a:spcPts val="0"/>
              </a:spcAft>
            </a:pPr>
            <a:r>
              <a:rPr sz="3900" b="1">
                <a:solidFill>
                  <a:srgbClr val="FFFFFF"/>
                </a:solidFill>
                <a:latin typeface="Inter"/>
              </a:rPr>
              <a:t>Business capabilities.</a:t>
            </a:r>
          </a:p>
          <a:p>
            <a:pPr algn="l">
              <a:lnSpc>
                <a:spcPct val="110000"/>
              </a:lnSpc>
              <a:spcBef>
                <a:spcPts val="0"/>
              </a:spcBef>
              <a:spcAft>
                <a:spcPts val="0"/>
              </a:spcAft>
            </a:pPr>
            <a:r>
              <a:rPr sz="3900" b="1">
                <a:solidFill>
                  <a:srgbClr val="FFFFFF"/>
                </a:solidFill>
                <a:latin typeface="Inter"/>
              </a:rPr>
              <a:t>Built for people</a:t>
            </a:r>
          </a:p>
          <a:p>
            <a:pPr algn="l">
              <a:lnSpc>
                <a:spcPct val="110000"/>
              </a:lnSpc>
              <a:spcBef>
                <a:spcPts val="0"/>
              </a:spcBef>
              <a:spcAft>
                <a:spcPts val="0"/>
              </a:spcAft>
            </a:pPr>
            <a:r>
              <a:rPr sz="3900" b="1">
                <a:solidFill>
                  <a:srgbClr val="FFFFFF"/>
                </a:solidFill>
                <a:latin typeface="Inter"/>
              </a:rPr>
              <a:t>and AI.</a:t>
            </a:r>
          </a:p>
        </p:txBody>
      </p:sp>
      <p:sp>
        <p:nvSpPr>
          <p:cNvPr id="13" name="S01 Text 12 - Typed. Discoverable. Stateful."/>
          <p:cNvSpPr txBox="1"/>
          <p:nvPr/>
        </p:nvSpPr>
        <p:spPr>
          <a:xfrm>
            <a:off x="685800" y="4526280"/>
            <a:ext cx="6400800" cy="393192"/>
          </a:xfrm>
          <a:prstGeom prst="rect">
            <a:avLst/>
          </a:prstGeom>
          <a:noFill/>
          <a:effectLst/>
        </p:spPr>
        <p:txBody>
          <a:bodyPr wrap="square" lIns="0" rIns="0" tIns="0" bIns="0" anchor="t">
            <a:noAutofit/>
          </a:bodyPr>
          <a:lstStyle/>
          <a:p>
            <a:pPr algn="l">
              <a:lnSpc>
                <a:spcPct val="110000"/>
              </a:lnSpc>
              <a:spcBef>
                <a:spcPts val="0"/>
              </a:spcBef>
              <a:spcAft>
                <a:spcPts val="0"/>
              </a:spcAft>
            </a:pPr>
            <a:r>
              <a:rPr sz="2100" b="1">
                <a:solidFill>
                  <a:srgbClr val="B8C3DC"/>
                </a:solidFill>
                <a:latin typeface="Inter"/>
              </a:rPr>
              <a:t>Typed. Discoverable. Stateful.</a:t>
            </a:r>
          </a:p>
        </p:txBody>
      </p:sp>
      <p:sp>
        <p:nvSpPr>
          <p:cNvPr id="14" name="S01 Text 13 - A shared contract for business information and actions,"/>
          <p:cNvSpPr txBox="1"/>
          <p:nvPr/>
        </p:nvSpPr>
        <p:spPr>
          <a:xfrm>
            <a:off x="685800" y="5084064"/>
            <a:ext cx="6446520" cy="722376"/>
          </a:xfrm>
          <a:prstGeom prst="rect">
            <a:avLst/>
          </a:prstGeom>
          <a:noFill/>
          <a:effectLst/>
        </p:spPr>
        <p:txBody>
          <a:bodyPr wrap="square" lIns="0" rIns="0" tIns="0" bIns="0" anchor="t">
            <a:noAutofit/>
          </a:bodyPr>
          <a:lstStyle/>
          <a:p>
            <a:pPr algn="l">
              <a:lnSpc>
                <a:spcPct val="110000"/>
              </a:lnSpc>
              <a:spcBef>
                <a:spcPts val="0"/>
              </a:spcBef>
              <a:spcAft>
                <a:spcPts val="0"/>
              </a:spcAft>
            </a:pPr>
            <a:r>
              <a:rPr sz="1639" b="0">
                <a:solidFill>
                  <a:srgbClr val="B8C3DC"/>
                </a:solidFill>
                <a:latin typeface="Inter"/>
              </a:rPr>
              <a:t>A shared contract for business information and actions,</a:t>
            </a:r>
          </a:p>
          <a:p>
            <a:pPr algn="l">
              <a:lnSpc>
                <a:spcPct val="110000"/>
              </a:lnSpc>
              <a:spcBef>
                <a:spcPts val="0"/>
              </a:spcBef>
              <a:spcAft>
                <a:spcPts val="0"/>
              </a:spcAft>
            </a:pPr>
            <a:r>
              <a:rPr sz="1639" b="0">
                <a:solidFill>
                  <a:srgbClr val="B8C3DC"/>
                </a:solidFill>
                <a:latin typeface="Inter"/>
              </a:rPr>
              <a:t>with an implemented MCP interface for AI agents.</a:t>
            </a:r>
          </a:p>
        </p:txBody>
      </p:sp>
      <p:sp>
        <p:nvSpPr>
          <p:cNvPr id="15" name="Rounded Rectangle 14"/>
          <p:cNvSpPr/>
          <p:nvPr/>
        </p:nvSpPr>
        <p:spPr>
          <a:xfrm>
            <a:off x="8001000" y="4956048"/>
            <a:ext cx="1508760" cy="329184"/>
          </a:xfrm>
          <a:prstGeom prst="roundRect">
            <a:avLst>
              <a:gd name="adj" fmla="val 14000"/>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S01 Text 15 - DISCOVER"/>
          <p:cNvSpPr txBox="1"/>
          <p:nvPr/>
        </p:nvSpPr>
        <p:spPr>
          <a:xfrm>
            <a:off x="8074152" y="4969764"/>
            <a:ext cx="1362456" cy="310896"/>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50" b="1">
                <a:solidFill>
                  <a:srgbClr val="FFFFFF"/>
                </a:solidFill>
                <a:latin typeface="Inter"/>
              </a:rPr>
              <a:t>DISCOVER</a:t>
            </a:r>
          </a:p>
        </p:txBody>
      </p:sp>
      <p:sp>
        <p:nvSpPr>
          <p:cNvPr id="17" name="Rounded Rectangle 16"/>
          <p:cNvSpPr/>
          <p:nvPr/>
        </p:nvSpPr>
        <p:spPr>
          <a:xfrm>
            <a:off x="9701784" y="4956048"/>
            <a:ext cx="1508760" cy="329184"/>
          </a:xfrm>
          <a:prstGeom prst="roundRect">
            <a:avLst>
              <a:gd name="adj" fmla="val 14000"/>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S01 Text 17 - ACT"/>
          <p:cNvSpPr txBox="1"/>
          <p:nvPr/>
        </p:nvSpPr>
        <p:spPr>
          <a:xfrm>
            <a:off x="9774936" y="4969764"/>
            <a:ext cx="1362456" cy="310896"/>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50" b="1">
                <a:solidFill>
                  <a:srgbClr val="FFFFFF"/>
                </a:solidFill>
                <a:latin typeface="Inter"/>
              </a:rPr>
              <a:t>ACT</a:t>
            </a:r>
          </a:p>
        </p:txBody>
      </p:sp>
      <p:sp>
        <p:nvSpPr>
          <p:cNvPr id="19" name="Rounded Rectangle 18"/>
          <p:cNvSpPr/>
          <p:nvPr/>
        </p:nvSpPr>
        <p:spPr>
          <a:xfrm>
            <a:off x="8001000" y="5468112"/>
            <a:ext cx="1508760" cy="329184"/>
          </a:xfrm>
          <a:prstGeom prst="roundRect">
            <a:avLst>
              <a:gd name="adj" fmla="val 14000"/>
            </a:avLst>
          </a:prstGeom>
          <a:solidFill>
            <a:srgbClr val="3182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S01 Text 19 - ASK"/>
          <p:cNvSpPr txBox="1"/>
          <p:nvPr/>
        </p:nvSpPr>
        <p:spPr>
          <a:xfrm>
            <a:off x="8074152" y="5481828"/>
            <a:ext cx="1362456" cy="310896"/>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50" b="1">
                <a:solidFill>
                  <a:srgbClr val="FFFFFF"/>
                </a:solidFill>
                <a:latin typeface="Inter"/>
              </a:rPr>
              <a:t>ASK</a:t>
            </a:r>
          </a:p>
        </p:txBody>
      </p:sp>
      <p:sp>
        <p:nvSpPr>
          <p:cNvPr id="21" name="Rounded Rectangle 20"/>
          <p:cNvSpPr/>
          <p:nvPr/>
        </p:nvSpPr>
        <p:spPr>
          <a:xfrm>
            <a:off x="9701784" y="5468112"/>
            <a:ext cx="1508760" cy="329184"/>
          </a:xfrm>
          <a:prstGeom prst="roundRect">
            <a:avLst>
              <a:gd name="adj" fmla="val 14000"/>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S01 Text 21 - CONTINUE"/>
          <p:cNvSpPr txBox="1"/>
          <p:nvPr/>
        </p:nvSpPr>
        <p:spPr>
          <a:xfrm>
            <a:off x="9774936" y="5481828"/>
            <a:ext cx="1362456" cy="310896"/>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50" b="1">
                <a:solidFill>
                  <a:srgbClr val="FFFFFF"/>
                </a:solidFill>
                <a:latin typeface="Inter"/>
              </a:rPr>
              <a:t>CONTINUE</a:t>
            </a:r>
          </a:p>
        </p:txBody>
      </p:sp>
      <p:sp>
        <p:nvSpPr>
          <p:cNvPr id="23" name="S01 Text 22 - AI-native interface. Business-owned decisions."/>
          <p:cNvSpPr txBox="1"/>
          <p:nvPr/>
        </p:nvSpPr>
        <p:spPr>
          <a:xfrm>
            <a:off x="685800" y="6309360"/>
            <a:ext cx="6629400" cy="246888"/>
          </a:xfrm>
          <a:prstGeom prst="rect">
            <a:avLst/>
          </a:prstGeom>
          <a:noFill/>
          <a:effectLst/>
        </p:spPr>
        <p:txBody>
          <a:bodyPr wrap="square" lIns="0" rIns="0" tIns="0" bIns="0" anchor="t">
            <a:noAutofit/>
          </a:bodyPr>
          <a:lstStyle/>
          <a:p>
            <a:pPr algn="l">
              <a:lnSpc>
                <a:spcPct val="110000"/>
              </a:lnSpc>
              <a:spcBef>
                <a:spcPts val="0"/>
              </a:spcBef>
              <a:spcAft>
                <a:spcPts val="0"/>
              </a:spcAft>
            </a:pPr>
            <a:r>
              <a:rPr sz="1220" b="1">
                <a:solidFill>
                  <a:srgbClr val="FFFFFF"/>
                </a:solidFill>
                <a:latin typeface="Inter"/>
              </a:rPr>
              <a:t>AI-native interface. Business-owned decisions.</a:t>
            </a:r>
          </a:p>
        </p:txBody>
      </p:sp>
      <p:sp>
        <p:nvSpPr>
          <p:cNvPr id="24" name="S01 Text 23 - PRE-1.0 PROJECT PREVIEW  |  01"/>
          <p:cNvSpPr txBox="1"/>
          <p:nvPr/>
        </p:nvSpPr>
        <p:spPr>
          <a:xfrm>
            <a:off x="8238744" y="6373368"/>
            <a:ext cx="3218688" cy="201168"/>
          </a:xfrm>
          <a:prstGeom prst="rect">
            <a:avLst/>
          </a:prstGeom>
          <a:noFill/>
          <a:effectLst/>
        </p:spPr>
        <p:txBody>
          <a:bodyPr wrap="square" lIns="0" rIns="0" tIns="0" bIns="0" anchor="t">
            <a:noAutofit/>
          </a:bodyPr>
          <a:lstStyle/>
          <a:p>
            <a:pPr algn="r">
              <a:lnSpc>
                <a:spcPct val="110000"/>
              </a:lnSpc>
              <a:spcBef>
                <a:spcPts val="0"/>
              </a:spcBef>
              <a:spcAft>
                <a:spcPts val="0"/>
              </a:spcAft>
            </a:pPr>
            <a:r>
              <a:rPr sz="869" b="0">
                <a:solidFill>
                  <a:srgbClr val="B8C3DC"/>
                </a:solidFill>
                <a:latin typeface="Inter"/>
              </a:rPr>
              <a:t>PRE-1.0 PROJECT PREVIEW  |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C1E"/>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1513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0B203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02 Text 04 - WHY KALEIDO WAS STARTED"/>
          <p:cNvSpPr txBox="1"/>
          <p:nvPr/>
        </p:nvSpPr>
        <p:spPr>
          <a:xfrm>
            <a:off x="603504" y="393192"/>
            <a:ext cx="9966960"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B8C3DC"/>
                </a:solidFill>
                <a:latin typeface="Inter"/>
              </a:rPr>
              <a:t>WHY KALEIDO WAS STARTED</a:t>
            </a:r>
          </a:p>
        </p:txBody>
      </p:sp>
      <p:sp>
        <p:nvSpPr>
          <p:cNvPr id="6" name="S02 Text 05 - The idea needed a working example."/>
          <p:cNvSpPr txBox="1"/>
          <p:nvPr/>
        </p:nvSpPr>
        <p:spPr>
          <a:xfrm>
            <a:off x="603504" y="832104"/>
            <a:ext cx="10972800"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2900" b="1">
                <a:solidFill>
                  <a:srgbClr val="FFFFFF"/>
                </a:solidFill>
                <a:latin typeface="Inter"/>
              </a:rPr>
              <a:t>The idea needed a working example.</a:t>
            </a:r>
          </a:p>
        </p:txBody>
      </p:sp>
      <p:cxnSp>
        <p:nvCxnSpPr>
          <p:cNvPr id="7" name="Connector 6"/>
          <p:cNvCxnSpPr/>
          <p:nvPr/>
        </p:nvCxnSpPr>
        <p:spPr>
          <a:xfrm>
            <a:off x="603504" y="6492240"/>
            <a:ext cx="10981944" cy="0"/>
          </a:xfrm>
          <a:prstGeom prst="line">
            <a:avLst/>
          </a:prstGeom>
          <a:ln w="8255">
            <a:solidFill>
              <a:srgbClr val="29334F"/>
            </a:solidFill>
          </a:ln>
          <a:effectLst/>
        </p:spPr>
        <p:style>
          <a:lnRef idx="2">
            <a:schemeClr val="accent1"/>
          </a:lnRef>
          <a:fillRef idx="0">
            <a:schemeClr val="accent1"/>
          </a:fillRef>
          <a:effectRef idx="0">
            <a:schemeClr val="accent1"/>
          </a:effectRef>
          <a:fontRef idx="minor">
            <a:schemeClr val="tx1"/>
          </a:fontRef>
        </p:style>
      </p:cxnSp>
      <p:pic>
        <p:nvPicPr>
          <p:cNvPr id="8" name="Picture 7" descr="image-2-12.png"/>
          <p:cNvPicPr>
            <a:picLocks noChangeAspect="1"/>
          </p:cNvPicPr>
          <p:nvPr/>
        </p:nvPicPr>
        <p:blipFill>
          <a:blip r:embed="rId2"/>
          <a:stretch>
            <a:fillRect/>
          </a:stretch>
        </p:blipFill>
        <p:spPr>
          <a:xfrm>
            <a:off x="621792" y="6583680"/>
            <a:ext cx="164592" cy="190665"/>
          </a:xfrm>
          <a:prstGeom prst="rect">
            <a:avLst/>
          </a:prstGeom>
          <a:effectLst/>
        </p:spPr>
      </p:pic>
      <p:sp>
        <p:nvSpPr>
          <p:cNvPr id="9" name="S02 Text 08 - Kaleido  |  AI-native executive overview"/>
          <p:cNvSpPr txBox="1"/>
          <p:nvPr/>
        </p:nvSpPr>
        <p:spPr>
          <a:xfrm>
            <a:off x="877824" y="6574536"/>
            <a:ext cx="4572000" cy="173736"/>
          </a:xfrm>
          <a:prstGeom prst="rect">
            <a:avLst/>
          </a:prstGeom>
          <a:noFill/>
          <a:effectLst/>
        </p:spPr>
        <p:txBody>
          <a:bodyPr wrap="square" lIns="0" rIns="0" tIns="0" bIns="0" anchor="t">
            <a:noAutofit/>
          </a:bodyPr>
          <a:lstStyle/>
          <a:p>
            <a:pPr algn="l">
              <a:lnSpc>
                <a:spcPct val="110000"/>
              </a:lnSpc>
              <a:spcBef>
                <a:spcPts val="0"/>
              </a:spcBef>
              <a:spcAft>
                <a:spcPts val="0"/>
              </a:spcAft>
            </a:pPr>
            <a:r>
              <a:rPr sz="830" b="0">
                <a:solidFill>
                  <a:srgbClr val="B8C3DC"/>
                </a:solidFill>
                <a:latin typeface="Inter"/>
              </a:rPr>
              <a:t>Kaleido  |  AI-native executive overview</a:t>
            </a:r>
          </a:p>
        </p:txBody>
      </p:sp>
      <p:sp>
        <p:nvSpPr>
          <p:cNvPr id="10" name="S02 Text 09 - PRE-1.0 PROJECT PREVIEW"/>
          <p:cNvSpPr txBox="1"/>
          <p:nvPr/>
        </p:nvSpPr>
        <p:spPr>
          <a:xfrm>
            <a:off x="8723376" y="6574536"/>
            <a:ext cx="249631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00" b="0">
                <a:solidFill>
                  <a:srgbClr val="B8C3DC"/>
                </a:solidFill>
                <a:latin typeface="Inter"/>
              </a:rPr>
              <a:t>PRE-1.0 PROJECT PREVIEW</a:t>
            </a:r>
          </a:p>
        </p:txBody>
      </p:sp>
      <p:sp>
        <p:nvSpPr>
          <p:cNvPr id="11" name="S02 Text 10 - 02"/>
          <p:cNvSpPr txBox="1"/>
          <p:nvPr/>
        </p:nvSpPr>
        <p:spPr>
          <a:xfrm>
            <a:off x="11274552" y="6574536"/>
            <a:ext cx="30175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30" b="0">
                <a:solidFill>
                  <a:srgbClr val="B8C3DC"/>
                </a:solidFill>
                <a:latin typeface="Inter"/>
              </a:rPr>
              <a:t>02</a:t>
            </a:r>
          </a:p>
        </p:txBody>
      </p:sp>
      <p:sp>
        <p:nvSpPr>
          <p:cNvPr id="12" name="S02 Text 11 - Origin story: founder account, paraphrased; technical f"/>
          <p:cNvSpPr txBox="1"/>
          <p:nvPr/>
        </p:nvSpPr>
        <p:spPr>
          <a:xfrm>
            <a:off x="621792" y="6263640"/>
            <a:ext cx="10881360" cy="164592"/>
          </a:xfrm>
          <a:prstGeom prst="rect">
            <a:avLst/>
          </a:prstGeom>
          <a:noFill/>
          <a:effectLst/>
        </p:spPr>
        <p:txBody>
          <a:bodyPr wrap="square" lIns="0" rIns="0" tIns="0" bIns="0" anchor="t">
            <a:noAutofit/>
          </a:bodyPr>
          <a:lstStyle/>
          <a:p>
            <a:pPr algn="l">
              <a:lnSpc>
                <a:spcPct val="110000"/>
              </a:lnSpc>
              <a:spcBef>
                <a:spcPts val="0"/>
              </a:spcBef>
              <a:spcAft>
                <a:spcPts val="0"/>
              </a:spcAft>
            </a:pPr>
            <a:r>
              <a:rPr sz="850" b="0">
                <a:solidFill>
                  <a:srgbClr val="B8C3DC"/>
                </a:solidFill>
                <a:latin typeface="Inter"/>
              </a:rPr>
              <a:t>Origin story: founder account, paraphrased; technical framing from the step model.</a:t>
            </a:r>
          </a:p>
        </p:txBody>
      </p:sp>
      <p:sp>
        <p:nvSpPr>
          <p:cNvPr id="13" name="Rounded Rectangle 12"/>
          <p:cNvSpPr/>
          <p:nvPr/>
        </p:nvSpPr>
        <p:spPr>
          <a:xfrm>
            <a:off x="612648" y="1892807"/>
            <a:ext cx="5102352" cy="3474720"/>
          </a:xfrm>
          <a:prstGeom prst="roundRect">
            <a:avLst>
              <a:gd name="adj" fmla="val 50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ounded Rectangle 13"/>
          <p:cNvSpPr/>
          <p:nvPr/>
        </p:nvSpPr>
        <p:spPr>
          <a:xfrm>
            <a:off x="886968" y="2167128"/>
            <a:ext cx="2670048" cy="265176"/>
          </a:xfrm>
          <a:prstGeom prst="roundRect">
            <a:avLst>
              <a:gd name="adj" fmla="val 14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S02 Text 14 - THE COMMUNICATION GAP"/>
          <p:cNvSpPr txBox="1"/>
          <p:nvPr/>
        </p:nvSpPr>
        <p:spPr>
          <a:xfrm>
            <a:off x="960120" y="2180844"/>
            <a:ext cx="2523744" cy="246887"/>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19" b="1">
                <a:solidFill>
                  <a:srgbClr val="B8C3DC"/>
                </a:solidFill>
                <a:latin typeface="Inter"/>
              </a:rPr>
              <a:t>THE COMMUNICATION GAP</a:t>
            </a:r>
          </a:p>
        </p:txBody>
      </p:sp>
      <p:sp>
        <p:nvSpPr>
          <p:cNvPr id="16" name="S02 Text 15 - Explaining the step concept was not making the real sce"/>
          <p:cNvSpPr txBox="1"/>
          <p:nvPr/>
        </p:nvSpPr>
        <p:spPr>
          <a:xfrm>
            <a:off x="905256" y="2706624"/>
            <a:ext cx="4517136" cy="1389888"/>
          </a:xfrm>
          <a:prstGeom prst="rect">
            <a:avLst/>
          </a:prstGeom>
          <a:noFill/>
          <a:effectLst/>
        </p:spPr>
        <p:txBody>
          <a:bodyPr wrap="square" lIns="0" rIns="0" tIns="0" bIns="0" anchor="t">
            <a:noAutofit/>
          </a:bodyPr>
          <a:lstStyle/>
          <a:p>
            <a:pPr algn="l">
              <a:lnSpc>
                <a:spcPct val="110000"/>
              </a:lnSpc>
              <a:spcBef>
                <a:spcPts val="0"/>
              </a:spcBef>
              <a:spcAft>
                <a:spcPts val="0"/>
              </a:spcAft>
            </a:pPr>
            <a:r>
              <a:rPr sz="2600" b="1">
                <a:solidFill>
                  <a:srgbClr val="FFFFFF"/>
                </a:solidFill>
                <a:latin typeface="Inter"/>
              </a:rPr>
              <a:t>Explaining the step concept</a:t>
            </a:r>
          </a:p>
          <a:p>
            <a:pPr algn="l">
              <a:lnSpc>
                <a:spcPct val="110000"/>
              </a:lnSpc>
              <a:spcBef>
                <a:spcPts val="0"/>
              </a:spcBef>
              <a:spcAft>
                <a:spcPts val="0"/>
              </a:spcAft>
            </a:pPr>
            <a:r>
              <a:rPr sz="2600" b="1">
                <a:solidFill>
                  <a:srgbClr val="FFFFFF"/>
                </a:solidFill>
                <a:latin typeface="Inter"/>
              </a:rPr>
              <a:t>was not making the real</a:t>
            </a:r>
          </a:p>
          <a:p>
            <a:pPr algn="l">
              <a:lnSpc>
                <a:spcPct val="110000"/>
              </a:lnSpc>
              <a:spcBef>
                <a:spcPts val="0"/>
              </a:spcBef>
              <a:spcAft>
                <a:spcPts val="0"/>
              </a:spcAft>
            </a:pPr>
            <a:r>
              <a:rPr sz="2600" b="1">
                <a:solidFill>
                  <a:srgbClr val="FFFFFF"/>
                </a:solidFill>
                <a:latin typeface="Inter"/>
              </a:rPr>
              <a:t>scenarios click.</a:t>
            </a:r>
          </a:p>
        </p:txBody>
      </p:sp>
      <p:sp>
        <p:nvSpPr>
          <p:cNvPr id="17" name="S02 Text 16 - After several years of explaining the idea, the missing"/>
          <p:cNvSpPr txBox="1"/>
          <p:nvPr/>
        </p:nvSpPr>
        <p:spPr>
          <a:xfrm>
            <a:off x="905256" y="4416552"/>
            <a:ext cx="4434840" cy="749808"/>
          </a:xfrm>
          <a:prstGeom prst="rect">
            <a:avLst/>
          </a:prstGeom>
          <a:noFill/>
          <a:effectLst/>
        </p:spPr>
        <p:txBody>
          <a:bodyPr wrap="square" lIns="0" rIns="0" tIns="0" bIns="0" anchor="t">
            <a:noAutofit/>
          </a:bodyPr>
          <a:lstStyle/>
          <a:p>
            <a:pPr algn="l">
              <a:lnSpc>
                <a:spcPct val="110000"/>
              </a:lnSpc>
              <a:spcBef>
                <a:spcPts val="0"/>
              </a:spcBef>
              <a:spcAft>
                <a:spcPts val="0"/>
              </a:spcAft>
            </a:pPr>
            <a:r>
              <a:rPr sz="1639" b="0">
                <a:solidFill>
                  <a:srgbClr val="B8C3DC"/>
                </a:solidFill>
                <a:latin typeface="Inter"/>
              </a:rPr>
              <a:t>After several years of explaining the idea, the missing piece was something people could see working.</a:t>
            </a:r>
          </a:p>
        </p:txBody>
      </p:sp>
      <p:sp>
        <p:nvSpPr>
          <p:cNvPr id="18" name="Oval 17"/>
          <p:cNvSpPr/>
          <p:nvPr/>
        </p:nvSpPr>
        <p:spPr>
          <a:xfrm>
            <a:off x="6208776" y="1984248"/>
            <a:ext cx="603504" cy="603504"/>
          </a:xfrm>
          <a:prstGeom prst="ellipse">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9" name="Picture 18" descr="icon_diagram-project_FFFFFF.png"/>
          <p:cNvPicPr>
            <a:picLocks noChangeAspect="1"/>
          </p:cNvPicPr>
          <p:nvPr/>
        </p:nvPicPr>
        <p:blipFill>
          <a:blip r:embed="rId3"/>
          <a:stretch>
            <a:fillRect/>
          </a:stretch>
        </p:blipFill>
        <p:spPr>
          <a:xfrm>
            <a:off x="6353616" y="2129088"/>
            <a:ext cx="313822" cy="313822"/>
          </a:xfrm>
          <a:prstGeom prst="rect">
            <a:avLst/>
          </a:prstGeom>
          <a:effectLst/>
        </p:spPr>
      </p:pic>
      <p:sp>
        <p:nvSpPr>
          <p:cNvPr id="20" name="S02 Text 19 - MAKE THE ACTION VISIBLE"/>
          <p:cNvSpPr txBox="1"/>
          <p:nvPr/>
        </p:nvSpPr>
        <p:spPr>
          <a:xfrm>
            <a:off x="7013448" y="2020824"/>
            <a:ext cx="4206240" cy="274320"/>
          </a:xfrm>
          <a:prstGeom prst="rect">
            <a:avLst/>
          </a:prstGeom>
          <a:noFill/>
          <a:effectLst/>
        </p:spPr>
        <p:txBody>
          <a:bodyPr wrap="square" lIns="0" rIns="0" tIns="0" bIns="0" anchor="t">
            <a:noAutofit/>
          </a:bodyPr>
          <a:lstStyle/>
          <a:p>
            <a:pPr algn="l">
              <a:lnSpc>
                <a:spcPct val="110000"/>
              </a:lnSpc>
              <a:spcBef>
                <a:spcPts val="0"/>
              </a:spcBef>
              <a:spcAft>
                <a:spcPts val="0"/>
              </a:spcAft>
            </a:pPr>
            <a:r>
              <a:rPr sz="1240" b="1">
                <a:solidFill>
                  <a:srgbClr val="8B5CF6"/>
                </a:solidFill>
                <a:latin typeface="Inter"/>
              </a:rPr>
              <a:t>MAKE THE ACTION VISIBLE</a:t>
            </a:r>
          </a:p>
        </p:txBody>
      </p:sp>
      <p:sp>
        <p:nvSpPr>
          <p:cNvPr id="21" name="S02 Text 20 - Show what a step needs and what it does."/>
          <p:cNvSpPr txBox="1"/>
          <p:nvPr/>
        </p:nvSpPr>
        <p:spPr>
          <a:xfrm>
            <a:off x="7013448" y="2432304"/>
            <a:ext cx="4178808"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1700" b="0">
                <a:solidFill>
                  <a:srgbClr val="FFFFFF"/>
                </a:solidFill>
                <a:latin typeface="Inter"/>
              </a:rPr>
              <a:t>Show what a step needs and what it does.</a:t>
            </a:r>
          </a:p>
        </p:txBody>
      </p:sp>
      <p:sp>
        <p:nvSpPr>
          <p:cNvPr id="22" name="Oval 21"/>
          <p:cNvSpPr/>
          <p:nvPr/>
        </p:nvSpPr>
        <p:spPr>
          <a:xfrm>
            <a:off x="6208776" y="3163824"/>
            <a:ext cx="603504" cy="603504"/>
          </a:xfrm>
          <a:prstGeom prst="ellipse">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icon_route_FFFFFF.png"/>
          <p:cNvPicPr>
            <a:picLocks noChangeAspect="1"/>
          </p:cNvPicPr>
          <p:nvPr/>
        </p:nvPicPr>
        <p:blipFill>
          <a:blip r:embed="rId4"/>
          <a:stretch>
            <a:fillRect/>
          </a:stretch>
        </p:blipFill>
        <p:spPr>
          <a:xfrm>
            <a:off x="6353616" y="3308664"/>
            <a:ext cx="313822" cy="313822"/>
          </a:xfrm>
          <a:prstGeom prst="rect">
            <a:avLst/>
          </a:prstGeom>
          <a:effectLst/>
        </p:spPr>
      </p:pic>
      <p:sp>
        <p:nvSpPr>
          <p:cNvPr id="24" name="S02 Text 23 - MAKE THE BEHAVIOR VISIBLE"/>
          <p:cNvSpPr txBox="1"/>
          <p:nvPr/>
        </p:nvSpPr>
        <p:spPr>
          <a:xfrm>
            <a:off x="7013448" y="3200400"/>
            <a:ext cx="4206240" cy="274320"/>
          </a:xfrm>
          <a:prstGeom prst="rect">
            <a:avLst/>
          </a:prstGeom>
          <a:noFill/>
          <a:effectLst/>
        </p:spPr>
        <p:txBody>
          <a:bodyPr wrap="square" lIns="0" rIns="0" tIns="0" bIns="0" anchor="t">
            <a:noAutofit/>
          </a:bodyPr>
          <a:lstStyle/>
          <a:p>
            <a:pPr algn="l">
              <a:lnSpc>
                <a:spcPct val="110000"/>
              </a:lnSpc>
              <a:spcBef>
                <a:spcPts val="0"/>
              </a:spcBef>
              <a:spcAft>
                <a:spcPts val="0"/>
              </a:spcAft>
            </a:pPr>
            <a:r>
              <a:rPr sz="1240" b="1">
                <a:solidFill>
                  <a:srgbClr val="21B6D7"/>
                </a:solidFill>
                <a:latin typeface="Inter"/>
              </a:rPr>
              <a:t>MAKE THE BEHAVIOR VISIBLE</a:t>
            </a:r>
          </a:p>
        </p:txBody>
      </p:sp>
      <p:sp>
        <p:nvSpPr>
          <p:cNvPr id="25" name="S02 Text 24 - Show what is required, available, or waiting."/>
          <p:cNvSpPr txBox="1"/>
          <p:nvPr/>
        </p:nvSpPr>
        <p:spPr>
          <a:xfrm>
            <a:off x="7013448" y="3611880"/>
            <a:ext cx="4178808"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1700" b="0">
                <a:solidFill>
                  <a:srgbClr val="FFFFFF"/>
                </a:solidFill>
                <a:latin typeface="Inter"/>
              </a:rPr>
              <a:t>Show what is required, available, or waiting.</a:t>
            </a:r>
          </a:p>
        </p:txBody>
      </p:sp>
      <p:sp>
        <p:nvSpPr>
          <p:cNvPr id="26" name="Oval 25"/>
          <p:cNvSpPr/>
          <p:nvPr/>
        </p:nvSpPr>
        <p:spPr>
          <a:xfrm>
            <a:off x="6208776" y="4343400"/>
            <a:ext cx="603504" cy="603504"/>
          </a:xfrm>
          <a:prstGeom prst="ellipse">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_code-branch_FFFFFF.png"/>
          <p:cNvPicPr>
            <a:picLocks noChangeAspect="1"/>
          </p:cNvPicPr>
          <p:nvPr/>
        </p:nvPicPr>
        <p:blipFill>
          <a:blip r:embed="rId5"/>
          <a:stretch>
            <a:fillRect/>
          </a:stretch>
        </p:blipFill>
        <p:spPr>
          <a:xfrm>
            <a:off x="6353616" y="4488240"/>
            <a:ext cx="313822" cy="313822"/>
          </a:xfrm>
          <a:prstGeom prst="rect">
            <a:avLst/>
          </a:prstGeom>
          <a:effectLst/>
        </p:spPr>
      </p:pic>
      <p:sp>
        <p:nvSpPr>
          <p:cNvPr id="28" name="S02 Text 27 - MAKE THE REUSE VISIBLE"/>
          <p:cNvSpPr txBox="1"/>
          <p:nvPr/>
        </p:nvSpPr>
        <p:spPr>
          <a:xfrm>
            <a:off x="7013448" y="4379976"/>
            <a:ext cx="4206240" cy="274320"/>
          </a:xfrm>
          <a:prstGeom prst="rect">
            <a:avLst/>
          </a:prstGeom>
          <a:noFill/>
          <a:effectLst/>
        </p:spPr>
        <p:txBody>
          <a:bodyPr wrap="square" lIns="0" rIns="0" tIns="0" bIns="0" anchor="t">
            <a:noAutofit/>
          </a:bodyPr>
          <a:lstStyle/>
          <a:p>
            <a:pPr algn="l">
              <a:lnSpc>
                <a:spcPct val="110000"/>
              </a:lnSpc>
              <a:spcBef>
                <a:spcPts val="0"/>
              </a:spcBef>
              <a:spcAft>
                <a:spcPts val="0"/>
              </a:spcAft>
            </a:pPr>
            <a:r>
              <a:rPr sz="1240" b="1">
                <a:solidFill>
                  <a:srgbClr val="19C4A7"/>
                </a:solidFill>
                <a:latin typeface="Inter"/>
              </a:rPr>
              <a:t>MAKE THE REUSE VISIBLE</a:t>
            </a:r>
          </a:p>
        </p:txBody>
      </p:sp>
      <p:sp>
        <p:nvSpPr>
          <p:cNvPr id="29" name="S02 Text 28 - Run the same model through different consumers."/>
          <p:cNvSpPr txBox="1"/>
          <p:nvPr/>
        </p:nvSpPr>
        <p:spPr>
          <a:xfrm>
            <a:off x="7013448" y="4791456"/>
            <a:ext cx="4178808"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1700" b="0">
                <a:solidFill>
                  <a:srgbClr val="FFFFFF"/>
                </a:solidFill>
                <a:latin typeface="Inter"/>
              </a:rPr>
              <a:t>Run the same model through different consumers.</a:t>
            </a:r>
          </a:p>
        </p:txBody>
      </p:sp>
      <p:sp>
        <p:nvSpPr>
          <p:cNvPr id="30" name="Rounded Rectangle 29"/>
          <p:cNvSpPr/>
          <p:nvPr/>
        </p:nvSpPr>
        <p:spPr>
          <a:xfrm>
            <a:off x="603504" y="5715000"/>
            <a:ext cx="10972800" cy="393192"/>
          </a:xfrm>
          <a:prstGeom prst="roundRect">
            <a:avLst>
              <a:gd name="adj" fmla="val 7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S02 Text 30 - Kaleido turns an abstract step concept into an executab"/>
          <p:cNvSpPr txBox="1"/>
          <p:nvPr/>
        </p:nvSpPr>
        <p:spPr>
          <a:xfrm>
            <a:off x="786384" y="5783580"/>
            <a:ext cx="10607040" cy="274320"/>
          </a:xfrm>
          <a:prstGeom prst="rect">
            <a:avLst/>
          </a:prstGeom>
          <a:noFill/>
          <a:effectLst/>
        </p:spPr>
        <p:txBody>
          <a:bodyPr wrap="square" lIns="0" rIns="0" tIns="0" bIns="0" anchor="t">
            <a:noAutofit/>
          </a:bodyPr>
          <a:lstStyle/>
          <a:p>
            <a:pPr algn="ctr">
              <a:lnSpc>
                <a:spcPct val="110000"/>
              </a:lnSpc>
              <a:spcBef>
                <a:spcPts val="0"/>
              </a:spcBef>
              <a:spcAft>
                <a:spcPts val="0"/>
              </a:spcAft>
            </a:pPr>
            <a:r>
              <a:rPr sz="1270" b="1">
                <a:solidFill>
                  <a:srgbClr val="FFFFFF"/>
                </a:solidFill>
                <a:latin typeface="Inter"/>
              </a:rPr>
              <a:t>Kaleido turns an abstract step concept into an executable model people can understand.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F"/>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F0ED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EAF7F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03 Text 04 - THE STEP CONCEPT"/>
          <p:cNvSpPr txBox="1"/>
          <p:nvPr/>
        </p:nvSpPr>
        <p:spPr>
          <a:xfrm>
            <a:off x="603504" y="393192"/>
            <a:ext cx="9966960"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6257FA"/>
                </a:solidFill>
                <a:latin typeface="Inter"/>
              </a:rPr>
              <a:t>THE STEP CONCEPT</a:t>
            </a:r>
          </a:p>
        </p:txBody>
      </p:sp>
      <p:sp>
        <p:nvSpPr>
          <p:cNvPr id="6" name="S03 Text 05 - A step is a business action—not a screen."/>
          <p:cNvSpPr txBox="1"/>
          <p:nvPr/>
        </p:nvSpPr>
        <p:spPr>
          <a:xfrm>
            <a:off x="603504" y="832104"/>
            <a:ext cx="10972800"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2900" b="1">
                <a:solidFill>
                  <a:srgbClr val="111827"/>
                </a:solidFill>
                <a:latin typeface="Inter"/>
              </a:rPr>
              <a:t>A step is a business action—not a screen.</a:t>
            </a:r>
          </a:p>
        </p:txBody>
      </p:sp>
      <p:sp>
        <p:nvSpPr>
          <p:cNvPr id="7" name="S03 Text 06 - Select a provider. Capture answers. Submit a request. E"/>
          <p:cNvSpPr txBox="1"/>
          <p:nvPr/>
        </p:nvSpPr>
        <p:spPr>
          <a:xfrm>
            <a:off x="603504" y="1472184"/>
            <a:ext cx="10936224" cy="448056"/>
          </a:xfrm>
          <a:prstGeom prst="rect">
            <a:avLst/>
          </a:prstGeom>
          <a:noFill/>
          <a:effectLst/>
        </p:spPr>
        <p:txBody>
          <a:bodyPr wrap="square" lIns="0" rIns="0" tIns="0" bIns="0" anchor="t">
            <a:noAutofit/>
          </a:bodyPr>
          <a:lstStyle/>
          <a:p>
            <a:pPr algn="l">
              <a:lnSpc>
                <a:spcPct val="110000"/>
              </a:lnSpc>
              <a:spcBef>
                <a:spcPts val="0"/>
              </a:spcBef>
              <a:spcAft>
                <a:spcPts val="0"/>
              </a:spcAft>
            </a:pPr>
            <a:r>
              <a:rPr sz="1420" b="0">
                <a:solidFill>
                  <a:srgbClr val="5F6B82"/>
                </a:solidFill>
                <a:latin typeface="Inter"/>
              </a:rPr>
              <a:t>Select a provider. Capture answers. Submit a request. Each action runs against the current process state.</a:t>
            </a:r>
          </a:p>
        </p:txBody>
      </p:sp>
      <p:cxnSp>
        <p:nvCxnSpPr>
          <p:cNvPr id="8" name="Connector 7"/>
          <p:cNvCxnSpPr/>
          <p:nvPr/>
        </p:nvCxnSpPr>
        <p:spPr>
          <a:xfrm>
            <a:off x="603504" y="6492240"/>
            <a:ext cx="10981944" cy="0"/>
          </a:xfrm>
          <a:prstGeom prst="line">
            <a:avLst/>
          </a:prstGeom>
          <a:ln w="8255">
            <a:solidFill>
              <a:srgbClr val="DDE3EF"/>
            </a:solidFill>
          </a:ln>
          <a:effectLst/>
        </p:spPr>
        <p:style>
          <a:lnRef idx="2">
            <a:schemeClr val="accent1"/>
          </a:lnRef>
          <a:fillRef idx="0">
            <a:schemeClr val="accent1"/>
          </a:fillRef>
          <a:effectRef idx="0">
            <a:schemeClr val="accent1"/>
          </a:effectRef>
          <a:fontRef idx="minor">
            <a:schemeClr val="tx1"/>
          </a:fontRef>
        </p:style>
      </p:cxnSp>
      <p:pic>
        <p:nvPicPr>
          <p:cNvPr id="9" name="Picture 8" descr="image-4-11.png"/>
          <p:cNvPicPr>
            <a:picLocks noChangeAspect="1"/>
          </p:cNvPicPr>
          <p:nvPr/>
        </p:nvPicPr>
        <p:blipFill>
          <a:blip r:embed="rId2"/>
          <a:stretch>
            <a:fillRect/>
          </a:stretch>
        </p:blipFill>
        <p:spPr>
          <a:xfrm>
            <a:off x="621792" y="6583680"/>
            <a:ext cx="164592" cy="164592"/>
          </a:xfrm>
          <a:prstGeom prst="rect">
            <a:avLst/>
          </a:prstGeom>
          <a:effectLst/>
        </p:spPr>
      </p:pic>
      <p:sp>
        <p:nvSpPr>
          <p:cNvPr id="10" name="S03 Text 09 - Kaleido  |  AI-native executive overview"/>
          <p:cNvSpPr txBox="1"/>
          <p:nvPr/>
        </p:nvSpPr>
        <p:spPr>
          <a:xfrm>
            <a:off x="877824" y="6574536"/>
            <a:ext cx="4572000" cy="173736"/>
          </a:xfrm>
          <a:prstGeom prst="rect">
            <a:avLst/>
          </a:prstGeom>
          <a:noFill/>
          <a:effectLst/>
        </p:spPr>
        <p:txBody>
          <a:bodyPr wrap="square" lIns="0" rIns="0" tIns="0" bIns="0" anchor="t">
            <a:noAutofit/>
          </a:bodyPr>
          <a:lstStyle/>
          <a:p>
            <a:pPr algn="l">
              <a:lnSpc>
                <a:spcPct val="110000"/>
              </a:lnSpc>
              <a:spcBef>
                <a:spcPts val="0"/>
              </a:spcBef>
              <a:spcAft>
                <a:spcPts val="0"/>
              </a:spcAft>
            </a:pPr>
            <a:r>
              <a:rPr sz="830" b="0">
                <a:solidFill>
                  <a:srgbClr val="5F6B82"/>
                </a:solidFill>
                <a:latin typeface="Inter"/>
              </a:rPr>
              <a:t>Kaleido  |  AI-native executive overview</a:t>
            </a:r>
          </a:p>
        </p:txBody>
      </p:sp>
      <p:sp>
        <p:nvSpPr>
          <p:cNvPr id="11" name="S03 Text 10 - PRE-1.0 PROJECT PREVIEW"/>
          <p:cNvSpPr txBox="1"/>
          <p:nvPr/>
        </p:nvSpPr>
        <p:spPr>
          <a:xfrm>
            <a:off x="8723376" y="6574536"/>
            <a:ext cx="249631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00" b="0">
                <a:solidFill>
                  <a:srgbClr val="5F6B82"/>
                </a:solidFill>
                <a:latin typeface="Inter"/>
              </a:rPr>
              <a:t>PRE-1.0 PROJECT PREVIEW</a:t>
            </a:r>
          </a:p>
        </p:txBody>
      </p:sp>
      <p:sp>
        <p:nvSpPr>
          <p:cNvPr id="12" name="S03 Text 11 - 03"/>
          <p:cNvSpPr txBox="1"/>
          <p:nvPr/>
        </p:nvSpPr>
        <p:spPr>
          <a:xfrm>
            <a:off x="11274552" y="6574536"/>
            <a:ext cx="30175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30" b="0">
                <a:solidFill>
                  <a:srgbClr val="5F6B82"/>
                </a:solidFill>
                <a:latin typeface="Inter"/>
              </a:rPr>
              <a:t>03</a:t>
            </a:r>
          </a:p>
        </p:txBody>
      </p:sp>
      <p:sp>
        <p:nvSpPr>
          <p:cNvPr id="13" name="S03 Text 12 - Conceptual view of the Process contract; the examples a"/>
          <p:cNvSpPr txBox="1"/>
          <p:nvPr/>
        </p:nvSpPr>
        <p:spPr>
          <a:xfrm>
            <a:off x="621792" y="6263640"/>
            <a:ext cx="10881360" cy="164592"/>
          </a:xfrm>
          <a:prstGeom prst="rect">
            <a:avLst/>
          </a:prstGeom>
          <a:noFill/>
          <a:effectLst/>
        </p:spPr>
        <p:txBody>
          <a:bodyPr wrap="square" lIns="0" rIns="0" tIns="0" bIns="0" anchor="t">
            <a:noAutofit/>
          </a:bodyPr>
          <a:lstStyle/>
          <a:p>
            <a:pPr algn="l">
              <a:lnSpc>
                <a:spcPct val="110000"/>
              </a:lnSpc>
              <a:spcBef>
                <a:spcPts val="0"/>
              </a:spcBef>
              <a:spcAft>
                <a:spcPts val="0"/>
              </a:spcAft>
            </a:pPr>
            <a:r>
              <a:rPr sz="850" b="0">
                <a:solidFill>
                  <a:srgbClr val="5F6B82"/>
                </a:solidFill>
                <a:latin typeface="Inter"/>
              </a:rPr>
              <a:t>Conceptual view of the Process contract; the examples are not a fixed PriorAuth sequence.</a:t>
            </a:r>
          </a:p>
        </p:txBody>
      </p:sp>
      <p:cxnSp>
        <p:nvCxnSpPr>
          <p:cNvPr id="14" name="Connector 13"/>
          <p:cNvCxnSpPr/>
          <p:nvPr/>
        </p:nvCxnSpPr>
        <p:spPr>
          <a:xfrm>
            <a:off x="3054096" y="3044952"/>
            <a:ext cx="914400" cy="0"/>
          </a:xfrm>
          <a:prstGeom prst="line">
            <a:avLst/>
          </a:prstGeom>
          <a:ln w="25400">
            <a:solidFill>
              <a:srgbClr val="21B6D7"/>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8156448" y="3044952"/>
            <a:ext cx="822960" cy="0"/>
          </a:xfrm>
          <a:prstGeom prst="line">
            <a:avLst/>
          </a:prstGeom>
          <a:ln w="25400">
            <a:solidFill>
              <a:srgbClr val="6257FA"/>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6" name="Rounded Rectangle 15"/>
          <p:cNvSpPr/>
          <p:nvPr/>
        </p:nvSpPr>
        <p:spPr>
          <a:xfrm>
            <a:off x="621792" y="2249424"/>
            <a:ext cx="2414016" cy="1645920"/>
          </a:xfrm>
          <a:prstGeom prst="roundRect">
            <a:avLst>
              <a:gd name="adj" fmla="val 5000"/>
            </a:avLst>
          </a:prstGeom>
          <a:solidFill>
            <a:srgbClr val="FFFFFF"/>
          </a:solidFill>
          <a:ln w="12700">
            <a:solidFill>
              <a:srgbClr val="DDE3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icon_database_21B6D7.png"/>
          <p:cNvPicPr>
            <a:picLocks noChangeAspect="1"/>
          </p:cNvPicPr>
          <p:nvPr/>
        </p:nvPicPr>
        <p:blipFill>
          <a:blip r:embed="rId3"/>
          <a:stretch>
            <a:fillRect/>
          </a:stretch>
        </p:blipFill>
        <p:spPr>
          <a:xfrm>
            <a:off x="868680" y="2496312"/>
            <a:ext cx="329184" cy="329184"/>
          </a:xfrm>
          <a:prstGeom prst="rect">
            <a:avLst/>
          </a:prstGeom>
          <a:effectLst/>
        </p:spPr>
      </p:pic>
      <p:sp>
        <p:nvSpPr>
          <p:cNvPr id="18" name="S03 Text 17 - INPUT + CONTEXT"/>
          <p:cNvSpPr txBox="1"/>
          <p:nvPr/>
        </p:nvSpPr>
        <p:spPr>
          <a:xfrm>
            <a:off x="1353312" y="2514600"/>
            <a:ext cx="1453896" cy="219456"/>
          </a:xfrm>
          <a:prstGeom prst="rect">
            <a:avLst/>
          </a:prstGeom>
          <a:noFill/>
          <a:effectLst/>
        </p:spPr>
        <p:txBody>
          <a:bodyPr wrap="square" lIns="0" rIns="0" tIns="0" bIns="0" anchor="t">
            <a:noAutofit/>
          </a:bodyPr>
          <a:lstStyle/>
          <a:p>
            <a:pPr algn="l">
              <a:lnSpc>
                <a:spcPct val="110000"/>
              </a:lnSpc>
              <a:spcBef>
                <a:spcPts val="0"/>
              </a:spcBef>
              <a:spcAft>
                <a:spcPts val="0"/>
              </a:spcAft>
            </a:pPr>
            <a:r>
              <a:rPr sz="1090" b="1">
                <a:solidFill>
                  <a:srgbClr val="5F6B82"/>
                </a:solidFill>
                <a:latin typeface="Inter"/>
              </a:rPr>
              <a:t>INPUT + CONTEXT</a:t>
            </a:r>
          </a:p>
        </p:txBody>
      </p:sp>
      <p:sp>
        <p:nvSpPr>
          <p:cNvPr id="19" name="S03 Text 18 - Provided values Process state"/>
          <p:cNvSpPr txBox="1"/>
          <p:nvPr/>
        </p:nvSpPr>
        <p:spPr>
          <a:xfrm>
            <a:off x="886968" y="2953512"/>
            <a:ext cx="1901952" cy="640080"/>
          </a:xfrm>
          <a:prstGeom prst="rect">
            <a:avLst/>
          </a:prstGeom>
          <a:noFill/>
          <a:effectLst/>
        </p:spPr>
        <p:txBody>
          <a:bodyPr wrap="square" lIns="0" rIns="0" tIns="0" bIns="0" anchor="t">
            <a:noAutofit/>
          </a:bodyPr>
          <a:lstStyle/>
          <a:p>
            <a:pPr algn="l">
              <a:lnSpc>
                <a:spcPct val="110000"/>
              </a:lnSpc>
              <a:spcBef>
                <a:spcPts val="0"/>
              </a:spcBef>
              <a:spcAft>
                <a:spcPts val="0"/>
              </a:spcAft>
            </a:pPr>
            <a:r>
              <a:rPr sz="1639" b="1">
                <a:solidFill>
                  <a:srgbClr val="111827"/>
                </a:solidFill>
                <a:latin typeface="Inter"/>
              </a:rPr>
              <a:t>Provided values</a:t>
            </a:r>
          </a:p>
          <a:p>
            <a:pPr algn="l">
              <a:lnSpc>
                <a:spcPct val="110000"/>
              </a:lnSpc>
              <a:spcBef>
                <a:spcPts val="0"/>
              </a:spcBef>
              <a:spcAft>
                <a:spcPts val="0"/>
              </a:spcAft>
            </a:pPr>
            <a:r>
              <a:rPr sz="1639" b="1">
                <a:solidFill>
                  <a:srgbClr val="111827"/>
                </a:solidFill>
                <a:latin typeface="Inter"/>
              </a:rPr>
              <a:t>Process state</a:t>
            </a:r>
          </a:p>
        </p:txBody>
      </p:sp>
      <p:sp>
        <p:nvSpPr>
          <p:cNvPr id="20" name="Rounded Rectangle 19"/>
          <p:cNvSpPr/>
          <p:nvPr/>
        </p:nvSpPr>
        <p:spPr>
          <a:xfrm>
            <a:off x="3694176" y="1993392"/>
            <a:ext cx="4700016" cy="2121408"/>
          </a:xfrm>
          <a:prstGeom prst="roundRect">
            <a:avLst>
              <a:gd name="adj" fmla="val 6000"/>
            </a:avLst>
          </a:prstGeom>
          <a:solidFill>
            <a:srgbClr val="080C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ounded Rectangle 20"/>
          <p:cNvSpPr/>
          <p:nvPr/>
        </p:nvSpPr>
        <p:spPr>
          <a:xfrm>
            <a:off x="3977639" y="2240280"/>
            <a:ext cx="2194560" cy="265176"/>
          </a:xfrm>
          <a:prstGeom prst="roundRect">
            <a:avLst>
              <a:gd name="adj" fmla="val 14000"/>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S03 Text 21 - ONE BUSINESS ACTION"/>
          <p:cNvSpPr txBox="1"/>
          <p:nvPr/>
        </p:nvSpPr>
        <p:spPr>
          <a:xfrm>
            <a:off x="4050791" y="2253996"/>
            <a:ext cx="2048255" cy="246887"/>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50" b="1">
                <a:solidFill>
                  <a:srgbClr val="FFFFFF"/>
                </a:solidFill>
                <a:latin typeface="Inter"/>
              </a:rPr>
              <a:t>ONE BUSINESS ACTION</a:t>
            </a:r>
          </a:p>
        </p:txBody>
      </p:sp>
      <p:sp>
        <p:nvSpPr>
          <p:cNvPr id="23" name="Oval 22"/>
          <p:cNvSpPr/>
          <p:nvPr/>
        </p:nvSpPr>
        <p:spPr>
          <a:xfrm>
            <a:off x="7461504" y="2295144"/>
            <a:ext cx="502920" cy="502920"/>
          </a:xfrm>
          <a:prstGeom prst="ellipse">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con_bolt_FFFFFF.png"/>
          <p:cNvPicPr>
            <a:picLocks noChangeAspect="1"/>
          </p:cNvPicPr>
          <p:nvPr/>
        </p:nvPicPr>
        <p:blipFill>
          <a:blip r:embed="rId4"/>
          <a:stretch>
            <a:fillRect/>
          </a:stretch>
        </p:blipFill>
        <p:spPr>
          <a:xfrm>
            <a:off x="7582204" y="2415844"/>
            <a:ext cx="261518" cy="261518"/>
          </a:xfrm>
          <a:prstGeom prst="rect">
            <a:avLst/>
          </a:prstGeom>
          <a:effectLst/>
        </p:spPr>
      </p:pic>
      <p:sp>
        <p:nvSpPr>
          <p:cNvPr id="25" name="S03 Text 24 - Declared inputs and rules Business-owned handler Record"/>
          <p:cNvSpPr txBox="1"/>
          <p:nvPr/>
        </p:nvSpPr>
        <p:spPr>
          <a:xfrm>
            <a:off x="4005072" y="2770632"/>
            <a:ext cx="3794760" cy="1033271"/>
          </a:xfrm>
          <a:prstGeom prst="rect">
            <a:avLst/>
          </a:prstGeom>
          <a:noFill/>
          <a:effectLst/>
        </p:spPr>
        <p:txBody>
          <a:bodyPr wrap="square" lIns="0" rIns="0" tIns="0" bIns="0" anchor="t">
            <a:noAutofit/>
          </a:bodyPr>
          <a:lstStyle/>
          <a:p>
            <a:pPr algn="l">
              <a:lnSpc>
                <a:spcPct val="115000"/>
              </a:lnSpc>
              <a:spcBef>
                <a:spcPts val="0"/>
              </a:spcBef>
              <a:spcAft>
                <a:spcPts val="0"/>
              </a:spcAft>
            </a:pPr>
            <a:r>
              <a:rPr sz="1900" b="1">
                <a:solidFill>
                  <a:srgbClr val="FFFFFF"/>
                </a:solidFill>
                <a:latin typeface="Inter"/>
              </a:rPr>
              <a:t>Declared inputs and rules</a:t>
            </a:r>
          </a:p>
          <a:p>
            <a:pPr algn="l">
              <a:lnSpc>
                <a:spcPct val="115000"/>
              </a:lnSpc>
              <a:spcBef>
                <a:spcPts val="0"/>
              </a:spcBef>
              <a:spcAft>
                <a:spcPts val="0"/>
              </a:spcAft>
            </a:pPr>
            <a:r>
              <a:rPr sz="1900" b="1">
                <a:solidFill>
                  <a:srgbClr val="FFFFFF"/>
                </a:solidFill>
                <a:latin typeface="Inter"/>
              </a:rPr>
              <a:t>Business-owned handler</a:t>
            </a:r>
          </a:p>
          <a:p>
            <a:pPr algn="l">
              <a:lnSpc>
                <a:spcPct val="115000"/>
              </a:lnSpc>
              <a:spcBef>
                <a:spcPts val="0"/>
              </a:spcBef>
              <a:spcAft>
                <a:spcPts val="0"/>
              </a:spcAft>
            </a:pPr>
            <a:r>
              <a:rPr sz="1900" b="1">
                <a:solidFill>
                  <a:srgbClr val="FFFFFF"/>
                </a:solidFill>
                <a:latin typeface="Inter"/>
              </a:rPr>
              <a:t>Recorded outcome</a:t>
            </a:r>
          </a:p>
        </p:txBody>
      </p:sp>
      <p:sp>
        <p:nvSpPr>
          <p:cNvPr id="26" name="Rounded Rectangle 25"/>
          <p:cNvSpPr/>
          <p:nvPr/>
        </p:nvSpPr>
        <p:spPr>
          <a:xfrm>
            <a:off x="8979408" y="2249424"/>
            <a:ext cx="2596896" cy="1645920"/>
          </a:xfrm>
          <a:prstGeom prst="roundRect">
            <a:avLst>
              <a:gd name="adj" fmla="val 5000"/>
            </a:avLst>
          </a:prstGeom>
          <a:solidFill>
            <a:srgbClr val="FFFFFF"/>
          </a:solidFill>
          <a:ln w="12700">
            <a:solidFill>
              <a:srgbClr val="DDE3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_route_8B5CF6.png"/>
          <p:cNvPicPr>
            <a:picLocks noChangeAspect="1"/>
          </p:cNvPicPr>
          <p:nvPr/>
        </p:nvPicPr>
        <p:blipFill>
          <a:blip r:embed="rId5"/>
          <a:stretch>
            <a:fillRect/>
          </a:stretch>
        </p:blipFill>
        <p:spPr>
          <a:xfrm>
            <a:off x="9244584" y="2496312"/>
            <a:ext cx="329184" cy="329184"/>
          </a:xfrm>
          <a:prstGeom prst="rect">
            <a:avLst/>
          </a:prstGeom>
          <a:effectLst/>
        </p:spPr>
      </p:pic>
      <p:sp>
        <p:nvSpPr>
          <p:cNvPr id="28" name="S03 Text 27 - RESULT + NEXT"/>
          <p:cNvSpPr txBox="1"/>
          <p:nvPr/>
        </p:nvSpPr>
        <p:spPr>
          <a:xfrm>
            <a:off x="9729216" y="2514600"/>
            <a:ext cx="1600200" cy="219456"/>
          </a:xfrm>
          <a:prstGeom prst="rect">
            <a:avLst/>
          </a:prstGeom>
          <a:noFill/>
          <a:effectLst/>
        </p:spPr>
        <p:txBody>
          <a:bodyPr wrap="square" lIns="0" rIns="0" tIns="0" bIns="0" anchor="t">
            <a:noAutofit/>
          </a:bodyPr>
          <a:lstStyle/>
          <a:p>
            <a:pPr algn="l">
              <a:lnSpc>
                <a:spcPct val="110000"/>
              </a:lnSpc>
              <a:spcBef>
                <a:spcPts val="0"/>
              </a:spcBef>
              <a:spcAft>
                <a:spcPts val="0"/>
              </a:spcAft>
            </a:pPr>
            <a:r>
              <a:rPr sz="1090" b="1">
                <a:solidFill>
                  <a:srgbClr val="5F6B82"/>
                </a:solidFill>
                <a:latin typeface="Inter"/>
              </a:rPr>
              <a:t>RESULT + NEXT</a:t>
            </a:r>
          </a:p>
        </p:txBody>
      </p:sp>
      <p:sp>
        <p:nvSpPr>
          <p:cNvPr id="29" name="S03 Text 28 - What happened How to continue"/>
          <p:cNvSpPr txBox="1"/>
          <p:nvPr/>
        </p:nvSpPr>
        <p:spPr>
          <a:xfrm>
            <a:off x="9244584" y="2953512"/>
            <a:ext cx="1993392" cy="640080"/>
          </a:xfrm>
          <a:prstGeom prst="rect">
            <a:avLst/>
          </a:prstGeom>
          <a:noFill/>
          <a:effectLst/>
        </p:spPr>
        <p:txBody>
          <a:bodyPr wrap="square" lIns="0" rIns="0" tIns="0" bIns="0" anchor="t">
            <a:noAutofit/>
          </a:bodyPr>
          <a:lstStyle/>
          <a:p>
            <a:pPr algn="l">
              <a:lnSpc>
                <a:spcPct val="110000"/>
              </a:lnSpc>
              <a:spcBef>
                <a:spcPts val="0"/>
              </a:spcBef>
              <a:spcAft>
                <a:spcPts val="0"/>
              </a:spcAft>
            </a:pPr>
            <a:r>
              <a:rPr sz="1639" b="1">
                <a:solidFill>
                  <a:srgbClr val="111827"/>
                </a:solidFill>
                <a:latin typeface="Inter"/>
              </a:rPr>
              <a:t>What happened</a:t>
            </a:r>
          </a:p>
          <a:p>
            <a:pPr algn="l">
              <a:lnSpc>
                <a:spcPct val="110000"/>
              </a:lnSpc>
              <a:spcBef>
                <a:spcPts val="0"/>
              </a:spcBef>
              <a:spcAft>
                <a:spcPts val="0"/>
              </a:spcAft>
            </a:pPr>
            <a:r>
              <a:rPr sz="1639" b="1">
                <a:solidFill>
                  <a:srgbClr val="111827"/>
                </a:solidFill>
                <a:latin typeface="Inter"/>
              </a:rPr>
              <a:t>How to continue</a:t>
            </a:r>
          </a:p>
        </p:txBody>
      </p:sp>
      <p:sp>
        <p:nvSpPr>
          <p:cNvPr id="30" name="Rounded Rectangle 29"/>
          <p:cNvSpPr/>
          <p:nvPr/>
        </p:nvSpPr>
        <p:spPr>
          <a:xfrm>
            <a:off x="621792" y="4498848"/>
            <a:ext cx="3465576" cy="1051560"/>
          </a:xfrm>
          <a:prstGeom prst="roundRect">
            <a:avLst>
              <a:gd name="adj" fmla="val 5000"/>
            </a:avLst>
          </a:prstGeom>
          <a:solidFill>
            <a:srgbClr val="FFFFFF"/>
          </a:solidFill>
          <a:ln w="12700">
            <a:solidFill>
              <a:srgbClr val="DDE3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621792" y="4498848"/>
            <a:ext cx="50292" cy="1051560"/>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S03 Text 31 - REQUIRED"/>
          <p:cNvSpPr txBox="1"/>
          <p:nvPr/>
        </p:nvSpPr>
        <p:spPr>
          <a:xfrm>
            <a:off x="813816" y="4663440"/>
            <a:ext cx="3063240" cy="210312"/>
          </a:xfrm>
          <a:prstGeom prst="rect">
            <a:avLst/>
          </a:prstGeom>
          <a:noFill/>
          <a:effectLst/>
        </p:spPr>
        <p:txBody>
          <a:bodyPr wrap="square" lIns="0" rIns="0" tIns="0" bIns="0" anchor="t">
            <a:noAutofit/>
          </a:bodyPr>
          <a:lstStyle/>
          <a:p>
            <a:pPr algn="l">
              <a:lnSpc>
                <a:spcPct val="110000"/>
              </a:lnSpc>
              <a:spcBef>
                <a:spcPts val="0"/>
              </a:spcBef>
              <a:spcAft>
                <a:spcPts val="0"/>
              </a:spcAft>
            </a:pPr>
            <a:r>
              <a:rPr sz="1060" b="1">
                <a:solidFill>
                  <a:srgbClr val="6257FA"/>
                </a:solidFill>
                <a:latin typeface="Inter"/>
              </a:rPr>
              <a:t>REQUIRED</a:t>
            </a:r>
          </a:p>
        </p:txBody>
      </p:sp>
      <p:sp>
        <p:nvSpPr>
          <p:cNvPr id="33" name="S03 Text 32 - A particular step must happen next."/>
          <p:cNvSpPr txBox="1"/>
          <p:nvPr/>
        </p:nvSpPr>
        <p:spPr>
          <a:xfrm>
            <a:off x="813816" y="4956048"/>
            <a:ext cx="3017520" cy="539496"/>
          </a:xfrm>
          <a:prstGeom prst="rect">
            <a:avLst/>
          </a:prstGeom>
          <a:noFill/>
          <a:effectLst/>
        </p:spPr>
        <p:txBody>
          <a:bodyPr wrap="square" lIns="0" rIns="0" tIns="0" bIns="0" anchor="t">
            <a:noAutofit/>
          </a:bodyPr>
          <a:lstStyle/>
          <a:p>
            <a:pPr algn="l">
              <a:lnSpc>
                <a:spcPct val="110000"/>
              </a:lnSpc>
              <a:spcBef>
                <a:spcPts val="0"/>
              </a:spcBef>
              <a:spcAft>
                <a:spcPts val="0"/>
              </a:spcAft>
            </a:pPr>
            <a:r>
              <a:rPr sz="1440" b="0">
                <a:solidFill>
                  <a:srgbClr val="111827"/>
                </a:solidFill>
                <a:latin typeface="Inter"/>
              </a:rPr>
              <a:t>A particular step must happen next.</a:t>
            </a:r>
          </a:p>
        </p:txBody>
      </p:sp>
      <p:sp>
        <p:nvSpPr>
          <p:cNvPr id="34" name="Rounded Rectangle 33"/>
          <p:cNvSpPr/>
          <p:nvPr/>
        </p:nvSpPr>
        <p:spPr>
          <a:xfrm>
            <a:off x="4370832" y="4498848"/>
            <a:ext cx="3465576" cy="1051560"/>
          </a:xfrm>
          <a:prstGeom prst="roundRect">
            <a:avLst>
              <a:gd name="adj" fmla="val 5000"/>
            </a:avLst>
          </a:prstGeom>
          <a:solidFill>
            <a:srgbClr val="FFFFFF"/>
          </a:solidFill>
          <a:ln w="12700">
            <a:solidFill>
              <a:srgbClr val="DDE3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ectangle 34"/>
          <p:cNvSpPr/>
          <p:nvPr/>
        </p:nvSpPr>
        <p:spPr>
          <a:xfrm>
            <a:off x="4370832" y="4498848"/>
            <a:ext cx="50292" cy="1051560"/>
          </a:xfrm>
          <a:prstGeom prst="rect">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S03 Text 35 - AVAILABLE"/>
          <p:cNvSpPr txBox="1"/>
          <p:nvPr/>
        </p:nvSpPr>
        <p:spPr>
          <a:xfrm>
            <a:off x="4562856" y="4663440"/>
            <a:ext cx="3063240" cy="210312"/>
          </a:xfrm>
          <a:prstGeom prst="rect">
            <a:avLst/>
          </a:prstGeom>
          <a:noFill/>
          <a:effectLst/>
        </p:spPr>
        <p:txBody>
          <a:bodyPr wrap="square" lIns="0" rIns="0" tIns="0" bIns="0" anchor="t">
            <a:noAutofit/>
          </a:bodyPr>
          <a:lstStyle/>
          <a:p>
            <a:pPr algn="l">
              <a:lnSpc>
                <a:spcPct val="110000"/>
              </a:lnSpc>
              <a:spcBef>
                <a:spcPts val="0"/>
              </a:spcBef>
              <a:spcAft>
                <a:spcPts val="0"/>
              </a:spcAft>
            </a:pPr>
            <a:r>
              <a:rPr sz="1060" b="1">
                <a:solidFill>
                  <a:srgbClr val="19C4A7"/>
                </a:solidFill>
                <a:latin typeface="Inter"/>
              </a:rPr>
              <a:t>AVAILABLE</a:t>
            </a:r>
          </a:p>
        </p:txBody>
      </p:sp>
      <p:sp>
        <p:nvSpPr>
          <p:cNvPr id="37" name="S03 Text 36 - The caller chooses among allowed steps."/>
          <p:cNvSpPr txBox="1"/>
          <p:nvPr/>
        </p:nvSpPr>
        <p:spPr>
          <a:xfrm>
            <a:off x="4562856" y="4956048"/>
            <a:ext cx="3017520" cy="539496"/>
          </a:xfrm>
          <a:prstGeom prst="rect">
            <a:avLst/>
          </a:prstGeom>
          <a:noFill/>
          <a:effectLst/>
        </p:spPr>
        <p:txBody>
          <a:bodyPr wrap="square" lIns="0" rIns="0" tIns="0" bIns="0" anchor="t">
            <a:noAutofit/>
          </a:bodyPr>
          <a:lstStyle/>
          <a:p>
            <a:pPr algn="l">
              <a:lnSpc>
                <a:spcPct val="110000"/>
              </a:lnSpc>
              <a:spcBef>
                <a:spcPts val="0"/>
              </a:spcBef>
              <a:spcAft>
                <a:spcPts val="0"/>
              </a:spcAft>
            </a:pPr>
            <a:r>
              <a:rPr sz="1440" b="0">
                <a:solidFill>
                  <a:srgbClr val="111827"/>
                </a:solidFill>
                <a:latin typeface="Inter"/>
              </a:rPr>
              <a:t>The caller chooses among allowed steps.</a:t>
            </a:r>
          </a:p>
        </p:txBody>
      </p:sp>
      <p:sp>
        <p:nvSpPr>
          <p:cNvPr id="38" name="Rounded Rectangle 37"/>
          <p:cNvSpPr/>
          <p:nvPr/>
        </p:nvSpPr>
        <p:spPr>
          <a:xfrm>
            <a:off x="8110727" y="4498848"/>
            <a:ext cx="3465576" cy="1051560"/>
          </a:xfrm>
          <a:prstGeom prst="roundRect">
            <a:avLst>
              <a:gd name="adj" fmla="val 5000"/>
            </a:avLst>
          </a:prstGeom>
          <a:solidFill>
            <a:srgbClr val="FFFFFF"/>
          </a:solidFill>
          <a:ln w="12700">
            <a:solidFill>
              <a:srgbClr val="DDE3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ectangle 38"/>
          <p:cNvSpPr/>
          <p:nvPr/>
        </p:nvSpPr>
        <p:spPr>
          <a:xfrm>
            <a:off x="8110727" y="4498848"/>
            <a:ext cx="50292" cy="1051560"/>
          </a:xfrm>
          <a:prstGeom prst="rect">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S03 Text 39 - AWAITING INFORMATION"/>
          <p:cNvSpPr txBox="1"/>
          <p:nvPr/>
        </p:nvSpPr>
        <p:spPr>
          <a:xfrm>
            <a:off x="8302752" y="4663440"/>
            <a:ext cx="3063240" cy="210312"/>
          </a:xfrm>
          <a:prstGeom prst="rect">
            <a:avLst/>
          </a:prstGeom>
          <a:noFill/>
          <a:effectLst/>
        </p:spPr>
        <p:txBody>
          <a:bodyPr wrap="square" lIns="0" rIns="0" tIns="0" bIns="0" anchor="t">
            <a:noAutofit/>
          </a:bodyPr>
          <a:lstStyle/>
          <a:p>
            <a:pPr algn="l">
              <a:lnSpc>
                <a:spcPct val="110000"/>
              </a:lnSpc>
              <a:spcBef>
                <a:spcPts val="0"/>
              </a:spcBef>
              <a:spcAft>
                <a:spcPts val="0"/>
              </a:spcAft>
            </a:pPr>
            <a:r>
              <a:rPr sz="1060" b="1">
                <a:solidFill>
                  <a:srgbClr val="21B6D7"/>
                </a:solidFill>
                <a:latin typeface="Inter"/>
              </a:rPr>
              <a:t>AWAITING INFORMATION</a:t>
            </a:r>
          </a:p>
        </p:txBody>
      </p:sp>
      <p:sp>
        <p:nvSpPr>
          <p:cNvPr id="41" name="S03 Text 40 - Specific questions need answers."/>
          <p:cNvSpPr txBox="1"/>
          <p:nvPr/>
        </p:nvSpPr>
        <p:spPr>
          <a:xfrm>
            <a:off x="8302752" y="4956048"/>
            <a:ext cx="3017520" cy="539496"/>
          </a:xfrm>
          <a:prstGeom prst="rect">
            <a:avLst/>
          </a:prstGeom>
          <a:noFill/>
          <a:effectLst/>
        </p:spPr>
        <p:txBody>
          <a:bodyPr wrap="square" lIns="0" rIns="0" tIns="0" bIns="0" anchor="t">
            <a:noAutofit/>
          </a:bodyPr>
          <a:lstStyle/>
          <a:p>
            <a:pPr algn="l">
              <a:lnSpc>
                <a:spcPct val="110000"/>
              </a:lnSpc>
              <a:spcBef>
                <a:spcPts val="0"/>
              </a:spcBef>
              <a:spcAft>
                <a:spcPts val="0"/>
              </a:spcAft>
            </a:pPr>
            <a:r>
              <a:rPr sz="1440" b="0">
                <a:solidFill>
                  <a:srgbClr val="111827"/>
                </a:solidFill>
                <a:latin typeface="Inter"/>
              </a:rPr>
              <a:t>Specific questions need answers.</a:t>
            </a:r>
          </a:p>
        </p:txBody>
      </p:sp>
      <p:sp>
        <p:nvSpPr>
          <p:cNvPr id="42" name="Rounded Rectangle 41"/>
          <p:cNvSpPr/>
          <p:nvPr/>
        </p:nvSpPr>
        <p:spPr>
          <a:xfrm>
            <a:off x="603504" y="5760720"/>
            <a:ext cx="10972800" cy="393192"/>
          </a:xfrm>
          <a:prstGeom prst="roundRect">
            <a:avLst>
              <a:gd name="adj" fmla="val 7000"/>
            </a:avLst>
          </a:prstGeom>
          <a:solidFill>
            <a:srgbClr val="080C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S03 Text 42 - The channel presents the action. The process contract d"/>
          <p:cNvSpPr txBox="1"/>
          <p:nvPr/>
        </p:nvSpPr>
        <p:spPr>
          <a:xfrm>
            <a:off x="786384" y="5829300"/>
            <a:ext cx="10607040" cy="274320"/>
          </a:xfrm>
          <a:prstGeom prst="rect">
            <a:avLst/>
          </a:prstGeom>
          <a:noFill/>
          <a:effectLst/>
        </p:spPr>
        <p:txBody>
          <a:bodyPr wrap="square" lIns="0" rIns="0" tIns="0" bIns="0" anchor="t">
            <a:noAutofit/>
          </a:bodyPr>
          <a:lstStyle/>
          <a:p>
            <a:pPr algn="ctr">
              <a:lnSpc>
                <a:spcPct val="110000"/>
              </a:lnSpc>
              <a:spcBef>
                <a:spcPts val="0"/>
              </a:spcBef>
              <a:spcAft>
                <a:spcPts val="0"/>
              </a:spcAft>
            </a:pPr>
            <a:r>
              <a:rPr sz="1270" b="1">
                <a:solidFill>
                  <a:srgbClr val="FFFFFF"/>
                </a:solidFill>
                <a:latin typeface="Inter"/>
              </a:rPr>
              <a:t>The channel presents the action. The process contract describes how it may proceed.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C1E"/>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1513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0B203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04 Text 04 - WHY THE MODEL MATTERS MORE WITH AI"/>
          <p:cNvSpPr txBox="1"/>
          <p:nvPr/>
        </p:nvSpPr>
        <p:spPr>
          <a:xfrm>
            <a:off x="603504" y="393192"/>
            <a:ext cx="9966960"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B8C3DC"/>
                </a:solidFill>
                <a:latin typeface="Inter"/>
              </a:rPr>
              <a:t>WHY THE MODEL MATTERS MORE WITH AI</a:t>
            </a:r>
          </a:p>
        </p:txBody>
      </p:sp>
      <p:sp>
        <p:nvSpPr>
          <p:cNvPr id="6" name="S04 Text 05 - Do not create another integration path for AI."/>
          <p:cNvSpPr txBox="1"/>
          <p:nvPr/>
        </p:nvSpPr>
        <p:spPr>
          <a:xfrm>
            <a:off x="603504" y="832104"/>
            <a:ext cx="10972800"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2900" b="1">
                <a:solidFill>
                  <a:srgbClr val="FFFFFF"/>
                </a:solidFill>
                <a:latin typeface="Inter"/>
              </a:rPr>
              <a:t>Do not create another integration path for AI.</a:t>
            </a:r>
          </a:p>
        </p:txBody>
      </p:sp>
      <p:sp>
        <p:nvSpPr>
          <p:cNvPr id="7" name="S04 Text 06 - Make business capabilities understandable once—then reu"/>
          <p:cNvSpPr txBox="1"/>
          <p:nvPr/>
        </p:nvSpPr>
        <p:spPr>
          <a:xfrm>
            <a:off x="603504" y="1472184"/>
            <a:ext cx="10936224" cy="448056"/>
          </a:xfrm>
          <a:prstGeom prst="rect">
            <a:avLst/>
          </a:prstGeom>
          <a:noFill/>
          <a:effectLst/>
        </p:spPr>
        <p:txBody>
          <a:bodyPr wrap="square" lIns="0" rIns="0" tIns="0" bIns="0" anchor="t">
            <a:noAutofit/>
          </a:bodyPr>
          <a:lstStyle/>
          <a:p>
            <a:pPr algn="l">
              <a:lnSpc>
                <a:spcPct val="110000"/>
              </a:lnSpc>
              <a:spcBef>
                <a:spcPts val="0"/>
              </a:spcBef>
              <a:spcAft>
                <a:spcPts val="0"/>
              </a:spcAft>
            </a:pPr>
            <a:r>
              <a:rPr sz="1420" b="0">
                <a:solidFill>
                  <a:srgbClr val="B8C3DC"/>
                </a:solidFill>
                <a:latin typeface="Inter"/>
              </a:rPr>
              <a:t>Make business capabilities understandable once—then reuse that understanding across every consumer.</a:t>
            </a:r>
          </a:p>
        </p:txBody>
      </p:sp>
      <p:cxnSp>
        <p:nvCxnSpPr>
          <p:cNvPr id="8" name="Connector 7"/>
          <p:cNvCxnSpPr/>
          <p:nvPr/>
        </p:nvCxnSpPr>
        <p:spPr>
          <a:xfrm>
            <a:off x="603504" y="6492240"/>
            <a:ext cx="10981944" cy="0"/>
          </a:xfrm>
          <a:prstGeom prst="line">
            <a:avLst/>
          </a:prstGeom>
          <a:ln w="8255">
            <a:solidFill>
              <a:srgbClr val="29334F"/>
            </a:solidFill>
          </a:ln>
          <a:effectLst/>
        </p:spPr>
        <p:style>
          <a:lnRef idx="2">
            <a:schemeClr val="accent1"/>
          </a:lnRef>
          <a:fillRef idx="0">
            <a:schemeClr val="accent1"/>
          </a:fillRef>
          <a:effectRef idx="0">
            <a:schemeClr val="accent1"/>
          </a:effectRef>
          <a:fontRef idx="minor">
            <a:schemeClr val="tx1"/>
          </a:fontRef>
        </p:style>
      </p:cxnSp>
      <p:pic>
        <p:nvPicPr>
          <p:cNvPr id="9" name="Picture 8" descr="image-2-12.png"/>
          <p:cNvPicPr>
            <a:picLocks noChangeAspect="1"/>
          </p:cNvPicPr>
          <p:nvPr/>
        </p:nvPicPr>
        <p:blipFill>
          <a:blip r:embed="rId2"/>
          <a:stretch>
            <a:fillRect/>
          </a:stretch>
        </p:blipFill>
        <p:spPr>
          <a:xfrm>
            <a:off x="621792" y="6583680"/>
            <a:ext cx="164592" cy="190665"/>
          </a:xfrm>
          <a:prstGeom prst="rect">
            <a:avLst/>
          </a:prstGeom>
          <a:effectLst/>
        </p:spPr>
      </p:pic>
      <p:sp>
        <p:nvSpPr>
          <p:cNvPr id="10" name="S04 Text 09 - Kaleido  |  AI-native executive overview"/>
          <p:cNvSpPr txBox="1"/>
          <p:nvPr/>
        </p:nvSpPr>
        <p:spPr>
          <a:xfrm>
            <a:off x="877824" y="6574536"/>
            <a:ext cx="4572000" cy="173736"/>
          </a:xfrm>
          <a:prstGeom prst="rect">
            <a:avLst/>
          </a:prstGeom>
          <a:noFill/>
          <a:effectLst/>
        </p:spPr>
        <p:txBody>
          <a:bodyPr wrap="square" lIns="0" rIns="0" tIns="0" bIns="0" anchor="t">
            <a:noAutofit/>
          </a:bodyPr>
          <a:lstStyle/>
          <a:p>
            <a:pPr algn="l">
              <a:lnSpc>
                <a:spcPct val="110000"/>
              </a:lnSpc>
              <a:spcBef>
                <a:spcPts val="0"/>
              </a:spcBef>
              <a:spcAft>
                <a:spcPts val="0"/>
              </a:spcAft>
            </a:pPr>
            <a:r>
              <a:rPr sz="830" b="0">
                <a:solidFill>
                  <a:srgbClr val="B8C3DC"/>
                </a:solidFill>
                <a:latin typeface="Inter"/>
              </a:rPr>
              <a:t>Kaleido  |  AI-native executive overview</a:t>
            </a:r>
          </a:p>
        </p:txBody>
      </p:sp>
      <p:sp>
        <p:nvSpPr>
          <p:cNvPr id="11" name="S04 Text 10 - PRE-1.0 PROJECT PREVIEW"/>
          <p:cNvSpPr txBox="1"/>
          <p:nvPr/>
        </p:nvSpPr>
        <p:spPr>
          <a:xfrm>
            <a:off x="8723376" y="6574536"/>
            <a:ext cx="249631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00" b="0">
                <a:solidFill>
                  <a:srgbClr val="B8C3DC"/>
                </a:solidFill>
                <a:latin typeface="Inter"/>
              </a:rPr>
              <a:t>PRE-1.0 PROJECT PREVIEW</a:t>
            </a:r>
          </a:p>
        </p:txBody>
      </p:sp>
      <p:sp>
        <p:nvSpPr>
          <p:cNvPr id="12" name="S04 Text 11 - 04"/>
          <p:cNvSpPr txBox="1"/>
          <p:nvPr/>
        </p:nvSpPr>
        <p:spPr>
          <a:xfrm>
            <a:off x="11274552" y="6574536"/>
            <a:ext cx="30175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30" b="0">
                <a:solidFill>
                  <a:srgbClr val="B8C3DC"/>
                </a:solidFill>
                <a:latin typeface="Inter"/>
              </a:rPr>
              <a:t>04</a:t>
            </a:r>
          </a:p>
        </p:txBody>
      </p:sp>
      <p:sp>
        <p:nvSpPr>
          <p:cNvPr id="13" name="S04 Text 12 - Architecture rationale and intended value; no quantifie"/>
          <p:cNvSpPr txBox="1"/>
          <p:nvPr/>
        </p:nvSpPr>
        <p:spPr>
          <a:xfrm>
            <a:off x="621792" y="6263640"/>
            <a:ext cx="10881360" cy="164592"/>
          </a:xfrm>
          <a:prstGeom prst="rect">
            <a:avLst/>
          </a:prstGeom>
          <a:noFill/>
          <a:effectLst/>
        </p:spPr>
        <p:txBody>
          <a:bodyPr wrap="square" lIns="0" rIns="0" tIns="0" bIns="0" anchor="t">
            <a:noAutofit/>
          </a:bodyPr>
          <a:lstStyle/>
          <a:p>
            <a:pPr algn="l">
              <a:lnSpc>
                <a:spcPct val="110000"/>
              </a:lnSpc>
              <a:spcBef>
                <a:spcPts val="0"/>
              </a:spcBef>
              <a:spcAft>
                <a:spcPts val="0"/>
              </a:spcAft>
            </a:pPr>
            <a:r>
              <a:rPr sz="850" b="0">
                <a:solidFill>
                  <a:srgbClr val="B8C3DC"/>
                </a:solidFill>
                <a:latin typeface="Inter"/>
              </a:rPr>
              <a:t>Architecture rationale and intended value; no quantified savings or live integration result is asserted.</a:t>
            </a:r>
          </a:p>
        </p:txBody>
      </p:sp>
      <p:sp>
        <p:nvSpPr>
          <p:cNvPr id="14" name="Rounded Rectangle 13"/>
          <p:cNvSpPr/>
          <p:nvPr/>
        </p:nvSpPr>
        <p:spPr>
          <a:xfrm>
            <a:off x="621792" y="1993392"/>
            <a:ext cx="4965192" cy="3346704"/>
          </a:xfrm>
          <a:prstGeom prst="roundRect">
            <a:avLst>
              <a:gd name="adj" fmla="val 50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886968" y="2240280"/>
            <a:ext cx="1938528" cy="265176"/>
          </a:xfrm>
          <a:prstGeom prst="roundRect">
            <a:avLst>
              <a:gd name="adj" fmla="val 14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S04 Text 15 - SEPARATE PATHS"/>
          <p:cNvSpPr txBox="1"/>
          <p:nvPr/>
        </p:nvSpPr>
        <p:spPr>
          <a:xfrm>
            <a:off x="960120" y="2253996"/>
            <a:ext cx="1792224" cy="246887"/>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B8C3DC"/>
                </a:solidFill>
                <a:latin typeface="Inter"/>
              </a:rPr>
              <a:t>SEPARATE PATHS</a:t>
            </a:r>
          </a:p>
        </p:txBody>
      </p:sp>
      <p:pic>
        <p:nvPicPr>
          <p:cNvPr id="17" name="Picture 16" descr="icon_sitemap_8B5CF6.png"/>
          <p:cNvPicPr>
            <a:picLocks noChangeAspect="1"/>
          </p:cNvPicPr>
          <p:nvPr/>
        </p:nvPicPr>
        <p:blipFill>
          <a:blip r:embed="rId3"/>
          <a:stretch>
            <a:fillRect/>
          </a:stretch>
        </p:blipFill>
        <p:spPr>
          <a:xfrm>
            <a:off x="914400" y="2816352"/>
            <a:ext cx="329184" cy="329184"/>
          </a:xfrm>
          <a:prstGeom prst="rect">
            <a:avLst/>
          </a:prstGeom>
          <a:effectLst/>
        </p:spPr>
      </p:pic>
      <p:sp>
        <p:nvSpPr>
          <p:cNvPr id="18" name="S04 Text 17 - Workflow"/>
          <p:cNvSpPr txBox="1"/>
          <p:nvPr/>
        </p:nvSpPr>
        <p:spPr>
          <a:xfrm>
            <a:off x="1444752" y="2830068"/>
            <a:ext cx="1828800" cy="274320"/>
          </a:xfrm>
          <a:prstGeom prst="rect">
            <a:avLst/>
          </a:prstGeom>
          <a:noFill/>
          <a:effectLst/>
        </p:spPr>
        <p:txBody>
          <a:bodyPr wrap="square" lIns="0" rIns="0" tIns="0" bIns="0" anchor="t">
            <a:noAutofit/>
          </a:bodyPr>
          <a:lstStyle/>
          <a:p>
            <a:pPr algn="l">
              <a:lnSpc>
                <a:spcPct val="110000"/>
              </a:lnSpc>
              <a:spcBef>
                <a:spcPts val="0"/>
              </a:spcBef>
              <a:spcAft>
                <a:spcPts val="0"/>
              </a:spcAft>
            </a:pPr>
            <a:r>
              <a:rPr sz="1570" b="1">
                <a:solidFill>
                  <a:srgbClr val="FFFFFF"/>
                </a:solidFill>
                <a:latin typeface="Inter"/>
              </a:rPr>
              <a:t>Workflow</a:t>
            </a:r>
          </a:p>
        </p:txBody>
      </p:sp>
      <p:sp>
        <p:nvSpPr>
          <p:cNvPr id="19" name="S04 Text 18 - own adapter + rules"/>
          <p:cNvSpPr txBox="1"/>
          <p:nvPr/>
        </p:nvSpPr>
        <p:spPr>
          <a:xfrm>
            <a:off x="3337560" y="2843784"/>
            <a:ext cx="1874519"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280" b="0">
                <a:solidFill>
                  <a:srgbClr val="B8C3DC"/>
                </a:solidFill>
                <a:latin typeface="Inter"/>
              </a:rPr>
              <a:t>own adapter + rules</a:t>
            </a:r>
          </a:p>
        </p:txBody>
      </p:sp>
      <p:pic>
        <p:nvPicPr>
          <p:cNvPr id="20" name="Picture 19" descr="icon_laptop-code_3182F6.png"/>
          <p:cNvPicPr>
            <a:picLocks noChangeAspect="1"/>
          </p:cNvPicPr>
          <p:nvPr/>
        </p:nvPicPr>
        <p:blipFill>
          <a:blip r:embed="rId4"/>
          <a:stretch>
            <a:fillRect/>
          </a:stretch>
        </p:blipFill>
        <p:spPr>
          <a:xfrm>
            <a:off x="914400" y="3502152"/>
            <a:ext cx="329184" cy="329184"/>
          </a:xfrm>
          <a:prstGeom prst="rect">
            <a:avLst/>
          </a:prstGeom>
          <a:effectLst/>
        </p:spPr>
      </p:pic>
      <p:sp>
        <p:nvSpPr>
          <p:cNvPr id="21" name="S04 Text 20 - Digital channels"/>
          <p:cNvSpPr txBox="1"/>
          <p:nvPr/>
        </p:nvSpPr>
        <p:spPr>
          <a:xfrm>
            <a:off x="1444752" y="3515868"/>
            <a:ext cx="1828800" cy="274320"/>
          </a:xfrm>
          <a:prstGeom prst="rect">
            <a:avLst/>
          </a:prstGeom>
          <a:noFill/>
          <a:effectLst/>
        </p:spPr>
        <p:txBody>
          <a:bodyPr wrap="square" lIns="0" rIns="0" tIns="0" bIns="0" anchor="t">
            <a:noAutofit/>
          </a:bodyPr>
          <a:lstStyle/>
          <a:p>
            <a:pPr algn="l">
              <a:lnSpc>
                <a:spcPct val="110000"/>
              </a:lnSpc>
              <a:spcBef>
                <a:spcPts val="0"/>
              </a:spcBef>
              <a:spcAft>
                <a:spcPts val="0"/>
              </a:spcAft>
            </a:pPr>
            <a:r>
              <a:rPr sz="1570" b="1">
                <a:solidFill>
                  <a:srgbClr val="FFFFFF"/>
                </a:solidFill>
                <a:latin typeface="Inter"/>
              </a:rPr>
              <a:t>Digital channels</a:t>
            </a:r>
          </a:p>
        </p:txBody>
      </p:sp>
      <p:sp>
        <p:nvSpPr>
          <p:cNvPr id="22" name="S04 Text 21 - own adapter + rules"/>
          <p:cNvSpPr txBox="1"/>
          <p:nvPr/>
        </p:nvSpPr>
        <p:spPr>
          <a:xfrm>
            <a:off x="3337560" y="3529584"/>
            <a:ext cx="1874519"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280" b="0">
                <a:solidFill>
                  <a:srgbClr val="B8C3DC"/>
                </a:solidFill>
                <a:latin typeface="Inter"/>
              </a:rPr>
              <a:t>own adapter + rules</a:t>
            </a:r>
          </a:p>
        </p:txBody>
      </p:sp>
      <p:pic>
        <p:nvPicPr>
          <p:cNvPr id="23" name="Picture 22" descr="icon_robot_B64FD9.png"/>
          <p:cNvPicPr>
            <a:picLocks noChangeAspect="1"/>
          </p:cNvPicPr>
          <p:nvPr/>
        </p:nvPicPr>
        <p:blipFill>
          <a:blip r:embed="rId5"/>
          <a:stretch>
            <a:fillRect/>
          </a:stretch>
        </p:blipFill>
        <p:spPr>
          <a:xfrm>
            <a:off x="914400" y="4187952"/>
            <a:ext cx="329184" cy="329184"/>
          </a:xfrm>
          <a:prstGeom prst="rect">
            <a:avLst/>
          </a:prstGeom>
          <a:effectLst/>
        </p:spPr>
      </p:pic>
      <p:sp>
        <p:nvSpPr>
          <p:cNvPr id="24" name="S04 Text 23 - AI agents"/>
          <p:cNvSpPr txBox="1"/>
          <p:nvPr/>
        </p:nvSpPr>
        <p:spPr>
          <a:xfrm>
            <a:off x="1444752" y="4201668"/>
            <a:ext cx="1828800" cy="274320"/>
          </a:xfrm>
          <a:prstGeom prst="rect">
            <a:avLst/>
          </a:prstGeom>
          <a:noFill/>
          <a:effectLst/>
        </p:spPr>
        <p:txBody>
          <a:bodyPr wrap="square" lIns="0" rIns="0" tIns="0" bIns="0" anchor="t">
            <a:noAutofit/>
          </a:bodyPr>
          <a:lstStyle/>
          <a:p>
            <a:pPr algn="l">
              <a:lnSpc>
                <a:spcPct val="110000"/>
              </a:lnSpc>
              <a:spcBef>
                <a:spcPts val="0"/>
              </a:spcBef>
              <a:spcAft>
                <a:spcPts val="0"/>
              </a:spcAft>
            </a:pPr>
            <a:r>
              <a:rPr sz="1570" b="1">
                <a:solidFill>
                  <a:srgbClr val="FFFFFF"/>
                </a:solidFill>
                <a:latin typeface="Inter"/>
              </a:rPr>
              <a:t>AI agents</a:t>
            </a:r>
          </a:p>
        </p:txBody>
      </p:sp>
      <p:sp>
        <p:nvSpPr>
          <p:cNvPr id="25" name="S04 Text 24 - own adapter + rules"/>
          <p:cNvSpPr txBox="1"/>
          <p:nvPr/>
        </p:nvSpPr>
        <p:spPr>
          <a:xfrm>
            <a:off x="3337560" y="4215384"/>
            <a:ext cx="1874519"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280" b="0">
                <a:solidFill>
                  <a:srgbClr val="B8C3DC"/>
                </a:solidFill>
                <a:latin typeface="Inter"/>
              </a:rPr>
              <a:t>own adapter + rules</a:t>
            </a:r>
          </a:p>
        </p:txBody>
      </p:sp>
      <p:sp>
        <p:nvSpPr>
          <p:cNvPr id="26" name="S04 Text 25 - More copies of integration logic. More places for behav"/>
          <p:cNvSpPr txBox="1"/>
          <p:nvPr/>
        </p:nvSpPr>
        <p:spPr>
          <a:xfrm>
            <a:off x="914400" y="4828032"/>
            <a:ext cx="4279392" cy="429768"/>
          </a:xfrm>
          <a:prstGeom prst="rect">
            <a:avLst/>
          </a:prstGeom>
          <a:noFill/>
          <a:effectLst/>
        </p:spPr>
        <p:txBody>
          <a:bodyPr wrap="square" lIns="0" rIns="0" tIns="0" bIns="0" anchor="t">
            <a:noAutofit/>
          </a:bodyPr>
          <a:lstStyle/>
          <a:p>
            <a:pPr algn="l">
              <a:lnSpc>
                <a:spcPct val="110000"/>
              </a:lnSpc>
              <a:spcBef>
                <a:spcPts val="0"/>
              </a:spcBef>
              <a:spcAft>
                <a:spcPts val="0"/>
              </a:spcAft>
            </a:pPr>
            <a:r>
              <a:rPr sz="1310" b="0">
                <a:solidFill>
                  <a:srgbClr val="B8C3DC"/>
                </a:solidFill>
                <a:latin typeface="Inter"/>
              </a:rPr>
              <a:t>More copies of integration logic.</a:t>
            </a:r>
          </a:p>
          <a:p>
            <a:pPr algn="l">
              <a:lnSpc>
                <a:spcPct val="110000"/>
              </a:lnSpc>
              <a:spcBef>
                <a:spcPts val="0"/>
              </a:spcBef>
              <a:spcAft>
                <a:spcPts val="0"/>
              </a:spcAft>
            </a:pPr>
            <a:r>
              <a:rPr sz="1310" b="0">
                <a:solidFill>
                  <a:srgbClr val="B8C3DC"/>
                </a:solidFill>
                <a:latin typeface="Inter"/>
              </a:rPr>
              <a:t>More places for behavior to drift.</a:t>
            </a:r>
          </a:p>
        </p:txBody>
      </p:sp>
      <p:cxnSp>
        <p:nvCxnSpPr>
          <p:cNvPr id="27" name="Connector 26"/>
          <p:cNvCxnSpPr/>
          <p:nvPr/>
        </p:nvCxnSpPr>
        <p:spPr>
          <a:xfrm>
            <a:off x="5779008" y="3685032"/>
            <a:ext cx="603504" cy="0"/>
          </a:xfrm>
          <a:prstGeom prst="line">
            <a:avLst/>
          </a:prstGeom>
          <a:ln w="27940">
            <a:solidFill>
              <a:srgbClr val="6257FA"/>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556248" y="1993392"/>
            <a:ext cx="5010912" cy="3346704"/>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6839712" y="2240280"/>
            <a:ext cx="2523744" cy="265176"/>
          </a:xfrm>
          <a:prstGeom prst="roundRect">
            <a:avLst>
              <a:gd name="adj" fmla="val 14000"/>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S04 Text 29 - ONE SHARED CONTRACT"/>
          <p:cNvSpPr txBox="1"/>
          <p:nvPr/>
        </p:nvSpPr>
        <p:spPr>
          <a:xfrm>
            <a:off x="6912864" y="2253996"/>
            <a:ext cx="2377439" cy="246887"/>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FFFFFF"/>
                </a:solidFill>
                <a:latin typeface="Inter"/>
              </a:rPr>
              <a:t>ONE SHARED CONTRACT</a:t>
            </a:r>
          </a:p>
        </p:txBody>
      </p:sp>
      <p:pic>
        <p:nvPicPr>
          <p:cNvPr id="31" name="Picture 30" descr="image-4-11.png"/>
          <p:cNvPicPr>
            <a:picLocks noChangeAspect="1"/>
          </p:cNvPicPr>
          <p:nvPr/>
        </p:nvPicPr>
        <p:blipFill>
          <a:blip r:embed="rId6"/>
          <a:stretch>
            <a:fillRect/>
          </a:stretch>
        </p:blipFill>
        <p:spPr>
          <a:xfrm>
            <a:off x="10671048" y="2212848"/>
            <a:ext cx="502920" cy="502920"/>
          </a:xfrm>
          <a:prstGeom prst="rect">
            <a:avLst/>
          </a:prstGeom>
          <a:effectLst/>
        </p:spPr>
      </p:pic>
      <p:sp>
        <p:nvSpPr>
          <p:cNvPr id="32" name="S04 Text 31 - Discover the capability. Understand its inputs. Read st"/>
          <p:cNvSpPr txBox="1"/>
          <p:nvPr/>
        </p:nvSpPr>
        <p:spPr>
          <a:xfrm>
            <a:off x="6885432" y="2788920"/>
            <a:ext cx="4096512" cy="1152144"/>
          </a:xfrm>
          <a:prstGeom prst="rect">
            <a:avLst/>
          </a:prstGeom>
          <a:noFill/>
          <a:effectLst/>
        </p:spPr>
        <p:txBody>
          <a:bodyPr wrap="square" lIns="0" rIns="0" tIns="0" bIns="0" anchor="t">
            <a:noAutofit/>
          </a:bodyPr>
          <a:lstStyle/>
          <a:p>
            <a:pPr algn="l">
              <a:lnSpc>
                <a:spcPct val="114000"/>
              </a:lnSpc>
              <a:spcBef>
                <a:spcPts val="0"/>
              </a:spcBef>
              <a:spcAft>
                <a:spcPts val="0"/>
              </a:spcAft>
            </a:pPr>
            <a:r>
              <a:rPr sz="2250" b="1">
                <a:solidFill>
                  <a:srgbClr val="111827"/>
                </a:solidFill>
                <a:latin typeface="Inter"/>
              </a:rPr>
              <a:t>Discover the capability.</a:t>
            </a:r>
          </a:p>
          <a:p>
            <a:pPr algn="l">
              <a:lnSpc>
                <a:spcPct val="114000"/>
              </a:lnSpc>
              <a:spcBef>
                <a:spcPts val="0"/>
              </a:spcBef>
              <a:spcAft>
                <a:spcPts val="0"/>
              </a:spcAft>
            </a:pPr>
            <a:r>
              <a:rPr sz="2250" b="1">
                <a:solidFill>
                  <a:srgbClr val="111827"/>
                </a:solidFill>
                <a:latin typeface="Inter"/>
              </a:rPr>
              <a:t>Understand its inputs.</a:t>
            </a:r>
          </a:p>
          <a:p>
            <a:pPr algn="l">
              <a:lnSpc>
                <a:spcPct val="114000"/>
              </a:lnSpc>
              <a:spcBef>
                <a:spcPts val="0"/>
              </a:spcBef>
              <a:spcAft>
                <a:spcPts val="0"/>
              </a:spcAft>
            </a:pPr>
            <a:r>
              <a:rPr sz="2250" b="1">
                <a:solidFill>
                  <a:srgbClr val="111827"/>
                </a:solidFill>
                <a:latin typeface="Inter"/>
              </a:rPr>
              <a:t>Read state and next steps.</a:t>
            </a:r>
          </a:p>
        </p:txBody>
      </p:sp>
      <p:cxnSp>
        <p:nvCxnSpPr>
          <p:cNvPr id="33" name="Connector 32"/>
          <p:cNvCxnSpPr/>
          <p:nvPr/>
        </p:nvCxnSpPr>
        <p:spPr>
          <a:xfrm>
            <a:off x="6876288" y="4224528"/>
            <a:ext cx="4315968" cy="0"/>
          </a:xfrm>
          <a:prstGeom prst="line">
            <a:avLst/>
          </a:prstGeom>
          <a:ln w="10160">
            <a:solidFill>
              <a:srgbClr val="DDE3EF"/>
            </a:solidFill>
          </a:ln>
          <a:effectLst/>
        </p:spPr>
        <p:style>
          <a:lnRef idx="2">
            <a:schemeClr val="accent1"/>
          </a:lnRef>
          <a:fillRef idx="0">
            <a:schemeClr val="accent1"/>
          </a:fillRef>
          <a:effectRef idx="0">
            <a:schemeClr val="accent1"/>
          </a:effectRef>
          <a:fontRef idx="minor">
            <a:schemeClr val="tx1"/>
          </a:fontRef>
        </p:style>
      </p:cxnSp>
      <p:pic>
        <p:nvPicPr>
          <p:cNvPr id="34" name="Picture 33" descr="icon_robot_B64FD9.png"/>
          <p:cNvPicPr>
            <a:picLocks noChangeAspect="1"/>
          </p:cNvPicPr>
          <p:nvPr/>
        </p:nvPicPr>
        <p:blipFill>
          <a:blip r:embed="rId5"/>
          <a:stretch>
            <a:fillRect/>
          </a:stretch>
        </p:blipFill>
        <p:spPr>
          <a:xfrm>
            <a:off x="6922008" y="4544568"/>
            <a:ext cx="393192" cy="393192"/>
          </a:xfrm>
          <a:prstGeom prst="rect">
            <a:avLst/>
          </a:prstGeom>
          <a:effectLst/>
        </p:spPr>
      </p:pic>
      <p:sp>
        <p:nvSpPr>
          <p:cNvPr id="35" name="S04 Text 34 - AI uses the business contract— not a second definition "/>
          <p:cNvSpPr txBox="1"/>
          <p:nvPr/>
        </p:nvSpPr>
        <p:spPr>
          <a:xfrm>
            <a:off x="7516368" y="4507992"/>
            <a:ext cx="3584448" cy="603504"/>
          </a:xfrm>
          <a:prstGeom prst="rect">
            <a:avLst/>
          </a:prstGeom>
          <a:noFill/>
          <a:effectLst/>
        </p:spPr>
        <p:txBody>
          <a:bodyPr wrap="square" lIns="0" rIns="0" tIns="0" bIns="0" anchor="t">
            <a:noAutofit/>
          </a:bodyPr>
          <a:lstStyle/>
          <a:p>
            <a:pPr algn="l">
              <a:lnSpc>
                <a:spcPct val="110000"/>
              </a:lnSpc>
              <a:spcBef>
                <a:spcPts val="0"/>
              </a:spcBef>
              <a:spcAft>
                <a:spcPts val="0"/>
              </a:spcAft>
            </a:pPr>
            <a:r>
              <a:rPr sz="1470" b="0">
                <a:solidFill>
                  <a:srgbClr val="111827"/>
                </a:solidFill>
                <a:latin typeface="Inter"/>
              </a:rPr>
              <a:t>AI uses the business contract—</a:t>
            </a:r>
          </a:p>
          <a:p>
            <a:pPr algn="l">
              <a:lnSpc>
                <a:spcPct val="110000"/>
              </a:lnSpc>
              <a:spcBef>
                <a:spcPts val="0"/>
              </a:spcBef>
              <a:spcAft>
                <a:spcPts val="0"/>
              </a:spcAft>
            </a:pPr>
            <a:r>
              <a:rPr sz="1470" b="0">
                <a:solidFill>
                  <a:srgbClr val="111827"/>
                </a:solidFill>
                <a:latin typeface="Inter"/>
              </a:rPr>
              <a:t>not a second definition of the business.</a:t>
            </a:r>
          </a:p>
        </p:txBody>
      </p:sp>
      <p:sp>
        <p:nvSpPr>
          <p:cNvPr id="36" name="Rounded Rectangle 35"/>
          <p:cNvSpPr/>
          <p:nvPr/>
        </p:nvSpPr>
        <p:spPr>
          <a:xfrm>
            <a:off x="603504" y="5742432"/>
            <a:ext cx="10972800" cy="393192"/>
          </a:xfrm>
          <a:prstGeom prst="roundRect">
            <a:avLst>
              <a:gd name="adj" fmla="val 7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S04 Text 36 - The strategic value: AI access and cross-channel reuse "/>
          <p:cNvSpPr txBox="1"/>
          <p:nvPr/>
        </p:nvSpPr>
        <p:spPr>
          <a:xfrm>
            <a:off x="786384" y="5811012"/>
            <a:ext cx="10607040" cy="274320"/>
          </a:xfrm>
          <a:prstGeom prst="rect">
            <a:avLst/>
          </a:prstGeom>
          <a:noFill/>
          <a:effectLst/>
        </p:spPr>
        <p:txBody>
          <a:bodyPr wrap="square" lIns="0" rIns="0" tIns="0" bIns="0" anchor="t">
            <a:noAutofit/>
          </a:bodyPr>
          <a:lstStyle/>
          <a:p>
            <a:pPr algn="ctr">
              <a:lnSpc>
                <a:spcPct val="110000"/>
              </a:lnSpc>
              <a:spcBef>
                <a:spcPts val="0"/>
              </a:spcBef>
              <a:spcAft>
                <a:spcPts val="0"/>
              </a:spcAft>
            </a:pPr>
            <a:r>
              <a:rPr sz="1270" b="1">
                <a:solidFill>
                  <a:srgbClr val="FFFFFF"/>
                </a:solidFill>
                <a:latin typeface="Inter"/>
              </a:rPr>
              <a:t>The strategic value: AI access and cross-channel reuse reinforce the same investment.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F"/>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F0ED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EAF7F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05 Text 04 - THE SHARED CAPABILITY MODEL"/>
          <p:cNvSpPr txBox="1"/>
          <p:nvPr/>
        </p:nvSpPr>
        <p:spPr>
          <a:xfrm>
            <a:off x="603504" y="393192"/>
            <a:ext cx="9966960"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6257FA"/>
                </a:solidFill>
                <a:latin typeface="Inter"/>
              </a:rPr>
              <a:t>THE SHARED CAPABILITY MODEL</a:t>
            </a:r>
          </a:p>
        </p:txBody>
      </p:sp>
      <p:sp>
        <p:nvSpPr>
          <p:cNvPr id="6" name="S05 Text 05 - Three building blocks. One AI-native interface."/>
          <p:cNvSpPr txBox="1"/>
          <p:nvPr/>
        </p:nvSpPr>
        <p:spPr>
          <a:xfrm>
            <a:off x="603504" y="832104"/>
            <a:ext cx="10972800"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2900" b="1">
                <a:solidFill>
                  <a:srgbClr val="111827"/>
                </a:solidFill>
                <a:latin typeface="Inter"/>
              </a:rPr>
              <a:t>Three building blocks. One AI-native interface.</a:t>
            </a:r>
          </a:p>
        </p:txBody>
      </p:sp>
      <p:sp>
        <p:nvSpPr>
          <p:cNvPr id="7" name="S05 Text 06 - Business Information, Business Actions, and the Capabil"/>
          <p:cNvSpPr txBox="1"/>
          <p:nvPr/>
        </p:nvSpPr>
        <p:spPr>
          <a:xfrm>
            <a:off x="603504" y="1472184"/>
            <a:ext cx="10936224" cy="448056"/>
          </a:xfrm>
          <a:prstGeom prst="rect">
            <a:avLst/>
          </a:prstGeom>
          <a:noFill/>
          <a:effectLst/>
        </p:spPr>
        <p:txBody>
          <a:bodyPr wrap="square" lIns="0" rIns="0" tIns="0" bIns="0" anchor="t">
            <a:noAutofit/>
          </a:bodyPr>
          <a:lstStyle/>
          <a:p>
            <a:pPr algn="l">
              <a:lnSpc>
                <a:spcPct val="110000"/>
              </a:lnSpc>
              <a:spcBef>
                <a:spcPts val="0"/>
              </a:spcBef>
              <a:spcAft>
                <a:spcPts val="0"/>
              </a:spcAft>
            </a:pPr>
            <a:r>
              <a:rPr sz="1420" b="0">
                <a:solidFill>
                  <a:srgbClr val="5F6B82"/>
                </a:solidFill>
                <a:latin typeface="Inter"/>
              </a:rPr>
              <a:t>Business Information, Business Actions, and the Capability Catalog remain the foundation.</a:t>
            </a:r>
          </a:p>
        </p:txBody>
      </p:sp>
      <p:cxnSp>
        <p:nvCxnSpPr>
          <p:cNvPr id="8" name="Connector 7"/>
          <p:cNvCxnSpPr/>
          <p:nvPr/>
        </p:nvCxnSpPr>
        <p:spPr>
          <a:xfrm>
            <a:off x="603504" y="6492240"/>
            <a:ext cx="10981944" cy="0"/>
          </a:xfrm>
          <a:prstGeom prst="line">
            <a:avLst/>
          </a:prstGeom>
          <a:ln w="8255">
            <a:solidFill>
              <a:srgbClr val="DDE3EF"/>
            </a:solidFill>
          </a:ln>
          <a:effectLst/>
        </p:spPr>
        <p:style>
          <a:lnRef idx="2">
            <a:schemeClr val="accent1"/>
          </a:lnRef>
          <a:fillRef idx="0">
            <a:schemeClr val="accent1"/>
          </a:fillRef>
          <a:effectRef idx="0">
            <a:schemeClr val="accent1"/>
          </a:effectRef>
          <a:fontRef idx="minor">
            <a:schemeClr val="tx1"/>
          </a:fontRef>
        </p:style>
      </p:cxnSp>
      <p:pic>
        <p:nvPicPr>
          <p:cNvPr id="9" name="Picture 8" descr="image-4-11.png"/>
          <p:cNvPicPr>
            <a:picLocks noChangeAspect="1"/>
          </p:cNvPicPr>
          <p:nvPr/>
        </p:nvPicPr>
        <p:blipFill>
          <a:blip r:embed="rId2"/>
          <a:stretch>
            <a:fillRect/>
          </a:stretch>
        </p:blipFill>
        <p:spPr>
          <a:xfrm>
            <a:off x="621792" y="6583680"/>
            <a:ext cx="164592" cy="164592"/>
          </a:xfrm>
          <a:prstGeom prst="rect">
            <a:avLst/>
          </a:prstGeom>
          <a:effectLst/>
        </p:spPr>
      </p:pic>
      <p:sp>
        <p:nvSpPr>
          <p:cNvPr id="10" name="S05 Text 09 - Kaleido  |  AI-native executive overview"/>
          <p:cNvSpPr txBox="1"/>
          <p:nvPr/>
        </p:nvSpPr>
        <p:spPr>
          <a:xfrm>
            <a:off x="877824" y="6574536"/>
            <a:ext cx="4572000" cy="173736"/>
          </a:xfrm>
          <a:prstGeom prst="rect">
            <a:avLst/>
          </a:prstGeom>
          <a:noFill/>
          <a:effectLst/>
        </p:spPr>
        <p:txBody>
          <a:bodyPr wrap="square" lIns="0" rIns="0" tIns="0" bIns="0" anchor="t">
            <a:noAutofit/>
          </a:bodyPr>
          <a:lstStyle/>
          <a:p>
            <a:pPr algn="l">
              <a:lnSpc>
                <a:spcPct val="110000"/>
              </a:lnSpc>
              <a:spcBef>
                <a:spcPts val="0"/>
              </a:spcBef>
              <a:spcAft>
                <a:spcPts val="0"/>
              </a:spcAft>
            </a:pPr>
            <a:r>
              <a:rPr sz="830" b="0">
                <a:solidFill>
                  <a:srgbClr val="5F6B82"/>
                </a:solidFill>
                <a:latin typeface="Inter"/>
              </a:rPr>
              <a:t>Kaleido  |  AI-native executive overview</a:t>
            </a:r>
          </a:p>
        </p:txBody>
      </p:sp>
      <p:sp>
        <p:nvSpPr>
          <p:cNvPr id="11" name="S05 Text 10 - PRE-1.0 PROJECT PREVIEW"/>
          <p:cNvSpPr txBox="1"/>
          <p:nvPr/>
        </p:nvSpPr>
        <p:spPr>
          <a:xfrm>
            <a:off x="8723376" y="6574536"/>
            <a:ext cx="249631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00" b="0">
                <a:solidFill>
                  <a:srgbClr val="5F6B82"/>
                </a:solidFill>
                <a:latin typeface="Inter"/>
              </a:rPr>
              <a:t>PRE-1.0 PROJECT PREVIEW</a:t>
            </a:r>
          </a:p>
        </p:txBody>
      </p:sp>
      <p:sp>
        <p:nvSpPr>
          <p:cNvPr id="12" name="S05 Text 11 - 05"/>
          <p:cNvSpPr txBox="1"/>
          <p:nvPr/>
        </p:nvSpPr>
        <p:spPr>
          <a:xfrm>
            <a:off x="11274552" y="6574536"/>
            <a:ext cx="30175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30" b="0">
                <a:solidFill>
                  <a:srgbClr val="5F6B82"/>
                </a:solidFill>
                <a:latin typeface="Inter"/>
              </a:rPr>
              <a:t>05</a:t>
            </a:r>
          </a:p>
        </p:txBody>
      </p:sp>
      <p:sp>
        <p:nvSpPr>
          <p:cNvPr id="13" name="Rounded Rectangle 12"/>
          <p:cNvSpPr/>
          <p:nvPr/>
        </p:nvSpPr>
        <p:spPr>
          <a:xfrm>
            <a:off x="621792" y="2075688"/>
            <a:ext cx="3465576" cy="3163824"/>
          </a:xfrm>
          <a:prstGeom prst="roundRect">
            <a:avLst>
              <a:gd name="adj" fmla="val 4000"/>
            </a:avLst>
          </a:prstGeom>
          <a:solidFill>
            <a:srgbClr val="FFFFFF"/>
          </a:solidFill>
          <a:ln w="12700">
            <a:solidFill>
              <a:srgbClr val="DDE3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621792" y="2075688"/>
            <a:ext cx="3465576" cy="50292"/>
          </a:xfrm>
          <a:prstGeom prst="rect">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859536" y="2350008"/>
            <a:ext cx="548640" cy="548640"/>
          </a:xfrm>
          <a:prstGeom prst="ellipse">
            <a:avLst/>
          </a:prstGeom>
          <a:solidFill>
            <a:srgbClr val="EAF8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con_database_21B6D7.png"/>
          <p:cNvPicPr>
            <a:picLocks noChangeAspect="1"/>
          </p:cNvPicPr>
          <p:nvPr/>
        </p:nvPicPr>
        <p:blipFill>
          <a:blip r:embed="rId3"/>
          <a:stretch>
            <a:fillRect/>
          </a:stretch>
        </p:blipFill>
        <p:spPr>
          <a:xfrm>
            <a:off x="991209" y="2481681"/>
            <a:ext cx="285292" cy="285292"/>
          </a:xfrm>
          <a:prstGeom prst="rect">
            <a:avLst/>
          </a:prstGeom>
          <a:effectLst/>
        </p:spPr>
      </p:pic>
      <p:sp>
        <p:nvSpPr>
          <p:cNvPr id="17" name="S05 Text 16 - QUERYABLE"/>
          <p:cNvSpPr txBox="1"/>
          <p:nvPr/>
        </p:nvSpPr>
        <p:spPr>
          <a:xfrm>
            <a:off x="1572768" y="2514600"/>
            <a:ext cx="2249424"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120" b="1">
                <a:solidFill>
                  <a:srgbClr val="21B6D7"/>
                </a:solidFill>
                <a:latin typeface="Inter"/>
              </a:rPr>
              <a:t>QUERYABLE</a:t>
            </a:r>
          </a:p>
        </p:txBody>
      </p:sp>
      <p:sp>
        <p:nvSpPr>
          <p:cNvPr id="18" name="S05 Text 17 - Business Information"/>
          <p:cNvSpPr txBox="1"/>
          <p:nvPr/>
        </p:nvSpPr>
        <p:spPr>
          <a:xfrm>
            <a:off x="868680" y="3136392"/>
            <a:ext cx="3017520" cy="365760"/>
          </a:xfrm>
          <a:prstGeom prst="rect">
            <a:avLst/>
          </a:prstGeom>
          <a:noFill/>
          <a:effectLst/>
        </p:spPr>
        <p:txBody>
          <a:bodyPr wrap="square" lIns="0" rIns="0" tIns="0" bIns="0" anchor="t">
            <a:noAutofit/>
          </a:bodyPr>
          <a:lstStyle/>
          <a:p>
            <a:pPr algn="l">
              <a:lnSpc>
                <a:spcPct val="110000"/>
              </a:lnSpc>
              <a:spcBef>
                <a:spcPts val="0"/>
              </a:spcBef>
              <a:spcAft>
                <a:spcPts val="0"/>
              </a:spcAft>
            </a:pPr>
            <a:r>
              <a:rPr sz="2100" b="1">
                <a:solidFill>
                  <a:srgbClr val="111827"/>
                </a:solidFill>
                <a:latin typeface="Inter"/>
              </a:rPr>
              <a:t>Business Information</a:t>
            </a:r>
          </a:p>
        </p:txBody>
      </p:sp>
      <p:sp>
        <p:nvSpPr>
          <p:cNvPr id="19" name="S05 Text 18 - What does the business know?"/>
          <p:cNvSpPr txBox="1"/>
          <p:nvPr/>
        </p:nvSpPr>
        <p:spPr>
          <a:xfrm>
            <a:off x="868680" y="3685032"/>
            <a:ext cx="2999232" cy="356616"/>
          </a:xfrm>
          <a:prstGeom prst="rect">
            <a:avLst/>
          </a:prstGeom>
          <a:noFill/>
          <a:effectLst/>
        </p:spPr>
        <p:txBody>
          <a:bodyPr wrap="square" lIns="0" rIns="0" tIns="0" bIns="0" anchor="t">
            <a:noAutofit/>
          </a:bodyPr>
          <a:lstStyle/>
          <a:p>
            <a:pPr algn="l">
              <a:lnSpc>
                <a:spcPct val="110000"/>
              </a:lnSpc>
              <a:spcBef>
                <a:spcPts val="0"/>
              </a:spcBef>
              <a:spcAft>
                <a:spcPts val="0"/>
              </a:spcAft>
            </a:pPr>
            <a:r>
              <a:rPr sz="1260" b="1">
                <a:solidFill>
                  <a:srgbClr val="111827"/>
                </a:solidFill>
                <a:latin typeface="Inter"/>
              </a:rPr>
              <a:t>What does the business know?</a:t>
            </a:r>
          </a:p>
        </p:txBody>
      </p:sp>
      <p:sp>
        <p:nvSpPr>
          <p:cNvPr id="20" name="Oval 19"/>
          <p:cNvSpPr/>
          <p:nvPr/>
        </p:nvSpPr>
        <p:spPr>
          <a:xfrm>
            <a:off x="886968" y="4233672"/>
            <a:ext cx="42062" cy="42062"/>
          </a:xfrm>
          <a:prstGeom prst="ellipse">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S05 Text 20 - Typed sources and views"/>
          <p:cNvSpPr txBox="1"/>
          <p:nvPr/>
        </p:nvSpPr>
        <p:spPr>
          <a:xfrm>
            <a:off x="1024128" y="4187952"/>
            <a:ext cx="2761488" cy="246888"/>
          </a:xfrm>
          <a:prstGeom prst="rect">
            <a:avLst/>
          </a:prstGeom>
          <a:noFill/>
          <a:effectLst/>
        </p:spPr>
        <p:txBody>
          <a:bodyPr wrap="square" lIns="0" rIns="0" tIns="0" bIns="0" anchor="t">
            <a:noAutofit/>
          </a:bodyPr>
          <a:lstStyle/>
          <a:p>
            <a:pPr algn="l">
              <a:lnSpc>
                <a:spcPct val="110000"/>
              </a:lnSpc>
              <a:spcBef>
                <a:spcPts val="0"/>
              </a:spcBef>
              <a:spcAft>
                <a:spcPts val="0"/>
              </a:spcAft>
            </a:pPr>
            <a:r>
              <a:rPr sz="1240" b="0">
                <a:solidFill>
                  <a:srgbClr val="5F6B82"/>
                </a:solidFill>
                <a:latin typeface="Inter"/>
              </a:rPr>
              <a:t>Typed sources and views</a:t>
            </a:r>
          </a:p>
        </p:txBody>
      </p:sp>
      <p:sp>
        <p:nvSpPr>
          <p:cNvPr id="22" name="Oval 21"/>
          <p:cNvSpPr/>
          <p:nvPr/>
        </p:nvSpPr>
        <p:spPr>
          <a:xfrm>
            <a:off x="886968" y="4507992"/>
            <a:ext cx="42062" cy="42062"/>
          </a:xfrm>
          <a:prstGeom prst="ellipse">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S05 Text 22 - Published fields and constraints"/>
          <p:cNvSpPr txBox="1"/>
          <p:nvPr/>
        </p:nvSpPr>
        <p:spPr>
          <a:xfrm>
            <a:off x="1024128" y="4462272"/>
            <a:ext cx="2761488" cy="246888"/>
          </a:xfrm>
          <a:prstGeom prst="rect">
            <a:avLst/>
          </a:prstGeom>
          <a:noFill/>
          <a:effectLst/>
        </p:spPr>
        <p:txBody>
          <a:bodyPr wrap="square" lIns="0" rIns="0" tIns="0" bIns="0" anchor="t">
            <a:noAutofit/>
          </a:bodyPr>
          <a:lstStyle/>
          <a:p>
            <a:pPr algn="l">
              <a:lnSpc>
                <a:spcPct val="110000"/>
              </a:lnSpc>
              <a:spcBef>
                <a:spcPts val="0"/>
              </a:spcBef>
              <a:spcAft>
                <a:spcPts val="0"/>
              </a:spcAft>
            </a:pPr>
            <a:r>
              <a:rPr sz="1240" b="0">
                <a:solidFill>
                  <a:srgbClr val="5F6B82"/>
                </a:solidFill>
                <a:latin typeface="Inter"/>
              </a:rPr>
              <a:t>Published fields and constraints</a:t>
            </a:r>
          </a:p>
        </p:txBody>
      </p:sp>
      <p:sp>
        <p:nvSpPr>
          <p:cNvPr id="24" name="Oval 23"/>
          <p:cNvSpPr/>
          <p:nvPr/>
        </p:nvSpPr>
        <p:spPr>
          <a:xfrm>
            <a:off x="886968" y="4782312"/>
            <a:ext cx="42062" cy="42062"/>
          </a:xfrm>
          <a:prstGeom prst="ellipse">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S05 Text 24 - Search, filter, sort, and page"/>
          <p:cNvSpPr txBox="1"/>
          <p:nvPr/>
        </p:nvSpPr>
        <p:spPr>
          <a:xfrm>
            <a:off x="1024128" y="4736592"/>
            <a:ext cx="2761488" cy="246888"/>
          </a:xfrm>
          <a:prstGeom prst="rect">
            <a:avLst/>
          </a:prstGeom>
          <a:noFill/>
          <a:effectLst/>
        </p:spPr>
        <p:txBody>
          <a:bodyPr wrap="square" lIns="0" rIns="0" tIns="0" bIns="0" anchor="t">
            <a:noAutofit/>
          </a:bodyPr>
          <a:lstStyle/>
          <a:p>
            <a:pPr algn="l">
              <a:lnSpc>
                <a:spcPct val="110000"/>
              </a:lnSpc>
              <a:spcBef>
                <a:spcPts val="0"/>
              </a:spcBef>
              <a:spcAft>
                <a:spcPts val="0"/>
              </a:spcAft>
            </a:pPr>
            <a:r>
              <a:rPr sz="1240" b="0">
                <a:solidFill>
                  <a:srgbClr val="5F6B82"/>
                </a:solidFill>
                <a:latin typeface="Inter"/>
              </a:rPr>
              <a:t>Search, filter, sort, and page</a:t>
            </a:r>
          </a:p>
        </p:txBody>
      </p:sp>
      <p:sp>
        <p:nvSpPr>
          <p:cNvPr id="26" name="Rounded Rectangle 25"/>
          <p:cNvSpPr/>
          <p:nvPr/>
        </p:nvSpPr>
        <p:spPr>
          <a:xfrm>
            <a:off x="4361688" y="2075688"/>
            <a:ext cx="3465576" cy="3163824"/>
          </a:xfrm>
          <a:prstGeom prst="roundRect">
            <a:avLst>
              <a:gd name="adj" fmla="val 4000"/>
            </a:avLst>
          </a:prstGeom>
          <a:solidFill>
            <a:srgbClr val="FFFFFF"/>
          </a:solidFill>
          <a:ln w="12700">
            <a:solidFill>
              <a:srgbClr val="DDE3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4361688" y="2075688"/>
            <a:ext cx="3465576" cy="50292"/>
          </a:xfrm>
          <a:prstGeom prst="rect">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Oval 27"/>
          <p:cNvSpPr/>
          <p:nvPr/>
        </p:nvSpPr>
        <p:spPr>
          <a:xfrm>
            <a:off x="4599431" y="2350008"/>
            <a:ext cx="548640" cy="548640"/>
          </a:xfrm>
          <a:prstGeom prst="ellipse">
            <a:avLst/>
          </a:prstGeom>
          <a:solidFill>
            <a:srgbClr val="E8FA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9" name="Picture 28" descr="icon_diagram-project_19C4A7.png"/>
          <p:cNvPicPr>
            <a:picLocks noChangeAspect="1"/>
          </p:cNvPicPr>
          <p:nvPr/>
        </p:nvPicPr>
        <p:blipFill>
          <a:blip r:embed="rId4"/>
          <a:stretch>
            <a:fillRect/>
          </a:stretch>
        </p:blipFill>
        <p:spPr>
          <a:xfrm>
            <a:off x="4731105" y="2481681"/>
            <a:ext cx="285292" cy="285292"/>
          </a:xfrm>
          <a:prstGeom prst="rect">
            <a:avLst/>
          </a:prstGeom>
          <a:effectLst/>
        </p:spPr>
      </p:pic>
      <p:sp>
        <p:nvSpPr>
          <p:cNvPr id="30" name="S05 Text 29 - PROCESS"/>
          <p:cNvSpPr txBox="1"/>
          <p:nvPr/>
        </p:nvSpPr>
        <p:spPr>
          <a:xfrm>
            <a:off x="5312664" y="2514600"/>
            <a:ext cx="2249424"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120" b="1">
                <a:solidFill>
                  <a:srgbClr val="19C4A7"/>
                </a:solidFill>
                <a:latin typeface="Inter"/>
              </a:rPr>
              <a:t>PROCESS</a:t>
            </a:r>
          </a:p>
        </p:txBody>
      </p:sp>
      <p:sp>
        <p:nvSpPr>
          <p:cNvPr id="31" name="S05 Text 30 - Business Actions"/>
          <p:cNvSpPr txBox="1"/>
          <p:nvPr/>
        </p:nvSpPr>
        <p:spPr>
          <a:xfrm>
            <a:off x="4608575" y="3136392"/>
            <a:ext cx="3017520" cy="365760"/>
          </a:xfrm>
          <a:prstGeom prst="rect">
            <a:avLst/>
          </a:prstGeom>
          <a:noFill/>
          <a:effectLst/>
        </p:spPr>
        <p:txBody>
          <a:bodyPr wrap="square" lIns="0" rIns="0" tIns="0" bIns="0" anchor="t">
            <a:noAutofit/>
          </a:bodyPr>
          <a:lstStyle/>
          <a:p>
            <a:pPr algn="l">
              <a:lnSpc>
                <a:spcPct val="110000"/>
              </a:lnSpc>
              <a:spcBef>
                <a:spcPts val="0"/>
              </a:spcBef>
              <a:spcAft>
                <a:spcPts val="0"/>
              </a:spcAft>
            </a:pPr>
            <a:r>
              <a:rPr sz="2100" b="1">
                <a:solidFill>
                  <a:srgbClr val="111827"/>
                </a:solidFill>
                <a:latin typeface="Inter"/>
              </a:rPr>
              <a:t>Business Actions</a:t>
            </a:r>
          </a:p>
        </p:txBody>
      </p:sp>
      <p:sp>
        <p:nvSpPr>
          <p:cNvPr id="32" name="S05 Text 31 - What can the business do?"/>
          <p:cNvSpPr txBox="1"/>
          <p:nvPr/>
        </p:nvSpPr>
        <p:spPr>
          <a:xfrm>
            <a:off x="4608575" y="3685032"/>
            <a:ext cx="2999232" cy="356616"/>
          </a:xfrm>
          <a:prstGeom prst="rect">
            <a:avLst/>
          </a:prstGeom>
          <a:noFill/>
          <a:effectLst/>
        </p:spPr>
        <p:txBody>
          <a:bodyPr wrap="square" lIns="0" rIns="0" tIns="0" bIns="0" anchor="t">
            <a:noAutofit/>
          </a:bodyPr>
          <a:lstStyle/>
          <a:p>
            <a:pPr algn="l">
              <a:lnSpc>
                <a:spcPct val="110000"/>
              </a:lnSpc>
              <a:spcBef>
                <a:spcPts val="0"/>
              </a:spcBef>
              <a:spcAft>
                <a:spcPts val="0"/>
              </a:spcAft>
            </a:pPr>
            <a:r>
              <a:rPr sz="1260" b="1">
                <a:solidFill>
                  <a:srgbClr val="111827"/>
                </a:solidFill>
                <a:latin typeface="Inter"/>
              </a:rPr>
              <a:t>What can the business do?</a:t>
            </a:r>
          </a:p>
        </p:txBody>
      </p:sp>
      <p:sp>
        <p:nvSpPr>
          <p:cNvPr id="33" name="Oval 32"/>
          <p:cNvSpPr/>
          <p:nvPr/>
        </p:nvSpPr>
        <p:spPr>
          <a:xfrm>
            <a:off x="4626864" y="4233672"/>
            <a:ext cx="42062" cy="42062"/>
          </a:xfrm>
          <a:prstGeom prst="ellipse">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S05 Text 33 - Named steps and typed inputs"/>
          <p:cNvSpPr txBox="1"/>
          <p:nvPr/>
        </p:nvSpPr>
        <p:spPr>
          <a:xfrm>
            <a:off x="4764024" y="4187952"/>
            <a:ext cx="2761488" cy="246888"/>
          </a:xfrm>
          <a:prstGeom prst="rect">
            <a:avLst/>
          </a:prstGeom>
          <a:noFill/>
          <a:effectLst/>
        </p:spPr>
        <p:txBody>
          <a:bodyPr wrap="square" lIns="0" rIns="0" tIns="0" bIns="0" anchor="t">
            <a:noAutofit/>
          </a:bodyPr>
          <a:lstStyle/>
          <a:p>
            <a:pPr algn="l">
              <a:lnSpc>
                <a:spcPct val="110000"/>
              </a:lnSpc>
              <a:spcBef>
                <a:spcPts val="0"/>
              </a:spcBef>
              <a:spcAft>
                <a:spcPts val="0"/>
              </a:spcAft>
            </a:pPr>
            <a:r>
              <a:rPr sz="1240" b="0">
                <a:solidFill>
                  <a:srgbClr val="5F6B82"/>
                </a:solidFill>
                <a:latin typeface="Inter"/>
              </a:rPr>
              <a:t>Named steps and typed inputs</a:t>
            </a:r>
          </a:p>
        </p:txBody>
      </p:sp>
      <p:sp>
        <p:nvSpPr>
          <p:cNvPr id="35" name="Oval 34"/>
          <p:cNvSpPr/>
          <p:nvPr/>
        </p:nvSpPr>
        <p:spPr>
          <a:xfrm>
            <a:off x="4626864" y="4507992"/>
            <a:ext cx="42062" cy="42062"/>
          </a:xfrm>
          <a:prstGeom prst="ellipse">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S05 Text 35 - Dependencies and availability"/>
          <p:cNvSpPr txBox="1"/>
          <p:nvPr/>
        </p:nvSpPr>
        <p:spPr>
          <a:xfrm>
            <a:off x="4764024" y="4462272"/>
            <a:ext cx="2761488" cy="246888"/>
          </a:xfrm>
          <a:prstGeom prst="rect">
            <a:avLst/>
          </a:prstGeom>
          <a:noFill/>
          <a:effectLst/>
        </p:spPr>
        <p:txBody>
          <a:bodyPr wrap="square" lIns="0" rIns="0" tIns="0" bIns="0" anchor="t">
            <a:noAutofit/>
          </a:bodyPr>
          <a:lstStyle/>
          <a:p>
            <a:pPr algn="l">
              <a:lnSpc>
                <a:spcPct val="110000"/>
              </a:lnSpc>
              <a:spcBef>
                <a:spcPts val="0"/>
              </a:spcBef>
              <a:spcAft>
                <a:spcPts val="0"/>
              </a:spcAft>
            </a:pPr>
            <a:r>
              <a:rPr sz="1240" b="0">
                <a:solidFill>
                  <a:srgbClr val="5F6B82"/>
                </a:solidFill>
                <a:latin typeface="Inter"/>
              </a:rPr>
              <a:t>Dependencies and availability</a:t>
            </a:r>
          </a:p>
        </p:txBody>
      </p:sp>
      <p:sp>
        <p:nvSpPr>
          <p:cNvPr id="37" name="Oval 36"/>
          <p:cNvSpPr/>
          <p:nvPr/>
        </p:nvSpPr>
        <p:spPr>
          <a:xfrm>
            <a:off x="4626864" y="4782312"/>
            <a:ext cx="42062" cy="42062"/>
          </a:xfrm>
          <a:prstGeom prst="ellipse">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S05 Text 37 - Process state and next guidance"/>
          <p:cNvSpPr txBox="1"/>
          <p:nvPr/>
        </p:nvSpPr>
        <p:spPr>
          <a:xfrm>
            <a:off x="4764024" y="4736592"/>
            <a:ext cx="2761488" cy="246888"/>
          </a:xfrm>
          <a:prstGeom prst="rect">
            <a:avLst/>
          </a:prstGeom>
          <a:noFill/>
          <a:effectLst/>
        </p:spPr>
        <p:txBody>
          <a:bodyPr wrap="square" lIns="0" rIns="0" tIns="0" bIns="0" anchor="t">
            <a:noAutofit/>
          </a:bodyPr>
          <a:lstStyle/>
          <a:p>
            <a:pPr algn="l">
              <a:lnSpc>
                <a:spcPct val="110000"/>
              </a:lnSpc>
              <a:spcBef>
                <a:spcPts val="0"/>
              </a:spcBef>
              <a:spcAft>
                <a:spcPts val="0"/>
              </a:spcAft>
            </a:pPr>
            <a:r>
              <a:rPr sz="1240" b="0">
                <a:solidFill>
                  <a:srgbClr val="5F6B82"/>
                </a:solidFill>
                <a:latin typeface="Inter"/>
              </a:rPr>
              <a:t>Process state and next guidance</a:t>
            </a:r>
          </a:p>
        </p:txBody>
      </p:sp>
      <p:sp>
        <p:nvSpPr>
          <p:cNvPr id="39" name="Rounded Rectangle 38"/>
          <p:cNvSpPr/>
          <p:nvPr/>
        </p:nvSpPr>
        <p:spPr>
          <a:xfrm>
            <a:off x="8101583" y="2075688"/>
            <a:ext cx="3465576" cy="3163824"/>
          </a:xfrm>
          <a:prstGeom prst="roundRect">
            <a:avLst>
              <a:gd name="adj" fmla="val 4000"/>
            </a:avLst>
          </a:prstGeom>
          <a:solidFill>
            <a:srgbClr val="FFFFFF"/>
          </a:solidFill>
          <a:ln w="12700">
            <a:solidFill>
              <a:srgbClr val="DDE3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8101583" y="2075688"/>
            <a:ext cx="3465576" cy="50292"/>
          </a:xfrm>
          <a:prstGeom prst="rect">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Oval 40"/>
          <p:cNvSpPr/>
          <p:nvPr/>
        </p:nvSpPr>
        <p:spPr>
          <a:xfrm>
            <a:off x="8339327" y="2350008"/>
            <a:ext cx="548640" cy="548640"/>
          </a:xfrm>
          <a:prstGeom prst="ellipse">
            <a:avLst/>
          </a:prstGeom>
          <a:solidFill>
            <a:srgbClr val="EFEC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con_compass_8B5CF6.png"/>
          <p:cNvPicPr>
            <a:picLocks noChangeAspect="1"/>
          </p:cNvPicPr>
          <p:nvPr/>
        </p:nvPicPr>
        <p:blipFill>
          <a:blip r:embed="rId5"/>
          <a:stretch>
            <a:fillRect/>
          </a:stretch>
        </p:blipFill>
        <p:spPr>
          <a:xfrm>
            <a:off x="8471001" y="2481681"/>
            <a:ext cx="285292" cy="285292"/>
          </a:xfrm>
          <a:prstGeom prst="rect">
            <a:avLst/>
          </a:prstGeom>
          <a:effectLst/>
        </p:spPr>
      </p:pic>
      <p:sp>
        <p:nvSpPr>
          <p:cNvPr id="43" name="S05 Text 42 - REGISTRY"/>
          <p:cNvSpPr txBox="1"/>
          <p:nvPr/>
        </p:nvSpPr>
        <p:spPr>
          <a:xfrm>
            <a:off x="9052559" y="2514600"/>
            <a:ext cx="2249424"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120" b="1">
                <a:solidFill>
                  <a:srgbClr val="8B5CF6"/>
                </a:solidFill>
                <a:latin typeface="Inter"/>
              </a:rPr>
              <a:t>REGISTRY</a:t>
            </a:r>
          </a:p>
        </p:txBody>
      </p:sp>
      <p:sp>
        <p:nvSpPr>
          <p:cNvPr id="44" name="S05 Text 43 - Capability Catalog"/>
          <p:cNvSpPr txBox="1"/>
          <p:nvPr/>
        </p:nvSpPr>
        <p:spPr>
          <a:xfrm>
            <a:off x="8348471" y="3136392"/>
            <a:ext cx="3017520" cy="365760"/>
          </a:xfrm>
          <a:prstGeom prst="rect">
            <a:avLst/>
          </a:prstGeom>
          <a:noFill/>
          <a:effectLst/>
        </p:spPr>
        <p:txBody>
          <a:bodyPr wrap="square" lIns="0" rIns="0" tIns="0" bIns="0" anchor="t">
            <a:noAutofit/>
          </a:bodyPr>
          <a:lstStyle/>
          <a:p>
            <a:pPr algn="l">
              <a:lnSpc>
                <a:spcPct val="110000"/>
              </a:lnSpc>
              <a:spcBef>
                <a:spcPts val="0"/>
              </a:spcBef>
              <a:spcAft>
                <a:spcPts val="0"/>
              </a:spcAft>
            </a:pPr>
            <a:r>
              <a:rPr sz="2100" b="1">
                <a:solidFill>
                  <a:srgbClr val="111827"/>
                </a:solidFill>
                <a:latin typeface="Inter"/>
              </a:rPr>
              <a:t>Capability Catalog</a:t>
            </a:r>
          </a:p>
        </p:txBody>
      </p:sp>
      <p:sp>
        <p:nvSpPr>
          <p:cNvPr id="45" name="S05 Text 44 - How does a consumer find it?"/>
          <p:cNvSpPr txBox="1"/>
          <p:nvPr/>
        </p:nvSpPr>
        <p:spPr>
          <a:xfrm>
            <a:off x="8348471" y="3685032"/>
            <a:ext cx="2999232" cy="356616"/>
          </a:xfrm>
          <a:prstGeom prst="rect">
            <a:avLst/>
          </a:prstGeom>
          <a:noFill/>
          <a:effectLst/>
        </p:spPr>
        <p:txBody>
          <a:bodyPr wrap="square" lIns="0" rIns="0" tIns="0" bIns="0" anchor="t">
            <a:noAutofit/>
          </a:bodyPr>
          <a:lstStyle/>
          <a:p>
            <a:pPr algn="l">
              <a:lnSpc>
                <a:spcPct val="110000"/>
              </a:lnSpc>
              <a:spcBef>
                <a:spcPts val="0"/>
              </a:spcBef>
              <a:spcAft>
                <a:spcPts val="0"/>
              </a:spcAft>
            </a:pPr>
            <a:r>
              <a:rPr sz="1260" b="1">
                <a:solidFill>
                  <a:srgbClr val="111827"/>
                </a:solidFill>
                <a:latin typeface="Inter"/>
              </a:rPr>
              <a:t>How does a consumer find it?</a:t>
            </a:r>
          </a:p>
        </p:txBody>
      </p:sp>
      <p:sp>
        <p:nvSpPr>
          <p:cNvPr id="46" name="Oval 45"/>
          <p:cNvSpPr/>
          <p:nvPr/>
        </p:nvSpPr>
        <p:spPr>
          <a:xfrm>
            <a:off x="8366759" y="4233672"/>
            <a:ext cx="42062" cy="42062"/>
          </a:xfrm>
          <a:prstGeom prst="ellipse">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S05 Text 46 - Capability names and metadata"/>
          <p:cNvSpPr txBox="1"/>
          <p:nvPr/>
        </p:nvSpPr>
        <p:spPr>
          <a:xfrm>
            <a:off x="8503919" y="4187952"/>
            <a:ext cx="2761488" cy="246888"/>
          </a:xfrm>
          <a:prstGeom prst="rect">
            <a:avLst/>
          </a:prstGeom>
          <a:noFill/>
          <a:effectLst/>
        </p:spPr>
        <p:txBody>
          <a:bodyPr wrap="square" lIns="0" rIns="0" tIns="0" bIns="0" anchor="t">
            <a:noAutofit/>
          </a:bodyPr>
          <a:lstStyle/>
          <a:p>
            <a:pPr algn="l">
              <a:lnSpc>
                <a:spcPct val="110000"/>
              </a:lnSpc>
              <a:spcBef>
                <a:spcPts val="0"/>
              </a:spcBef>
              <a:spcAft>
                <a:spcPts val="0"/>
              </a:spcAft>
            </a:pPr>
            <a:r>
              <a:rPr sz="1240" b="0">
                <a:solidFill>
                  <a:srgbClr val="5F6B82"/>
                </a:solidFill>
                <a:latin typeface="Inter"/>
              </a:rPr>
              <a:t>Capability names and metadata</a:t>
            </a:r>
          </a:p>
        </p:txBody>
      </p:sp>
      <p:sp>
        <p:nvSpPr>
          <p:cNvPr id="48" name="Oval 47"/>
          <p:cNvSpPr/>
          <p:nvPr/>
        </p:nvSpPr>
        <p:spPr>
          <a:xfrm>
            <a:off x="8366759" y="4507992"/>
            <a:ext cx="42062" cy="42062"/>
          </a:xfrm>
          <a:prstGeom prst="ellipse">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S05 Text 48 - Advertised query / execution routes"/>
          <p:cNvSpPr txBox="1"/>
          <p:nvPr/>
        </p:nvSpPr>
        <p:spPr>
          <a:xfrm>
            <a:off x="8503919" y="4462272"/>
            <a:ext cx="2761488" cy="246888"/>
          </a:xfrm>
          <a:prstGeom prst="rect">
            <a:avLst/>
          </a:prstGeom>
          <a:noFill/>
          <a:effectLst/>
        </p:spPr>
        <p:txBody>
          <a:bodyPr wrap="square" lIns="0" rIns="0" tIns="0" bIns="0" anchor="t">
            <a:noAutofit/>
          </a:bodyPr>
          <a:lstStyle/>
          <a:p>
            <a:pPr algn="l">
              <a:lnSpc>
                <a:spcPct val="110000"/>
              </a:lnSpc>
              <a:spcBef>
                <a:spcPts val="0"/>
              </a:spcBef>
              <a:spcAft>
                <a:spcPts val="0"/>
              </a:spcAft>
            </a:pPr>
            <a:r>
              <a:rPr sz="1240" b="0">
                <a:solidFill>
                  <a:srgbClr val="5F6B82"/>
                </a:solidFill>
                <a:latin typeface="Inter"/>
              </a:rPr>
              <a:t>Advertised query / execution routes</a:t>
            </a:r>
          </a:p>
        </p:txBody>
      </p:sp>
      <p:sp>
        <p:nvSpPr>
          <p:cNvPr id="50" name="Oval 49"/>
          <p:cNvSpPr/>
          <p:nvPr/>
        </p:nvSpPr>
        <p:spPr>
          <a:xfrm>
            <a:off x="8366759" y="4782312"/>
            <a:ext cx="42062" cy="42062"/>
          </a:xfrm>
          <a:prstGeom prst="ellipse">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S05 Text 50 - Caller-filtered discovery"/>
          <p:cNvSpPr txBox="1"/>
          <p:nvPr/>
        </p:nvSpPr>
        <p:spPr>
          <a:xfrm>
            <a:off x="8503919" y="4736592"/>
            <a:ext cx="2761488" cy="246888"/>
          </a:xfrm>
          <a:prstGeom prst="rect">
            <a:avLst/>
          </a:prstGeom>
          <a:noFill/>
          <a:effectLst/>
        </p:spPr>
        <p:txBody>
          <a:bodyPr wrap="square" lIns="0" rIns="0" tIns="0" bIns="0" anchor="t">
            <a:noAutofit/>
          </a:bodyPr>
          <a:lstStyle/>
          <a:p>
            <a:pPr algn="l">
              <a:lnSpc>
                <a:spcPct val="110000"/>
              </a:lnSpc>
              <a:spcBef>
                <a:spcPts val="0"/>
              </a:spcBef>
              <a:spcAft>
                <a:spcPts val="0"/>
              </a:spcAft>
            </a:pPr>
            <a:r>
              <a:rPr sz="1240" b="0">
                <a:solidFill>
                  <a:srgbClr val="5F6B82"/>
                </a:solidFill>
                <a:latin typeface="Inter"/>
              </a:rPr>
              <a:t>Caller-filtered discovery</a:t>
            </a:r>
          </a:p>
        </p:txBody>
      </p:sp>
      <p:sp>
        <p:nvSpPr>
          <p:cNvPr id="52" name="Rounded Rectangle 51"/>
          <p:cNvSpPr/>
          <p:nvPr/>
        </p:nvSpPr>
        <p:spPr>
          <a:xfrm>
            <a:off x="621792" y="5532120"/>
            <a:ext cx="10945368" cy="502920"/>
          </a:xfrm>
          <a:prstGeom prst="roundRect">
            <a:avLst>
              <a:gd name="adj" fmla="val 5000"/>
            </a:avLst>
          </a:prstGeom>
          <a:solidFill>
            <a:srgbClr val="080C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3" name="Picture 52" descr="icon_robot_FFFFFF.png"/>
          <p:cNvPicPr>
            <a:picLocks noChangeAspect="1"/>
          </p:cNvPicPr>
          <p:nvPr/>
        </p:nvPicPr>
        <p:blipFill>
          <a:blip r:embed="rId6"/>
          <a:stretch>
            <a:fillRect/>
          </a:stretch>
        </p:blipFill>
        <p:spPr>
          <a:xfrm>
            <a:off x="886968" y="5650992"/>
            <a:ext cx="228600" cy="228600"/>
          </a:xfrm>
          <a:prstGeom prst="rect">
            <a:avLst/>
          </a:prstGeom>
          <a:effectLst/>
        </p:spPr>
      </p:pic>
      <p:sp>
        <p:nvSpPr>
          <p:cNvPr id="54" name="S05 Text 53 - MCP exposes this same model as AI tools—not a parallel "/>
          <p:cNvSpPr txBox="1"/>
          <p:nvPr/>
        </p:nvSpPr>
        <p:spPr>
          <a:xfrm>
            <a:off x="1353312" y="5669280"/>
            <a:ext cx="9729216" cy="256032"/>
          </a:xfrm>
          <a:prstGeom prst="rect">
            <a:avLst/>
          </a:prstGeom>
          <a:noFill/>
          <a:effectLst/>
        </p:spPr>
        <p:txBody>
          <a:bodyPr wrap="square" lIns="0" rIns="0" tIns="0" bIns="0" anchor="t">
            <a:noAutofit/>
          </a:bodyPr>
          <a:lstStyle/>
          <a:p>
            <a:pPr algn="ctr">
              <a:lnSpc>
                <a:spcPct val="110000"/>
              </a:lnSpc>
              <a:spcBef>
                <a:spcPts val="0"/>
              </a:spcBef>
              <a:spcAft>
                <a:spcPts val="0"/>
              </a:spcAft>
            </a:pPr>
            <a:r>
              <a:rPr sz="1410" b="1">
                <a:solidFill>
                  <a:srgbClr val="FFFFFF"/>
                </a:solidFill>
                <a:latin typeface="Inter"/>
              </a:rPr>
              <a:t>MCP exposes this same model as AI tools—not a parallel business implementation.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C1E"/>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1513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0B203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06 Text 04 - OPERATING MODEL"/>
          <p:cNvSpPr txBox="1"/>
          <p:nvPr/>
        </p:nvSpPr>
        <p:spPr>
          <a:xfrm>
            <a:off x="603504" y="393192"/>
            <a:ext cx="9966960"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B8C3DC"/>
                </a:solidFill>
                <a:latin typeface="Inter"/>
              </a:rPr>
              <a:t>OPERATING MODEL</a:t>
            </a:r>
          </a:p>
        </p:txBody>
      </p:sp>
      <p:sp>
        <p:nvSpPr>
          <p:cNvPr id="6" name="S06 Text 05 - One model for human and AI consumers."/>
          <p:cNvSpPr txBox="1"/>
          <p:nvPr/>
        </p:nvSpPr>
        <p:spPr>
          <a:xfrm>
            <a:off x="603504" y="832104"/>
            <a:ext cx="10972800"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2900" b="1">
                <a:solidFill>
                  <a:srgbClr val="FFFFFF"/>
                </a:solidFill>
                <a:latin typeface="Inter"/>
              </a:rPr>
              <a:t>One model for human and AI consumers.</a:t>
            </a:r>
          </a:p>
        </p:txBody>
      </p:sp>
      <p:sp>
        <p:nvSpPr>
          <p:cNvPr id="7" name="S06 Text 06 - AI uses MCP; applications use HTTP. Both reach the same"/>
          <p:cNvSpPr txBox="1"/>
          <p:nvPr/>
        </p:nvSpPr>
        <p:spPr>
          <a:xfrm>
            <a:off x="603504" y="1472184"/>
            <a:ext cx="10936224" cy="448056"/>
          </a:xfrm>
          <a:prstGeom prst="rect">
            <a:avLst/>
          </a:prstGeom>
          <a:noFill/>
          <a:effectLst/>
        </p:spPr>
        <p:txBody>
          <a:bodyPr wrap="square" lIns="0" rIns="0" tIns="0" bIns="0" anchor="t">
            <a:noAutofit/>
          </a:bodyPr>
          <a:lstStyle/>
          <a:p>
            <a:pPr algn="l">
              <a:lnSpc>
                <a:spcPct val="110000"/>
              </a:lnSpc>
              <a:spcBef>
                <a:spcPts val="0"/>
              </a:spcBef>
              <a:spcAft>
                <a:spcPts val="0"/>
              </a:spcAft>
            </a:pPr>
            <a:r>
              <a:rPr sz="1420" b="0">
                <a:solidFill>
                  <a:srgbClr val="B8C3DC"/>
                </a:solidFill>
                <a:latin typeface="Inter"/>
              </a:rPr>
              <a:t>AI uses MCP; applications use HTTP. Both reach the same capability contracts and business implementations.</a:t>
            </a:r>
          </a:p>
        </p:txBody>
      </p:sp>
      <p:cxnSp>
        <p:nvCxnSpPr>
          <p:cNvPr id="8" name="Connector 7"/>
          <p:cNvCxnSpPr/>
          <p:nvPr/>
        </p:nvCxnSpPr>
        <p:spPr>
          <a:xfrm>
            <a:off x="603504" y="6492240"/>
            <a:ext cx="10981944" cy="0"/>
          </a:xfrm>
          <a:prstGeom prst="line">
            <a:avLst/>
          </a:prstGeom>
          <a:ln w="8255">
            <a:solidFill>
              <a:srgbClr val="29334F"/>
            </a:solidFill>
          </a:ln>
          <a:effectLst/>
        </p:spPr>
        <p:style>
          <a:lnRef idx="2">
            <a:schemeClr val="accent1"/>
          </a:lnRef>
          <a:fillRef idx="0">
            <a:schemeClr val="accent1"/>
          </a:fillRef>
          <a:effectRef idx="0">
            <a:schemeClr val="accent1"/>
          </a:effectRef>
          <a:fontRef idx="minor">
            <a:schemeClr val="tx1"/>
          </a:fontRef>
        </p:style>
      </p:cxnSp>
      <p:pic>
        <p:nvPicPr>
          <p:cNvPr id="9" name="Picture 8" descr="image-2-12.png"/>
          <p:cNvPicPr>
            <a:picLocks noChangeAspect="1"/>
          </p:cNvPicPr>
          <p:nvPr/>
        </p:nvPicPr>
        <p:blipFill>
          <a:blip r:embed="rId2"/>
          <a:stretch>
            <a:fillRect/>
          </a:stretch>
        </p:blipFill>
        <p:spPr>
          <a:xfrm>
            <a:off x="621792" y="6583680"/>
            <a:ext cx="164592" cy="190665"/>
          </a:xfrm>
          <a:prstGeom prst="rect">
            <a:avLst/>
          </a:prstGeom>
          <a:effectLst/>
        </p:spPr>
      </p:pic>
      <p:sp>
        <p:nvSpPr>
          <p:cNvPr id="10" name="S06 Text 09 - Kaleido  |  AI-native executive overview"/>
          <p:cNvSpPr txBox="1"/>
          <p:nvPr/>
        </p:nvSpPr>
        <p:spPr>
          <a:xfrm>
            <a:off x="877824" y="6574536"/>
            <a:ext cx="4572000" cy="173736"/>
          </a:xfrm>
          <a:prstGeom prst="rect">
            <a:avLst/>
          </a:prstGeom>
          <a:noFill/>
          <a:effectLst/>
        </p:spPr>
        <p:txBody>
          <a:bodyPr wrap="square" lIns="0" rIns="0" tIns="0" bIns="0" anchor="t">
            <a:noAutofit/>
          </a:bodyPr>
          <a:lstStyle/>
          <a:p>
            <a:pPr algn="l">
              <a:lnSpc>
                <a:spcPct val="110000"/>
              </a:lnSpc>
              <a:spcBef>
                <a:spcPts val="0"/>
              </a:spcBef>
              <a:spcAft>
                <a:spcPts val="0"/>
              </a:spcAft>
            </a:pPr>
            <a:r>
              <a:rPr sz="830" b="0">
                <a:solidFill>
                  <a:srgbClr val="B8C3DC"/>
                </a:solidFill>
                <a:latin typeface="Inter"/>
              </a:rPr>
              <a:t>Kaleido  |  AI-native executive overview</a:t>
            </a:r>
          </a:p>
        </p:txBody>
      </p:sp>
      <p:sp>
        <p:nvSpPr>
          <p:cNvPr id="11" name="S06 Text 10 - PRE-1.0 PROJECT PREVIEW"/>
          <p:cNvSpPr txBox="1"/>
          <p:nvPr/>
        </p:nvSpPr>
        <p:spPr>
          <a:xfrm>
            <a:off x="8723376" y="6574536"/>
            <a:ext cx="249631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00" b="0">
                <a:solidFill>
                  <a:srgbClr val="B8C3DC"/>
                </a:solidFill>
                <a:latin typeface="Inter"/>
              </a:rPr>
              <a:t>PRE-1.0 PROJECT PREVIEW</a:t>
            </a:r>
          </a:p>
        </p:txBody>
      </p:sp>
      <p:sp>
        <p:nvSpPr>
          <p:cNvPr id="12" name="S06 Text 11 - 06"/>
          <p:cNvSpPr txBox="1"/>
          <p:nvPr/>
        </p:nvSpPr>
        <p:spPr>
          <a:xfrm>
            <a:off x="11274552" y="6574536"/>
            <a:ext cx="30175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30" b="0">
                <a:solidFill>
                  <a:srgbClr val="B8C3DC"/>
                </a:solidFill>
                <a:latin typeface="Inter"/>
              </a:rPr>
              <a:t>06</a:t>
            </a:r>
          </a:p>
        </p:txBody>
      </p:sp>
      <p:sp>
        <p:nvSpPr>
          <p:cNvPr id="13" name="S06 Text 12 - Illustrative consumer categories. These are not claims "/>
          <p:cNvSpPr txBox="1"/>
          <p:nvPr/>
        </p:nvSpPr>
        <p:spPr>
          <a:xfrm>
            <a:off x="621792" y="6263640"/>
            <a:ext cx="10881360" cy="164592"/>
          </a:xfrm>
          <a:prstGeom prst="rect">
            <a:avLst/>
          </a:prstGeom>
          <a:noFill/>
          <a:effectLst/>
        </p:spPr>
        <p:txBody>
          <a:bodyPr wrap="square" lIns="0" rIns="0" tIns="0" bIns="0" anchor="t">
            <a:noAutofit/>
          </a:bodyPr>
          <a:lstStyle/>
          <a:p>
            <a:pPr algn="l">
              <a:lnSpc>
                <a:spcPct val="110000"/>
              </a:lnSpc>
              <a:spcBef>
                <a:spcPts val="0"/>
              </a:spcBef>
              <a:spcAft>
                <a:spcPts val="0"/>
              </a:spcAft>
            </a:pPr>
            <a:r>
              <a:rPr sz="850" b="0">
                <a:solidFill>
                  <a:srgbClr val="B8C3DC"/>
                </a:solidFill>
                <a:latin typeface="Inter"/>
              </a:rPr>
              <a:t>Illustrative consumer categories. These are not claims of bundled connectors or vendor certifications.</a:t>
            </a:r>
          </a:p>
        </p:txBody>
      </p:sp>
      <p:cxnSp>
        <p:nvCxnSpPr>
          <p:cNvPr id="14" name="Connector 13"/>
          <p:cNvCxnSpPr/>
          <p:nvPr/>
        </p:nvCxnSpPr>
        <p:spPr>
          <a:xfrm>
            <a:off x="1632204" y="2916936"/>
            <a:ext cx="0" cy="594360"/>
          </a:xfrm>
          <a:prstGeom prst="line">
            <a:avLst/>
          </a:prstGeom>
          <a:ln w="21590">
            <a:solidFill>
              <a:srgbClr val="6257FA"/>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3863339" y="2916936"/>
            <a:ext cx="0" cy="594360"/>
          </a:xfrm>
          <a:prstGeom prst="line">
            <a:avLst/>
          </a:prstGeom>
          <a:ln w="21590">
            <a:solidFill>
              <a:srgbClr val="29334F"/>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6094476" y="2916936"/>
            <a:ext cx="0" cy="594360"/>
          </a:xfrm>
          <a:prstGeom prst="line">
            <a:avLst/>
          </a:prstGeom>
          <a:ln w="21590">
            <a:solidFill>
              <a:srgbClr val="29334F"/>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8325612" y="2916936"/>
            <a:ext cx="0" cy="594360"/>
          </a:xfrm>
          <a:prstGeom prst="line">
            <a:avLst/>
          </a:prstGeom>
          <a:ln w="21590">
            <a:solidFill>
              <a:srgbClr val="29334F"/>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10556748" y="2916936"/>
            <a:ext cx="0" cy="594360"/>
          </a:xfrm>
          <a:prstGeom prst="line">
            <a:avLst/>
          </a:prstGeom>
          <a:ln w="21590">
            <a:solidFill>
              <a:srgbClr val="29334F"/>
            </a:solidFill>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630936" y="2029968"/>
            <a:ext cx="2002536" cy="886968"/>
          </a:xfrm>
          <a:prstGeom prst="roundRect">
            <a:avLst>
              <a:gd name="adj" fmla="val 7000"/>
            </a:avLst>
          </a:prstGeom>
          <a:solidFill>
            <a:srgbClr val="291C45"/>
          </a:solidFill>
          <a:ln w="12700">
            <a:solidFill>
              <a:srgbClr val="8B5CF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icon_robot_B64FD9.png"/>
          <p:cNvPicPr>
            <a:picLocks noChangeAspect="1"/>
          </p:cNvPicPr>
          <p:nvPr/>
        </p:nvPicPr>
        <p:blipFill>
          <a:blip r:embed="rId3"/>
          <a:stretch>
            <a:fillRect/>
          </a:stretch>
        </p:blipFill>
        <p:spPr>
          <a:xfrm>
            <a:off x="804671" y="2212848"/>
            <a:ext cx="384048" cy="384048"/>
          </a:xfrm>
          <a:prstGeom prst="rect">
            <a:avLst/>
          </a:prstGeom>
          <a:effectLst/>
        </p:spPr>
      </p:pic>
      <p:sp>
        <p:nvSpPr>
          <p:cNvPr id="21" name="S06 Text 20 - AI agents"/>
          <p:cNvSpPr txBox="1"/>
          <p:nvPr/>
        </p:nvSpPr>
        <p:spPr>
          <a:xfrm>
            <a:off x="1335024" y="2185416"/>
            <a:ext cx="1179576" cy="475488"/>
          </a:xfrm>
          <a:prstGeom prst="rect">
            <a:avLst/>
          </a:prstGeom>
          <a:noFill/>
          <a:effectLst/>
        </p:spPr>
        <p:txBody>
          <a:bodyPr wrap="square" lIns="0" rIns="0" tIns="0" bIns="0" anchor="t">
            <a:noAutofit/>
          </a:bodyPr>
          <a:lstStyle/>
          <a:p>
            <a:pPr algn="l">
              <a:lnSpc>
                <a:spcPct val="110000"/>
              </a:lnSpc>
              <a:spcBef>
                <a:spcPts val="0"/>
              </a:spcBef>
              <a:spcAft>
                <a:spcPts val="0"/>
              </a:spcAft>
            </a:pPr>
            <a:r>
              <a:rPr sz="1280" b="1">
                <a:solidFill>
                  <a:srgbClr val="FFFFFF"/>
                </a:solidFill>
                <a:latin typeface="Inter"/>
              </a:rPr>
              <a:t>AI agents</a:t>
            </a:r>
          </a:p>
        </p:txBody>
      </p:sp>
      <p:sp>
        <p:nvSpPr>
          <p:cNvPr id="22" name="Rounded Rectangle 21"/>
          <p:cNvSpPr/>
          <p:nvPr/>
        </p:nvSpPr>
        <p:spPr>
          <a:xfrm>
            <a:off x="1143000" y="2999232"/>
            <a:ext cx="987552" cy="256032"/>
          </a:xfrm>
          <a:prstGeom prst="roundRect">
            <a:avLst>
              <a:gd name="adj" fmla="val 14000"/>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S06 Text 22 - MCP"/>
          <p:cNvSpPr txBox="1"/>
          <p:nvPr/>
        </p:nvSpPr>
        <p:spPr>
          <a:xfrm>
            <a:off x="1216152" y="3012948"/>
            <a:ext cx="841248" cy="237744"/>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FFFFFF"/>
                </a:solidFill>
                <a:latin typeface="Inter"/>
              </a:rPr>
              <a:t>MCP</a:t>
            </a:r>
          </a:p>
        </p:txBody>
      </p:sp>
      <p:sp>
        <p:nvSpPr>
          <p:cNvPr id="24" name="Rounded Rectangle 23"/>
          <p:cNvSpPr/>
          <p:nvPr/>
        </p:nvSpPr>
        <p:spPr>
          <a:xfrm>
            <a:off x="2862072" y="2029968"/>
            <a:ext cx="2002536" cy="886968"/>
          </a:xfrm>
          <a:prstGeom prst="roundRect">
            <a:avLst>
              <a:gd name="adj" fmla="val 70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icon_sitemap_8B5CF6.png"/>
          <p:cNvPicPr>
            <a:picLocks noChangeAspect="1"/>
          </p:cNvPicPr>
          <p:nvPr/>
        </p:nvPicPr>
        <p:blipFill>
          <a:blip r:embed="rId4"/>
          <a:stretch>
            <a:fillRect/>
          </a:stretch>
        </p:blipFill>
        <p:spPr>
          <a:xfrm>
            <a:off x="3035808" y="2212848"/>
            <a:ext cx="384048" cy="384048"/>
          </a:xfrm>
          <a:prstGeom prst="rect">
            <a:avLst/>
          </a:prstGeom>
          <a:effectLst/>
        </p:spPr>
      </p:pic>
      <p:sp>
        <p:nvSpPr>
          <p:cNvPr id="26" name="S06 Text 25 - Workflow / case"/>
          <p:cNvSpPr txBox="1"/>
          <p:nvPr/>
        </p:nvSpPr>
        <p:spPr>
          <a:xfrm>
            <a:off x="3566160" y="2185416"/>
            <a:ext cx="1179576" cy="475488"/>
          </a:xfrm>
          <a:prstGeom prst="rect">
            <a:avLst/>
          </a:prstGeom>
          <a:noFill/>
          <a:effectLst/>
        </p:spPr>
        <p:txBody>
          <a:bodyPr wrap="square" lIns="0" rIns="0" tIns="0" bIns="0" anchor="t">
            <a:noAutofit/>
          </a:bodyPr>
          <a:lstStyle/>
          <a:p>
            <a:pPr algn="l">
              <a:lnSpc>
                <a:spcPct val="110000"/>
              </a:lnSpc>
              <a:spcBef>
                <a:spcPts val="0"/>
              </a:spcBef>
              <a:spcAft>
                <a:spcPts val="0"/>
              </a:spcAft>
            </a:pPr>
            <a:r>
              <a:rPr sz="1280" b="1">
                <a:solidFill>
                  <a:srgbClr val="FFFFFF"/>
                </a:solidFill>
                <a:latin typeface="Inter"/>
              </a:rPr>
              <a:t>Workflow / case</a:t>
            </a:r>
          </a:p>
        </p:txBody>
      </p:sp>
      <p:sp>
        <p:nvSpPr>
          <p:cNvPr id="27" name="Rounded Rectangle 26"/>
          <p:cNvSpPr/>
          <p:nvPr/>
        </p:nvSpPr>
        <p:spPr>
          <a:xfrm>
            <a:off x="3374136" y="2999232"/>
            <a:ext cx="987552" cy="256032"/>
          </a:xfrm>
          <a:prstGeom prst="roundRect">
            <a:avLst>
              <a:gd name="adj" fmla="val 14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S06 Text 27 - HTTP"/>
          <p:cNvSpPr txBox="1"/>
          <p:nvPr/>
        </p:nvSpPr>
        <p:spPr>
          <a:xfrm>
            <a:off x="3447288" y="3012948"/>
            <a:ext cx="841248" cy="237744"/>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B8C3DC"/>
                </a:solidFill>
                <a:latin typeface="Inter"/>
              </a:rPr>
              <a:t>HTTP</a:t>
            </a:r>
          </a:p>
        </p:txBody>
      </p:sp>
      <p:sp>
        <p:nvSpPr>
          <p:cNvPr id="29" name="Rounded Rectangle 28"/>
          <p:cNvSpPr/>
          <p:nvPr/>
        </p:nvSpPr>
        <p:spPr>
          <a:xfrm>
            <a:off x="5093208" y="2029968"/>
            <a:ext cx="2002536" cy="886968"/>
          </a:xfrm>
          <a:prstGeom prst="roundRect">
            <a:avLst>
              <a:gd name="adj" fmla="val 70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icon_headset_21B6D7.png"/>
          <p:cNvPicPr>
            <a:picLocks noChangeAspect="1"/>
          </p:cNvPicPr>
          <p:nvPr/>
        </p:nvPicPr>
        <p:blipFill>
          <a:blip r:embed="rId5"/>
          <a:stretch>
            <a:fillRect/>
          </a:stretch>
        </p:blipFill>
        <p:spPr>
          <a:xfrm>
            <a:off x="5266944" y="2212848"/>
            <a:ext cx="384048" cy="384048"/>
          </a:xfrm>
          <a:prstGeom prst="rect">
            <a:avLst/>
          </a:prstGeom>
          <a:effectLst/>
        </p:spPr>
      </p:pic>
      <p:sp>
        <p:nvSpPr>
          <p:cNvPr id="31" name="S06 Text 30 - Voice / assisted"/>
          <p:cNvSpPr txBox="1"/>
          <p:nvPr/>
        </p:nvSpPr>
        <p:spPr>
          <a:xfrm>
            <a:off x="5797296" y="2185416"/>
            <a:ext cx="1179576" cy="475488"/>
          </a:xfrm>
          <a:prstGeom prst="rect">
            <a:avLst/>
          </a:prstGeom>
          <a:noFill/>
          <a:effectLst/>
        </p:spPr>
        <p:txBody>
          <a:bodyPr wrap="square" lIns="0" rIns="0" tIns="0" bIns="0" anchor="t">
            <a:noAutofit/>
          </a:bodyPr>
          <a:lstStyle/>
          <a:p>
            <a:pPr algn="l">
              <a:lnSpc>
                <a:spcPct val="110000"/>
              </a:lnSpc>
              <a:spcBef>
                <a:spcPts val="0"/>
              </a:spcBef>
              <a:spcAft>
                <a:spcPts val="0"/>
              </a:spcAft>
            </a:pPr>
            <a:r>
              <a:rPr sz="1280" b="1">
                <a:solidFill>
                  <a:srgbClr val="FFFFFF"/>
                </a:solidFill>
                <a:latin typeface="Inter"/>
              </a:rPr>
              <a:t>Voice / assisted</a:t>
            </a:r>
          </a:p>
        </p:txBody>
      </p:sp>
      <p:sp>
        <p:nvSpPr>
          <p:cNvPr id="32" name="Rounded Rectangle 31"/>
          <p:cNvSpPr/>
          <p:nvPr/>
        </p:nvSpPr>
        <p:spPr>
          <a:xfrm>
            <a:off x="5605272" y="2999232"/>
            <a:ext cx="987552" cy="256032"/>
          </a:xfrm>
          <a:prstGeom prst="roundRect">
            <a:avLst>
              <a:gd name="adj" fmla="val 14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S06 Text 32 - HTTP"/>
          <p:cNvSpPr txBox="1"/>
          <p:nvPr/>
        </p:nvSpPr>
        <p:spPr>
          <a:xfrm>
            <a:off x="5678424" y="3012948"/>
            <a:ext cx="841248" cy="237744"/>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B8C3DC"/>
                </a:solidFill>
                <a:latin typeface="Inter"/>
              </a:rPr>
              <a:t>HTTP</a:t>
            </a:r>
          </a:p>
        </p:txBody>
      </p:sp>
      <p:sp>
        <p:nvSpPr>
          <p:cNvPr id="34" name="Rounded Rectangle 33"/>
          <p:cNvSpPr/>
          <p:nvPr/>
        </p:nvSpPr>
        <p:spPr>
          <a:xfrm>
            <a:off x="7324344" y="2029968"/>
            <a:ext cx="2002536" cy="886968"/>
          </a:xfrm>
          <a:prstGeom prst="roundRect">
            <a:avLst>
              <a:gd name="adj" fmla="val 70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5" name="Picture 34" descr="icon_laptop-code_3182F6.png"/>
          <p:cNvPicPr>
            <a:picLocks noChangeAspect="1"/>
          </p:cNvPicPr>
          <p:nvPr/>
        </p:nvPicPr>
        <p:blipFill>
          <a:blip r:embed="rId6"/>
          <a:stretch>
            <a:fillRect/>
          </a:stretch>
        </p:blipFill>
        <p:spPr>
          <a:xfrm>
            <a:off x="7498079" y="2212848"/>
            <a:ext cx="384048" cy="384048"/>
          </a:xfrm>
          <a:prstGeom prst="rect">
            <a:avLst/>
          </a:prstGeom>
          <a:effectLst/>
        </p:spPr>
      </p:pic>
      <p:sp>
        <p:nvSpPr>
          <p:cNvPr id="36" name="S06 Text 35 - Web / mobile"/>
          <p:cNvSpPr txBox="1"/>
          <p:nvPr/>
        </p:nvSpPr>
        <p:spPr>
          <a:xfrm>
            <a:off x="8028431" y="2185416"/>
            <a:ext cx="1179576" cy="475488"/>
          </a:xfrm>
          <a:prstGeom prst="rect">
            <a:avLst/>
          </a:prstGeom>
          <a:noFill/>
          <a:effectLst/>
        </p:spPr>
        <p:txBody>
          <a:bodyPr wrap="square" lIns="0" rIns="0" tIns="0" bIns="0" anchor="t">
            <a:noAutofit/>
          </a:bodyPr>
          <a:lstStyle/>
          <a:p>
            <a:pPr algn="l">
              <a:lnSpc>
                <a:spcPct val="110000"/>
              </a:lnSpc>
              <a:spcBef>
                <a:spcPts val="0"/>
              </a:spcBef>
              <a:spcAft>
                <a:spcPts val="0"/>
              </a:spcAft>
            </a:pPr>
            <a:r>
              <a:rPr sz="1280" b="1">
                <a:solidFill>
                  <a:srgbClr val="FFFFFF"/>
                </a:solidFill>
                <a:latin typeface="Inter"/>
              </a:rPr>
              <a:t>Web / mobile</a:t>
            </a:r>
          </a:p>
        </p:txBody>
      </p:sp>
      <p:sp>
        <p:nvSpPr>
          <p:cNvPr id="37" name="Rounded Rectangle 36"/>
          <p:cNvSpPr/>
          <p:nvPr/>
        </p:nvSpPr>
        <p:spPr>
          <a:xfrm>
            <a:off x="7836408" y="2999232"/>
            <a:ext cx="987552" cy="256032"/>
          </a:xfrm>
          <a:prstGeom prst="roundRect">
            <a:avLst>
              <a:gd name="adj" fmla="val 14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S06 Text 37 - HTTP"/>
          <p:cNvSpPr txBox="1"/>
          <p:nvPr/>
        </p:nvSpPr>
        <p:spPr>
          <a:xfrm>
            <a:off x="7909560" y="3012948"/>
            <a:ext cx="841248" cy="237744"/>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B8C3DC"/>
                </a:solidFill>
                <a:latin typeface="Inter"/>
              </a:rPr>
              <a:t>HTTP</a:t>
            </a:r>
          </a:p>
        </p:txBody>
      </p:sp>
      <p:sp>
        <p:nvSpPr>
          <p:cNvPr id="39" name="Rounded Rectangle 38"/>
          <p:cNvSpPr/>
          <p:nvPr/>
        </p:nvSpPr>
        <p:spPr>
          <a:xfrm>
            <a:off x="9555480" y="2029968"/>
            <a:ext cx="2002536" cy="886968"/>
          </a:xfrm>
          <a:prstGeom prst="roundRect">
            <a:avLst>
              <a:gd name="adj" fmla="val 70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0" name="Picture 39" descr="icon_file-contract_19C4A7.png"/>
          <p:cNvPicPr>
            <a:picLocks noChangeAspect="1"/>
          </p:cNvPicPr>
          <p:nvPr/>
        </p:nvPicPr>
        <p:blipFill>
          <a:blip r:embed="rId7"/>
          <a:stretch>
            <a:fillRect/>
          </a:stretch>
        </p:blipFill>
        <p:spPr>
          <a:xfrm>
            <a:off x="9729215" y="2212848"/>
            <a:ext cx="384048" cy="384048"/>
          </a:xfrm>
          <a:prstGeom prst="rect">
            <a:avLst/>
          </a:prstGeom>
          <a:effectLst/>
        </p:spPr>
      </p:pic>
      <p:sp>
        <p:nvSpPr>
          <p:cNvPr id="41" name="S06 Text 40 - Partners / standards"/>
          <p:cNvSpPr txBox="1"/>
          <p:nvPr/>
        </p:nvSpPr>
        <p:spPr>
          <a:xfrm>
            <a:off x="10259567" y="2185416"/>
            <a:ext cx="1179576" cy="475488"/>
          </a:xfrm>
          <a:prstGeom prst="rect">
            <a:avLst/>
          </a:prstGeom>
          <a:noFill/>
          <a:effectLst/>
        </p:spPr>
        <p:txBody>
          <a:bodyPr wrap="square" lIns="0" rIns="0" tIns="0" bIns="0" anchor="t">
            <a:noAutofit/>
          </a:bodyPr>
          <a:lstStyle/>
          <a:p>
            <a:pPr algn="l">
              <a:lnSpc>
                <a:spcPct val="110000"/>
              </a:lnSpc>
              <a:spcBef>
                <a:spcPts val="0"/>
              </a:spcBef>
              <a:spcAft>
                <a:spcPts val="0"/>
              </a:spcAft>
            </a:pPr>
            <a:r>
              <a:rPr sz="1280" b="1">
                <a:solidFill>
                  <a:srgbClr val="FFFFFF"/>
                </a:solidFill>
                <a:latin typeface="Inter"/>
              </a:rPr>
              <a:t>Partners / standards</a:t>
            </a:r>
          </a:p>
        </p:txBody>
      </p:sp>
      <p:sp>
        <p:nvSpPr>
          <p:cNvPr id="42" name="Rounded Rectangle 41"/>
          <p:cNvSpPr/>
          <p:nvPr/>
        </p:nvSpPr>
        <p:spPr>
          <a:xfrm>
            <a:off x="10067544" y="2999232"/>
            <a:ext cx="987552" cy="256032"/>
          </a:xfrm>
          <a:prstGeom prst="roundRect">
            <a:avLst>
              <a:gd name="adj" fmla="val 14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S06 Text 42 - HTTP"/>
          <p:cNvSpPr txBox="1"/>
          <p:nvPr/>
        </p:nvSpPr>
        <p:spPr>
          <a:xfrm>
            <a:off x="10140696" y="3012948"/>
            <a:ext cx="841248" cy="237744"/>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B8C3DC"/>
                </a:solidFill>
                <a:latin typeface="Inter"/>
              </a:rPr>
              <a:t>HTTP</a:t>
            </a:r>
          </a:p>
        </p:txBody>
      </p:sp>
      <p:sp>
        <p:nvSpPr>
          <p:cNvPr id="44" name="Rounded Rectangle 43"/>
          <p:cNvSpPr/>
          <p:nvPr/>
        </p:nvSpPr>
        <p:spPr>
          <a:xfrm>
            <a:off x="832104" y="3511296"/>
            <a:ext cx="10533888" cy="1435608"/>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5" name="Picture 44" descr="image-4-11.png"/>
          <p:cNvPicPr>
            <a:picLocks noChangeAspect="1"/>
          </p:cNvPicPr>
          <p:nvPr/>
        </p:nvPicPr>
        <p:blipFill>
          <a:blip r:embed="rId8"/>
          <a:stretch>
            <a:fillRect/>
          </a:stretch>
        </p:blipFill>
        <p:spPr>
          <a:xfrm>
            <a:off x="1078992" y="3712463"/>
            <a:ext cx="822960" cy="822960"/>
          </a:xfrm>
          <a:prstGeom prst="rect">
            <a:avLst/>
          </a:prstGeom>
          <a:effectLst/>
        </p:spPr>
      </p:pic>
      <p:sp>
        <p:nvSpPr>
          <p:cNvPr id="46" name="S06 Text 45 - KALEIDO"/>
          <p:cNvSpPr txBox="1"/>
          <p:nvPr/>
        </p:nvSpPr>
        <p:spPr>
          <a:xfrm>
            <a:off x="2148840" y="3721608"/>
            <a:ext cx="2743200" cy="283464"/>
          </a:xfrm>
          <a:prstGeom prst="rect">
            <a:avLst/>
          </a:prstGeom>
          <a:noFill/>
          <a:effectLst/>
        </p:spPr>
        <p:txBody>
          <a:bodyPr wrap="square" lIns="0" rIns="0" tIns="0" bIns="0" anchor="t">
            <a:noAutofit/>
          </a:bodyPr>
          <a:lstStyle/>
          <a:p>
            <a:pPr algn="l">
              <a:lnSpc>
                <a:spcPct val="110000"/>
              </a:lnSpc>
              <a:spcBef>
                <a:spcPts val="0"/>
              </a:spcBef>
              <a:spcAft>
                <a:spcPts val="0"/>
              </a:spcAft>
            </a:pPr>
            <a:r>
              <a:rPr sz="1700" b="1">
                <a:solidFill>
                  <a:srgbClr val="111827"/>
                </a:solidFill>
                <a:latin typeface="Inter"/>
              </a:rPr>
              <a:t>KALEIDO</a:t>
            </a:r>
          </a:p>
        </p:txBody>
      </p:sp>
      <p:sp>
        <p:nvSpPr>
          <p:cNvPr id="47" name="S06 Text 46 - Shared business capability contract"/>
          <p:cNvSpPr txBox="1"/>
          <p:nvPr/>
        </p:nvSpPr>
        <p:spPr>
          <a:xfrm>
            <a:off x="2148840" y="4160520"/>
            <a:ext cx="3246120" cy="338328"/>
          </a:xfrm>
          <a:prstGeom prst="rect">
            <a:avLst/>
          </a:prstGeom>
          <a:noFill/>
          <a:effectLst/>
        </p:spPr>
        <p:txBody>
          <a:bodyPr wrap="square" lIns="0" rIns="0" tIns="0" bIns="0" anchor="t">
            <a:noAutofit/>
          </a:bodyPr>
          <a:lstStyle/>
          <a:p>
            <a:pPr algn="l">
              <a:lnSpc>
                <a:spcPct val="110000"/>
              </a:lnSpc>
              <a:spcBef>
                <a:spcPts val="0"/>
              </a:spcBef>
              <a:spcAft>
                <a:spcPts val="0"/>
              </a:spcAft>
            </a:pPr>
            <a:r>
              <a:rPr sz="1220" b="0">
                <a:solidFill>
                  <a:srgbClr val="5F6B82"/>
                </a:solidFill>
                <a:latin typeface="Inter"/>
              </a:rPr>
              <a:t>Shared business capability contract</a:t>
            </a:r>
          </a:p>
        </p:txBody>
      </p:sp>
      <p:sp>
        <p:nvSpPr>
          <p:cNvPr id="48" name="Rectangle 47"/>
          <p:cNvSpPr/>
          <p:nvPr/>
        </p:nvSpPr>
        <p:spPr>
          <a:xfrm>
            <a:off x="5724144" y="3730752"/>
            <a:ext cx="36576" cy="640080"/>
          </a:xfrm>
          <a:prstGeom prst="rect">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S06 Text 48 - QUERYABLE"/>
          <p:cNvSpPr txBox="1"/>
          <p:nvPr/>
        </p:nvSpPr>
        <p:spPr>
          <a:xfrm>
            <a:off x="5870448" y="3803904"/>
            <a:ext cx="1581912"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90" b="1">
                <a:solidFill>
                  <a:srgbClr val="21B6D7"/>
                </a:solidFill>
                <a:latin typeface="Inter"/>
              </a:rPr>
              <a:t>QUERYABLE</a:t>
            </a:r>
          </a:p>
        </p:txBody>
      </p:sp>
      <p:sp>
        <p:nvSpPr>
          <p:cNvPr id="50" name="S06 Text 49 - Business information"/>
          <p:cNvSpPr txBox="1"/>
          <p:nvPr/>
        </p:nvSpPr>
        <p:spPr>
          <a:xfrm>
            <a:off x="5870448" y="4178808"/>
            <a:ext cx="1581912" cy="384048"/>
          </a:xfrm>
          <a:prstGeom prst="rect">
            <a:avLst/>
          </a:prstGeom>
          <a:noFill/>
          <a:effectLst/>
        </p:spPr>
        <p:txBody>
          <a:bodyPr wrap="square" lIns="0" rIns="0" tIns="0" bIns="0" anchor="t">
            <a:noAutofit/>
          </a:bodyPr>
          <a:lstStyle/>
          <a:p>
            <a:pPr algn="l">
              <a:lnSpc>
                <a:spcPct val="110000"/>
              </a:lnSpc>
              <a:spcBef>
                <a:spcPts val="0"/>
              </a:spcBef>
              <a:spcAft>
                <a:spcPts val="0"/>
              </a:spcAft>
            </a:pPr>
            <a:r>
              <a:rPr sz="1080" b="0">
                <a:solidFill>
                  <a:srgbClr val="111827"/>
                </a:solidFill>
                <a:latin typeface="Inter"/>
              </a:rPr>
              <a:t>Business information</a:t>
            </a:r>
          </a:p>
        </p:txBody>
      </p:sp>
      <p:sp>
        <p:nvSpPr>
          <p:cNvPr id="51" name="Rectangle 50"/>
          <p:cNvSpPr/>
          <p:nvPr/>
        </p:nvSpPr>
        <p:spPr>
          <a:xfrm>
            <a:off x="7543800" y="3730752"/>
            <a:ext cx="36576" cy="640080"/>
          </a:xfrm>
          <a:prstGeom prst="rect">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S06 Text 51 - PROCESS"/>
          <p:cNvSpPr txBox="1"/>
          <p:nvPr/>
        </p:nvSpPr>
        <p:spPr>
          <a:xfrm>
            <a:off x="7690104" y="3803904"/>
            <a:ext cx="1581912"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90" b="1">
                <a:solidFill>
                  <a:srgbClr val="19C4A7"/>
                </a:solidFill>
                <a:latin typeface="Inter"/>
              </a:rPr>
              <a:t>PROCESS</a:t>
            </a:r>
          </a:p>
        </p:txBody>
      </p:sp>
      <p:sp>
        <p:nvSpPr>
          <p:cNvPr id="53" name="S06 Text 52 - Business actions"/>
          <p:cNvSpPr txBox="1"/>
          <p:nvPr/>
        </p:nvSpPr>
        <p:spPr>
          <a:xfrm>
            <a:off x="7690104" y="4178808"/>
            <a:ext cx="1581912" cy="384048"/>
          </a:xfrm>
          <a:prstGeom prst="rect">
            <a:avLst/>
          </a:prstGeom>
          <a:noFill/>
          <a:effectLst/>
        </p:spPr>
        <p:txBody>
          <a:bodyPr wrap="square" lIns="0" rIns="0" tIns="0" bIns="0" anchor="t">
            <a:noAutofit/>
          </a:bodyPr>
          <a:lstStyle/>
          <a:p>
            <a:pPr algn="l">
              <a:lnSpc>
                <a:spcPct val="110000"/>
              </a:lnSpc>
              <a:spcBef>
                <a:spcPts val="0"/>
              </a:spcBef>
              <a:spcAft>
                <a:spcPts val="0"/>
              </a:spcAft>
            </a:pPr>
            <a:r>
              <a:rPr sz="1080" b="0">
                <a:solidFill>
                  <a:srgbClr val="111827"/>
                </a:solidFill>
                <a:latin typeface="Inter"/>
              </a:rPr>
              <a:t>Business actions</a:t>
            </a:r>
          </a:p>
        </p:txBody>
      </p:sp>
      <p:sp>
        <p:nvSpPr>
          <p:cNvPr id="54" name="Rectangle 53"/>
          <p:cNvSpPr/>
          <p:nvPr/>
        </p:nvSpPr>
        <p:spPr>
          <a:xfrm>
            <a:off x="9363456" y="3730752"/>
            <a:ext cx="36576" cy="640080"/>
          </a:xfrm>
          <a:prstGeom prst="rect">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S06 Text 54 - REGISTRY"/>
          <p:cNvSpPr txBox="1"/>
          <p:nvPr/>
        </p:nvSpPr>
        <p:spPr>
          <a:xfrm>
            <a:off x="9509760" y="3803904"/>
            <a:ext cx="1581912"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90" b="1">
                <a:solidFill>
                  <a:srgbClr val="8B5CF6"/>
                </a:solidFill>
                <a:latin typeface="Inter"/>
              </a:rPr>
              <a:t>REGISTRY</a:t>
            </a:r>
          </a:p>
        </p:txBody>
      </p:sp>
      <p:sp>
        <p:nvSpPr>
          <p:cNvPr id="56" name="S06 Text 55 - Capability catalog"/>
          <p:cNvSpPr txBox="1"/>
          <p:nvPr/>
        </p:nvSpPr>
        <p:spPr>
          <a:xfrm>
            <a:off x="9509760" y="4178808"/>
            <a:ext cx="1581912" cy="384048"/>
          </a:xfrm>
          <a:prstGeom prst="rect">
            <a:avLst/>
          </a:prstGeom>
          <a:noFill/>
          <a:effectLst/>
        </p:spPr>
        <p:txBody>
          <a:bodyPr wrap="square" lIns="0" rIns="0" tIns="0" bIns="0" anchor="t">
            <a:noAutofit/>
          </a:bodyPr>
          <a:lstStyle/>
          <a:p>
            <a:pPr algn="l">
              <a:lnSpc>
                <a:spcPct val="110000"/>
              </a:lnSpc>
              <a:spcBef>
                <a:spcPts val="0"/>
              </a:spcBef>
              <a:spcAft>
                <a:spcPts val="0"/>
              </a:spcAft>
            </a:pPr>
            <a:r>
              <a:rPr sz="1080" b="0">
                <a:solidFill>
                  <a:srgbClr val="111827"/>
                </a:solidFill>
                <a:latin typeface="Inter"/>
              </a:rPr>
              <a:t>Capability catalog</a:t>
            </a:r>
          </a:p>
        </p:txBody>
      </p:sp>
      <p:cxnSp>
        <p:nvCxnSpPr>
          <p:cNvPr id="57" name="Connector 56"/>
          <p:cNvCxnSpPr/>
          <p:nvPr/>
        </p:nvCxnSpPr>
        <p:spPr>
          <a:xfrm>
            <a:off x="6099048" y="4956048"/>
            <a:ext cx="0" cy="292608"/>
          </a:xfrm>
          <a:prstGeom prst="line">
            <a:avLst/>
          </a:prstGeom>
          <a:ln w="21590">
            <a:solidFill>
              <a:srgbClr val="19C4A7"/>
            </a:solidFill>
          </a:ln>
          <a:effectLst/>
        </p:spPr>
        <p:style>
          <a:lnRef idx="2">
            <a:schemeClr val="accent1"/>
          </a:lnRef>
          <a:fillRef idx="0">
            <a:schemeClr val="accent1"/>
          </a:fillRef>
          <a:effectRef idx="0">
            <a:schemeClr val="accent1"/>
          </a:effectRef>
          <a:fontRef idx="minor">
            <a:schemeClr val="tx1"/>
          </a:fontRef>
        </p:style>
      </p:cxnSp>
      <p:sp>
        <p:nvSpPr>
          <p:cNvPr id="58" name="Rounded Rectangle 57"/>
          <p:cNvSpPr/>
          <p:nvPr/>
        </p:nvSpPr>
        <p:spPr>
          <a:xfrm>
            <a:off x="1682496" y="5321808"/>
            <a:ext cx="8814816" cy="502920"/>
          </a:xfrm>
          <a:prstGeom prst="roundRect">
            <a:avLst>
              <a:gd name="adj" fmla="val 4000"/>
            </a:avLst>
          </a:prstGeom>
          <a:solidFill>
            <a:srgbClr val="17223D"/>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S06 Text 58 - BUSINESS HANDLERS + DOMAIN SERVICES + PERSISTENCE"/>
          <p:cNvSpPr txBox="1"/>
          <p:nvPr/>
        </p:nvSpPr>
        <p:spPr>
          <a:xfrm>
            <a:off x="1847088" y="5458968"/>
            <a:ext cx="8494776" cy="210312"/>
          </a:xfrm>
          <a:prstGeom prst="rect">
            <a:avLst/>
          </a:prstGeom>
          <a:noFill/>
          <a:effectLst/>
        </p:spPr>
        <p:txBody>
          <a:bodyPr wrap="square" lIns="0" rIns="0" tIns="0" bIns="0" anchor="t">
            <a:noAutofit/>
          </a:bodyPr>
          <a:lstStyle/>
          <a:p>
            <a:pPr algn="ctr">
              <a:lnSpc>
                <a:spcPct val="110000"/>
              </a:lnSpc>
              <a:spcBef>
                <a:spcPts val="0"/>
              </a:spcBef>
              <a:spcAft>
                <a:spcPts val="0"/>
              </a:spcAft>
            </a:pPr>
            <a:r>
              <a:rPr sz="1230" b="1">
                <a:solidFill>
                  <a:srgbClr val="FFFFFF"/>
                </a:solidFill>
                <a:latin typeface="Inter"/>
              </a:rPr>
              <a:t>BUSINESS HANDLERS + DOMAIN SERVICES + PERSISTENCE</a:t>
            </a:r>
          </a:p>
        </p:txBody>
      </p:sp>
      <p:sp>
        <p:nvSpPr>
          <p:cNvPr id="60" name="S06 Text 59 - The AI model stays outside Kaleido. Business decisions "/>
          <p:cNvSpPr txBox="1"/>
          <p:nvPr/>
        </p:nvSpPr>
        <p:spPr>
          <a:xfrm>
            <a:off x="832104" y="5961888"/>
            <a:ext cx="10515600" cy="265176"/>
          </a:xfrm>
          <a:prstGeom prst="rect">
            <a:avLst/>
          </a:prstGeom>
          <a:noFill/>
          <a:effectLst/>
        </p:spPr>
        <p:txBody>
          <a:bodyPr wrap="square" lIns="0" rIns="0" tIns="0" bIns="0" anchor="t">
            <a:noAutofit/>
          </a:bodyPr>
          <a:lstStyle/>
          <a:p>
            <a:pPr algn="ctr">
              <a:lnSpc>
                <a:spcPct val="110000"/>
              </a:lnSpc>
              <a:spcBef>
                <a:spcPts val="0"/>
              </a:spcBef>
              <a:spcAft>
                <a:spcPts val="0"/>
              </a:spcAft>
            </a:pPr>
            <a:r>
              <a:rPr sz="1450" b="1">
                <a:solidFill>
                  <a:srgbClr val="B8C3DC"/>
                </a:solidFill>
                <a:latin typeface="Inter"/>
              </a:rPr>
              <a:t>The AI model stays outside Kaleido. Business decisions stay in the application.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F"/>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F0ED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EAF7F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07 Text 04 - IMPLEMENTED MCP SURFACE"/>
          <p:cNvSpPr txBox="1"/>
          <p:nvPr/>
        </p:nvSpPr>
        <p:spPr>
          <a:xfrm>
            <a:off x="603504" y="393192"/>
            <a:ext cx="9966960"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6257FA"/>
                </a:solidFill>
                <a:latin typeface="Inter"/>
              </a:rPr>
              <a:t>IMPLEMENTED MCP SURFACE</a:t>
            </a:r>
          </a:p>
        </p:txBody>
      </p:sp>
      <p:sp>
        <p:nvSpPr>
          <p:cNvPr id="6" name="S07 Text 05 - AI can discover, act, ask, and continue."/>
          <p:cNvSpPr txBox="1"/>
          <p:nvPr/>
        </p:nvSpPr>
        <p:spPr>
          <a:xfrm>
            <a:off x="603504" y="832104"/>
            <a:ext cx="10972800"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2900" b="1">
                <a:solidFill>
                  <a:srgbClr val="111827"/>
                </a:solidFill>
                <a:latin typeface="Inter"/>
              </a:rPr>
              <a:t>AI can discover, act, ask, and continue.</a:t>
            </a:r>
          </a:p>
        </p:txBody>
      </p:sp>
      <p:sp>
        <p:nvSpPr>
          <p:cNvPr id="7" name="S07 Text 06 - The agent reads a machine-readable business contract in"/>
          <p:cNvSpPr txBox="1"/>
          <p:nvPr/>
        </p:nvSpPr>
        <p:spPr>
          <a:xfrm>
            <a:off x="603504" y="1472184"/>
            <a:ext cx="10936224" cy="448056"/>
          </a:xfrm>
          <a:prstGeom prst="rect">
            <a:avLst/>
          </a:prstGeom>
          <a:noFill/>
          <a:effectLst/>
        </p:spPr>
        <p:txBody>
          <a:bodyPr wrap="square" lIns="0" rIns="0" tIns="0" bIns="0" anchor="t">
            <a:noAutofit/>
          </a:bodyPr>
          <a:lstStyle/>
          <a:p>
            <a:pPr algn="l">
              <a:lnSpc>
                <a:spcPct val="110000"/>
              </a:lnSpc>
              <a:spcBef>
                <a:spcPts val="0"/>
              </a:spcBef>
              <a:spcAft>
                <a:spcPts val="0"/>
              </a:spcAft>
            </a:pPr>
            <a:r>
              <a:rPr sz="1420" b="0">
                <a:solidFill>
                  <a:srgbClr val="5F6B82"/>
                </a:solidFill>
                <a:latin typeface="Inter"/>
              </a:rPr>
              <a:t>The agent reads a machine-readable business contract instead of inventing its own process model.</a:t>
            </a:r>
          </a:p>
        </p:txBody>
      </p:sp>
      <p:cxnSp>
        <p:nvCxnSpPr>
          <p:cNvPr id="8" name="Connector 7"/>
          <p:cNvCxnSpPr/>
          <p:nvPr/>
        </p:nvCxnSpPr>
        <p:spPr>
          <a:xfrm>
            <a:off x="603504" y="6492240"/>
            <a:ext cx="10981944" cy="0"/>
          </a:xfrm>
          <a:prstGeom prst="line">
            <a:avLst/>
          </a:prstGeom>
          <a:ln w="8255">
            <a:solidFill>
              <a:srgbClr val="DDE3EF"/>
            </a:solidFill>
          </a:ln>
          <a:effectLst/>
        </p:spPr>
        <p:style>
          <a:lnRef idx="2">
            <a:schemeClr val="accent1"/>
          </a:lnRef>
          <a:fillRef idx="0">
            <a:schemeClr val="accent1"/>
          </a:fillRef>
          <a:effectRef idx="0">
            <a:schemeClr val="accent1"/>
          </a:effectRef>
          <a:fontRef idx="minor">
            <a:schemeClr val="tx1"/>
          </a:fontRef>
        </p:style>
      </p:cxnSp>
      <p:pic>
        <p:nvPicPr>
          <p:cNvPr id="9" name="Picture 8" descr="image-4-11.png"/>
          <p:cNvPicPr>
            <a:picLocks noChangeAspect="1"/>
          </p:cNvPicPr>
          <p:nvPr/>
        </p:nvPicPr>
        <p:blipFill>
          <a:blip r:embed="rId2"/>
          <a:stretch>
            <a:fillRect/>
          </a:stretch>
        </p:blipFill>
        <p:spPr>
          <a:xfrm>
            <a:off x="621792" y="6583680"/>
            <a:ext cx="164592" cy="164592"/>
          </a:xfrm>
          <a:prstGeom prst="rect">
            <a:avLst/>
          </a:prstGeom>
          <a:effectLst/>
        </p:spPr>
      </p:pic>
      <p:sp>
        <p:nvSpPr>
          <p:cNvPr id="10" name="S07 Text 09 - Kaleido  |  AI-native executive overview"/>
          <p:cNvSpPr txBox="1"/>
          <p:nvPr/>
        </p:nvSpPr>
        <p:spPr>
          <a:xfrm>
            <a:off x="877824" y="6574536"/>
            <a:ext cx="4572000" cy="173736"/>
          </a:xfrm>
          <a:prstGeom prst="rect">
            <a:avLst/>
          </a:prstGeom>
          <a:noFill/>
          <a:effectLst/>
        </p:spPr>
        <p:txBody>
          <a:bodyPr wrap="square" lIns="0" rIns="0" tIns="0" bIns="0" anchor="t">
            <a:noAutofit/>
          </a:bodyPr>
          <a:lstStyle/>
          <a:p>
            <a:pPr algn="l">
              <a:lnSpc>
                <a:spcPct val="110000"/>
              </a:lnSpc>
              <a:spcBef>
                <a:spcPts val="0"/>
              </a:spcBef>
              <a:spcAft>
                <a:spcPts val="0"/>
              </a:spcAft>
            </a:pPr>
            <a:r>
              <a:rPr sz="830" b="0">
                <a:solidFill>
                  <a:srgbClr val="5F6B82"/>
                </a:solidFill>
                <a:latin typeface="Inter"/>
              </a:rPr>
              <a:t>Kaleido  |  AI-native executive overview</a:t>
            </a:r>
          </a:p>
        </p:txBody>
      </p:sp>
      <p:sp>
        <p:nvSpPr>
          <p:cNvPr id="11" name="S07 Text 10 - PRE-1.0 PROJECT PREVIEW"/>
          <p:cNvSpPr txBox="1"/>
          <p:nvPr/>
        </p:nvSpPr>
        <p:spPr>
          <a:xfrm>
            <a:off x="8723376" y="6574536"/>
            <a:ext cx="249631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00" b="0">
                <a:solidFill>
                  <a:srgbClr val="5F6B82"/>
                </a:solidFill>
                <a:latin typeface="Inter"/>
              </a:rPr>
              <a:t>PRE-1.0 PROJECT PREVIEW</a:t>
            </a:r>
          </a:p>
        </p:txBody>
      </p:sp>
      <p:sp>
        <p:nvSpPr>
          <p:cNvPr id="12" name="S07 Text 11 - 07"/>
          <p:cNvSpPr txBox="1"/>
          <p:nvPr/>
        </p:nvSpPr>
        <p:spPr>
          <a:xfrm>
            <a:off x="11274552" y="6574536"/>
            <a:ext cx="30175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30" b="0">
                <a:solidFill>
                  <a:srgbClr val="5F6B82"/>
                </a:solidFill>
                <a:latin typeface="Inter"/>
              </a:rPr>
              <a:t>07</a:t>
            </a:r>
          </a:p>
        </p:txBody>
      </p:sp>
      <p:sp>
        <p:nvSpPr>
          <p:cNvPr id="13" name="S07 Text 12 - Implemented source-level capabilities. Form behavior de"/>
          <p:cNvSpPr txBox="1"/>
          <p:nvPr/>
        </p:nvSpPr>
        <p:spPr>
          <a:xfrm>
            <a:off x="621792" y="6263640"/>
            <a:ext cx="10881360" cy="164592"/>
          </a:xfrm>
          <a:prstGeom prst="rect">
            <a:avLst/>
          </a:prstGeom>
          <a:noFill/>
          <a:effectLst/>
        </p:spPr>
        <p:txBody>
          <a:bodyPr wrap="square" lIns="0" rIns="0" tIns="0" bIns="0" anchor="t">
            <a:noAutofit/>
          </a:bodyPr>
          <a:lstStyle/>
          <a:p>
            <a:pPr algn="l">
              <a:lnSpc>
                <a:spcPct val="110000"/>
              </a:lnSpc>
              <a:spcBef>
                <a:spcPts val="0"/>
              </a:spcBef>
              <a:spcAft>
                <a:spcPts val="0"/>
              </a:spcAft>
            </a:pPr>
            <a:r>
              <a:rPr sz="850" b="0">
                <a:solidFill>
                  <a:srgbClr val="5F6B82"/>
                </a:solidFill>
                <a:latin typeface="Inter"/>
              </a:rPr>
              <a:t>Implemented source-level capabilities. Form behavior depends on the MCP client; release validation remains open.</a:t>
            </a:r>
          </a:p>
        </p:txBody>
      </p:sp>
      <p:cxnSp>
        <p:nvCxnSpPr>
          <p:cNvPr id="14" name="Connector 13"/>
          <p:cNvCxnSpPr/>
          <p:nvPr/>
        </p:nvCxnSpPr>
        <p:spPr>
          <a:xfrm>
            <a:off x="1618488" y="2514600"/>
            <a:ext cx="2103120" cy="0"/>
          </a:xfrm>
          <a:prstGeom prst="line">
            <a:avLst/>
          </a:prstGeom>
          <a:ln w="21590">
            <a:solidFill>
              <a:srgbClr val="DDE3EF"/>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3849624" y="2514600"/>
            <a:ext cx="2103120" cy="0"/>
          </a:xfrm>
          <a:prstGeom prst="line">
            <a:avLst/>
          </a:prstGeom>
          <a:ln w="21590">
            <a:solidFill>
              <a:srgbClr val="DDE3EF"/>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6080760" y="2514600"/>
            <a:ext cx="2103119" cy="0"/>
          </a:xfrm>
          <a:prstGeom prst="line">
            <a:avLst/>
          </a:prstGeom>
          <a:ln w="21590">
            <a:solidFill>
              <a:srgbClr val="DDE3EF"/>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8311896" y="2514600"/>
            <a:ext cx="2103120" cy="0"/>
          </a:xfrm>
          <a:prstGeom prst="line">
            <a:avLst/>
          </a:prstGeom>
          <a:ln w="21590">
            <a:solidFill>
              <a:srgbClr val="DDE3EF"/>
            </a:solidFill>
          </a:ln>
          <a:effectLst/>
        </p:spPr>
        <p:style>
          <a:lnRef idx="2">
            <a:schemeClr val="accent1"/>
          </a:lnRef>
          <a:fillRef idx="0">
            <a:schemeClr val="accent1"/>
          </a:fillRef>
          <a:effectRef idx="0">
            <a:schemeClr val="accent1"/>
          </a:effectRef>
          <a:fontRef idx="minor">
            <a:schemeClr val="tx1"/>
          </a:fontRef>
        </p:style>
      </p:cxnSp>
      <p:sp>
        <p:nvSpPr>
          <p:cNvPr id="18" name="Oval 17"/>
          <p:cNvSpPr/>
          <p:nvPr/>
        </p:nvSpPr>
        <p:spPr>
          <a:xfrm>
            <a:off x="1298448" y="2167128"/>
            <a:ext cx="713232" cy="713232"/>
          </a:xfrm>
          <a:prstGeom prst="ellipse">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9" name="Picture 18" descr="icon_compass_FFFFFF.png"/>
          <p:cNvPicPr>
            <a:picLocks noChangeAspect="1"/>
          </p:cNvPicPr>
          <p:nvPr/>
        </p:nvPicPr>
        <p:blipFill>
          <a:blip r:embed="rId3"/>
          <a:stretch>
            <a:fillRect/>
          </a:stretch>
        </p:blipFill>
        <p:spPr>
          <a:xfrm>
            <a:off x="1469623" y="2338303"/>
            <a:ext cx="370880" cy="370880"/>
          </a:xfrm>
          <a:prstGeom prst="rect">
            <a:avLst/>
          </a:prstGeom>
          <a:effectLst/>
        </p:spPr>
      </p:pic>
      <p:sp>
        <p:nvSpPr>
          <p:cNvPr id="20" name="S07 Text 19 - 01  DISCOVER"/>
          <p:cNvSpPr txBox="1"/>
          <p:nvPr/>
        </p:nvSpPr>
        <p:spPr>
          <a:xfrm>
            <a:off x="630936" y="3099816"/>
            <a:ext cx="2029968" cy="256032"/>
          </a:xfrm>
          <a:prstGeom prst="rect">
            <a:avLst/>
          </a:prstGeom>
          <a:noFill/>
          <a:effectLst/>
        </p:spPr>
        <p:txBody>
          <a:bodyPr wrap="square" lIns="0" rIns="0" tIns="0" bIns="0" anchor="t">
            <a:noAutofit/>
          </a:bodyPr>
          <a:lstStyle/>
          <a:p>
            <a:pPr algn="ctr">
              <a:lnSpc>
                <a:spcPct val="110000"/>
              </a:lnSpc>
              <a:spcBef>
                <a:spcPts val="0"/>
              </a:spcBef>
              <a:spcAft>
                <a:spcPts val="0"/>
              </a:spcAft>
            </a:pPr>
            <a:r>
              <a:rPr sz="1130" b="1">
                <a:solidFill>
                  <a:srgbClr val="8B5CF6"/>
                </a:solidFill>
                <a:latin typeface="Inter"/>
              </a:rPr>
              <a:t>01  DISCOVER</a:t>
            </a:r>
          </a:p>
        </p:txBody>
      </p:sp>
      <p:sp>
        <p:nvSpPr>
          <p:cNvPr id="21" name="S07 Text 20 - Read the tool catalog"/>
          <p:cNvSpPr txBox="1"/>
          <p:nvPr/>
        </p:nvSpPr>
        <p:spPr>
          <a:xfrm>
            <a:off x="649224" y="3630168"/>
            <a:ext cx="1993392" cy="658368"/>
          </a:xfrm>
          <a:prstGeom prst="rect">
            <a:avLst/>
          </a:prstGeom>
          <a:noFill/>
          <a:effectLst/>
        </p:spPr>
        <p:txBody>
          <a:bodyPr wrap="square" lIns="0" rIns="0" tIns="0" bIns="0" anchor="t">
            <a:noAutofit/>
          </a:bodyPr>
          <a:lstStyle/>
          <a:p>
            <a:pPr algn="ctr">
              <a:lnSpc>
                <a:spcPct val="110000"/>
              </a:lnSpc>
              <a:spcBef>
                <a:spcPts val="0"/>
              </a:spcBef>
              <a:spcAft>
                <a:spcPts val="0"/>
              </a:spcAft>
            </a:pPr>
            <a:r>
              <a:rPr sz="1800" b="1">
                <a:solidFill>
                  <a:srgbClr val="111827"/>
                </a:solidFill>
                <a:latin typeface="Inter"/>
              </a:rPr>
              <a:t>Read the tool catalog</a:t>
            </a:r>
          </a:p>
        </p:txBody>
      </p:sp>
      <p:sp>
        <p:nvSpPr>
          <p:cNvPr id="22" name="S07 Text 21 - Names, descriptions, schemas, and constraints."/>
          <p:cNvSpPr txBox="1"/>
          <p:nvPr/>
        </p:nvSpPr>
        <p:spPr>
          <a:xfrm>
            <a:off x="612647" y="4489704"/>
            <a:ext cx="2066543" cy="640080"/>
          </a:xfrm>
          <a:prstGeom prst="rect">
            <a:avLst/>
          </a:prstGeom>
          <a:noFill/>
          <a:effectLst/>
        </p:spPr>
        <p:txBody>
          <a:bodyPr wrap="square" lIns="0" rIns="0" tIns="0" bIns="0" anchor="t">
            <a:noAutofit/>
          </a:bodyPr>
          <a:lstStyle/>
          <a:p>
            <a:pPr algn="ctr">
              <a:lnSpc>
                <a:spcPct val="110000"/>
              </a:lnSpc>
              <a:spcBef>
                <a:spcPts val="0"/>
              </a:spcBef>
              <a:spcAft>
                <a:spcPts val="0"/>
              </a:spcAft>
            </a:pPr>
            <a:r>
              <a:rPr sz="1270" b="0">
                <a:solidFill>
                  <a:srgbClr val="5F6B82"/>
                </a:solidFill>
                <a:latin typeface="Inter"/>
              </a:rPr>
              <a:t>Names, descriptions,</a:t>
            </a:r>
          </a:p>
          <a:p>
            <a:pPr algn="ctr">
              <a:lnSpc>
                <a:spcPct val="110000"/>
              </a:lnSpc>
              <a:spcBef>
                <a:spcPts val="0"/>
              </a:spcBef>
              <a:spcAft>
                <a:spcPts val="0"/>
              </a:spcAft>
            </a:pPr>
            <a:r>
              <a:rPr sz="1270" b="0">
                <a:solidFill>
                  <a:srgbClr val="5F6B82"/>
                </a:solidFill>
                <a:latin typeface="Inter"/>
              </a:rPr>
              <a:t>schemas, and constraints.</a:t>
            </a:r>
          </a:p>
        </p:txBody>
      </p:sp>
      <p:sp>
        <p:nvSpPr>
          <p:cNvPr id="23" name="Oval 22"/>
          <p:cNvSpPr/>
          <p:nvPr/>
        </p:nvSpPr>
        <p:spPr>
          <a:xfrm>
            <a:off x="3529584" y="2167128"/>
            <a:ext cx="713232" cy="713232"/>
          </a:xfrm>
          <a:prstGeom prst="ellipse">
            <a:avLst/>
          </a:prstGeom>
          <a:solidFill>
            <a:srgbClr val="3182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con_magnifying-glass_FFFFFF.png"/>
          <p:cNvPicPr>
            <a:picLocks noChangeAspect="1"/>
          </p:cNvPicPr>
          <p:nvPr/>
        </p:nvPicPr>
        <p:blipFill>
          <a:blip r:embed="rId4"/>
          <a:stretch>
            <a:fillRect/>
          </a:stretch>
        </p:blipFill>
        <p:spPr>
          <a:xfrm>
            <a:off x="3700759" y="2338303"/>
            <a:ext cx="370880" cy="370880"/>
          </a:xfrm>
          <a:prstGeom prst="rect">
            <a:avLst/>
          </a:prstGeom>
          <a:effectLst/>
        </p:spPr>
      </p:pic>
      <p:sp>
        <p:nvSpPr>
          <p:cNvPr id="25" name="S07 Text 24 - 02  LOOK UP"/>
          <p:cNvSpPr txBox="1"/>
          <p:nvPr/>
        </p:nvSpPr>
        <p:spPr>
          <a:xfrm>
            <a:off x="2862072" y="3099816"/>
            <a:ext cx="2029968" cy="256032"/>
          </a:xfrm>
          <a:prstGeom prst="rect">
            <a:avLst/>
          </a:prstGeom>
          <a:noFill/>
          <a:effectLst/>
        </p:spPr>
        <p:txBody>
          <a:bodyPr wrap="square" lIns="0" rIns="0" tIns="0" bIns="0" anchor="t">
            <a:noAutofit/>
          </a:bodyPr>
          <a:lstStyle/>
          <a:p>
            <a:pPr algn="ctr">
              <a:lnSpc>
                <a:spcPct val="110000"/>
              </a:lnSpc>
              <a:spcBef>
                <a:spcPts val="0"/>
              </a:spcBef>
              <a:spcAft>
                <a:spcPts val="0"/>
              </a:spcAft>
            </a:pPr>
            <a:r>
              <a:rPr sz="1130" b="1">
                <a:solidFill>
                  <a:srgbClr val="3182F6"/>
                </a:solidFill>
                <a:latin typeface="Inter"/>
              </a:rPr>
              <a:t>02  LOOK UP</a:t>
            </a:r>
          </a:p>
        </p:txBody>
      </p:sp>
      <p:sp>
        <p:nvSpPr>
          <p:cNvPr id="26" name="S07 Text 25 - Find real business data"/>
          <p:cNvSpPr txBox="1"/>
          <p:nvPr/>
        </p:nvSpPr>
        <p:spPr>
          <a:xfrm>
            <a:off x="2880360" y="3630168"/>
            <a:ext cx="1993392" cy="658368"/>
          </a:xfrm>
          <a:prstGeom prst="rect">
            <a:avLst/>
          </a:prstGeom>
          <a:noFill/>
          <a:effectLst/>
        </p:spPr>
        <p:txBody>
          <a:bodyPr wrap="square" lIns="0" rIns="0" tIns="0" bIns="0" anchor="t">
            <a:noAutofit/>
          </a:bodyPr>
          <a:lstStyle/>
          <a:p>
            <a:pPr algn="ctr">
              <a:lnSpc>
                <a:spcPct val="110000"/>
              </a:lnSpc>
              <a:spcBef>
                <a:spcPts val="0"/>
              </a:spcBef>
              <a:spcAft>
                <a:spcPts val="0"/>
              </a:spcAft>
            </a:pPr>
            <a:r>
              <a:rPr sz="1800" b="1">
                <a:solidFill>
                  <a:srgbClr val="111827"/>
                </a:solidFill>
                <a:latin typeface="Inter"/>
              </a:rPr>
              <a:t>Find real business data</a:t>
            </a:r>
          </a:p>
        </p:txBody>
      </p:sp>
      <p:sp>
        <p:nvSpPr>
          <p:cNvPr id="27" name="S07 Text 26 - Search first; guide the user to a matching record."/>
          <p:cNvSpPr txBox="1"/>
          <p:nvPr/>
        </p:nvSpPr>
        <p:spPr>
          <a:xfrm>
            <a:off x="2843784" y="4489704"/>
            <a:ext cx="2066543" cy="640080"/>
          </a:xfrm>
          <a:prstGeom prst="rect">
            <a:avLst/>
          </a:prstGeom>
          <a:noFill/>
          <a:effectLst/>
        </p:spPr>
        <p:txBody>
          <a:bodyPr wrap="square" lIns="0" rIns="0" tIns="0" bIns="0" anchor="t">
            <a:noAutofit/>
          </a:bodyPr>
          <a:lstStyle/>
          <a:p>
            <a:pPr algn="ctr">
              <a:lnSpc>
                <a:spcPct val="110000"/>
              </a:lnSpc>
              <a:spcBef>
                <a:spcPts val="0"/>
              </a:spcBef>
              <a:spcAft>
                <a:spcPts val="0"/>
              </a:spcAft>
            </a:pPr>
            <a:r>
              <a:rPr sz="1270" b="0">
                <a:solidFill>
                  <a:srgbClr val="5F6B82"/>
                </a:solidFill>
                <a:latin typeface="Inter"/>
              </a:rPr>
              <a:t>Search first; guide the</a:t>
            </a:r>
          </a:p>
          <a:p>
            <a:pPr algn="ctr">
              <a:lnSpc>
                <a:spcPct val="110000"/>
              </a:lnSpc>
              <a:spcBef>
                <a:spcPts val="0"/>
              </a:spcBef>
              <a:spcAft>
                <a:spcPts val="0"/>
              </a:spcAft>
            </a:pPr>
            <a:r>
              <a:rPr sz="1270" b="0">
                <a:solidFill>
                  <a:srgbClr val="5F6B82"/>
                </a:solidFill>
                <a:latin typeface="Inter"/>
              </a:rPr>
              <a:t>user to a matching record.</a:t>
            </a:r>
          </a:p>
        </p:txBody>
      </p:sp>
      <p:sp>
        <p:nvSpPr>
          <p:cNvPr id="28" name="Oval 27"/>
          <p:cNvSpPr/>
          <p:nvPr/>
        </p:nvSpPr>
        <p:spPr>
          <a:xfrm>
            <a:off x="5760720" y="2167128"/>
            <a:ext cx="713232" cy="713232"/>
          </a:xfrm>
          <a:prstGeom prst="ellipse">
            <a:avLst/>
          </a:prstGeom>
          <a:solidFill>
            <a:srgbClr val="B64F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9" name="Picture 28" descr="icon_bolt_FFFFFF.png"/>
          <p:cNvPicPr>
            <a:picLocks noChangeAspect="1"/>
          </p:cNvPicPr>
          <p:nvPr/>
        </p:nvPicPr>
        <p:blipFill>
          <a:blip r:embed="rId5"/>
          <a:stretch>
            <a:fillRect/>
          </a:stretch>
        </p:blipFill>
        <p:spPr>
          <a:xfrm>
            <a:off x="5931895" y="2338303"/>
            <a:ext cx="370880" cy="370880"/>
          </a:xfrm>
          <a:prstGeom prst="rect">
            <a:avLst/>
          </a:prstGeom>
          <a:effectLst/>
        </p:spPr>
      </p:pic>
      <p:sp>
        <p:nvSpPr>
          <p:cNvPr id="30" name="S07 Text 29 - 03  ACT"/>
          <p:cNvSpPr txBox="1"/>
          <p:nvPr/>
        </p:nvSpPr>
        <p:spPr>
          <a:xfrm>
            <a:off x="5093208" y="3099816"/>
            <a:ext cx="2029968" cy="256032"/>
          </a:xfrm>
          <a:prstGeom prst="rect">
            <a:avLst/>
          </a:prstGeom>
          <a:noFill/>
          <a:effectLst/>
        </p:spPr>
        <p:txBody>
          <a:bodyPr wrap="square" lIns="0" rIns="0" tIns="0" bIns="0" anchor="t">
            <a:noAutofit/>
          </a:bodyPr>
          <a:lstStyle/>
          <a:p>
            <a:pPr algn="ctr">
              <a:lnSpc>
                <a:spcPct val="110000"/>
              </a:lnSpc>
              <a:spcBef>
                <a:spcPts val="0"/>
              </a:spcBef>
              <a:spcAft>
                <a:spcPts val="0"/>
              </a:spcAft>
            </a:pPr>
            <a:r>
              <a:rPr sz="1130" b="1">
                <a:solidFill>
                  <a:srgbClr val="B64FD9"/>
                </a:solidFill>
                <a:latin typeface="Inter"/>
              </a:rPr>
              <a:t>03  ACT</a:t>
            </a:r>
          </a:p>
        </p:txBody>
      </p:sp>
      <p:sp>
        <p:nvSpPr>
          <p:cNvPr id="31" name="S07 Text 30 - Invoke a declared step"/>
          <p:cNvSpPr txBox="1"/>
          <p:nvPr/>
        </p:nvSpPr>
        <p:spPr>
          <a:xfrm>
            <a:off x="5111496" y="3630168"/>
            <a:ext cx="1993392" cy="658368"/>
          </a:xfrm>
          <a:prstGeom prst="rect">
            <a:avLst/>
          </a:prstGeom>
          <a:noFill/>
          <a:effectLst/>
        </p:spPr>
        <p:txBody>
          <a:bodyPr wrap="square" lIns="0" rIns="0" tIns="0" bIns="0" anchor="t">
            <a:noAutofit/>
          </a:bodyPr>
          <a:lstStyle/>
          <a:p>
            <a:pPr algn="ctr">
              <a:lnSpc>
                <a:spcPct val="110000"/>
              </a:lnSpc>
              <a:spcBef>
                <a:spcPts val="0"/>
              </a:spcBef>
              <a:spcAft>
                <a:spcPts val="0"/>
              </a:spcAft>
            </a:pPr>
            <a:r>
              <a:rPr sz="1800" b="1">
                <a:solidFill>
                  <a:srgbClr val="111827"/>
                </a:solidFill>
                <a:latin typeface="Inter"/>
              </a:rPr>
              <a:t>Invoke a declared step</a:t>
            </a:r>
          </a:p>
        </p:txBody>
      </p:sp>
      <p:sp>
        <p:nvSpPr>
          <p:cNvPr id="32" name="S07 Text 31 - Typed arguments enter the Process runtime."/>
          <p:cNvSpPr txBox="1"/>
          <p:nvPr/>
        </p:nvSpPr>
        <p:spPr>
          <a:xfrm>
            <a:off x="5074920" y="4489704"/>
            <a:ext cx="2066543" cy="640080"/>
          </a:xfrm>
          <a:prstGeom prst="rect">
            <a:avLst/>
          </a:prstGeom>
          <a:noFill/>
          <a:effectLst/>
        </p:spPr>
        <p:txBody>
          <a:bodyPr wrap="square" lIns="0" rIns="0" tIns="0" bIns="0" anchor="t">
            <a:noAutofit/>
          </a:bodyPr>
          <a:lstStyle/>
          <a:p>
            <a:pPr algn="ctr">
              <a:lnSpc>
                <a:spcPct val="110000"/>
              </a:lnSpc>
              <a:spcBef>
                <a:spcPts val="0"/>
              </a:spcBef>
              <a:spcAft>
                <a:spcPts val="0"/>
              </a:spcAft>
            </a:pPr>
            <a:r>
              <a:rPr sz="1270" b="0">
                <a:solidFill>
                  <a:srgbClr val="5F6B82"/>
                </a:solidFill>
                <a:latin typeface="Inter"/>
              </a:rPr>
              <a:t>Typed arguments enter</a:t>
            </a:r>
          </a:p>
          <a:p>
            <a:pPr algn="ctr">
              <a:lnSpc>
                <a:spcPct val="110000"/>
              </a:lnSpc>
              <a:spcBef>
                <a:spcPts val="0"/>
              </a:spcBef>
              <a:spcAft>
                <a:spcPts val="0"/>
              </a:spcAft>
            </a:pPr>
            <a:r>
              <a:rPr sz="1270" b="0">
                <a:solidFill>
                  <a:srgbClr val="5F6B82"/>
                </a:solidFill>
                <a:latin typeface="Inter"/>
              </a:rPr>
              <a:t>the Process runtime.</a:t>
            </a:r>
          </a:p>
        </p:txBody>
      </p:sp>
      <p:sp>
        <p:nvSpPr>
          <p:cNvPr id="33" name="Oval 32"/>
          <p:cNvSpPr/>
          <p:nvPr/>
        </p:nvSpPr>
        <p:spPr>
          <a:xfrm>
            <a:off x="7991856" y="2167128"/>
            <a:ext cx="713232" cy="713232"/>
          </a:xfrm>
          <a:prstGeom prst="ellipse">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4" name="Picture 33" descr="icon_list-check_FFFFFF.png"/>
          <p:cNvPicPr>
            <a:picLocks noChangeAspect="1"/>
          </p:cNvPicPr>
          <p:nvPr/>
        </p:nvPicPr>
        <p:blipFill>
          <a:blip r:embed="rId6"/>
          <a:stretch>
            <a:fillRect/>
          </a:stretch>
        </p:blipFill>
        <p:spPr>
          <a:xfrm>
            <a:off x="8163031" y="2338303"/>
            <a:ext cx="370880" cy="370880"/>
          </a:xfrm>
          <a:prstGeom prst="rect">
            <a:avLst/>
          </a:prstGeom>
          <a:effectLst/>
        </p:spPr>
      </p:pic>
      <p:sp>
        <p:nvSpPr>
          <p:cNvPr id="35" name="S07 Text 34 - 04  ASK"/>
          <p:cNvSpPr txBox="1"/>
          <p:nvPr/>
        </p:nvSpPr>
        <p:spPr>
          <a:xfrm>
            <a:off x="7324344" y="3099816"/>
            <a:ext cx="2029968" cy="256032"/>
          </a:xfrm>
          <a:prstGeom prst="rect">
            <a:avLst/>
          </a:prstGeom>
          <a:noFill/>
          <a:effectLst/>
        </p:spPr>
        <p:txBody>
          <a:bodyPr wrap="square" lIns="0" rIns="0" tIns="0" bIns="0" anchor="t">
            <a:noAutofit/>
          </a:bodyPr>
          <a:lstStyle/>
          <a:p>
            <a:pPr algn="ctr">
              <a:lnSpc>
                <a:spcPct val="110000"/>
              </a:lnSpc>
              <a:spcBef>
                <a:spcPts val="0"/>
              </a:spcBef>
              <a:spcAft>
                <a:spcPts val="0"/>
              </a:spcAft>
            </a:pPr>
            <a:r>
              <a:rPr sz="1130" b="1">
                <a:solidFill>
                  <a:srgbClr val="21B6D7"/>
                </a:solidFill>
                <a:latin typeface="Inter"/>
              </a:rPr>
              <a:t>04  ASK</a:t>
            </a:r>
          </a:p>
        </p:txBody>
      </p:sp>
      <p:sp>
        <p:nvSpPr>
          <p:cNvPr id="36" name="S07 Text 35 - Collect missing answers"/>
          <p:cNvSpPr txBox="1"/>
          <p:nvPr/>
        </p:nvSpPr>
        <p:spPr>
          <a:xfrm>
            <a:off x="7342631" y="3630168"/>
            <a:ext cx="1993392" cy="658368"/>
          </a:xfrm>
          <a:prstGeom prst="rect">
            <a:avLst/>
          </a:prstGeom>
          <a:noFill/>
          <a:effectLst/>
        </p:spPr>
        <p:txBody>
          <a:bodyPr wrap="square" lIns="0" rIns="0" tIns="0" bIns="0" anchor="t">
            <a:noAutofit/>
          </a:bodyPr>
          <a:lstStyle/>
          <a:p>
            <a:pPr algn="ctr">
              <a:lnSpc>
                <a:spcPct val="110000"/>
              </a:lnSpc>
              <a:spcBef>
                <a:spcPts val="0"/>
              </a:spcBef>
              <a:spcAft>
                <a:spcPts val="0"/>
              </a:spcAft>
            </a:pPr>
            <a:r>
              <a:rPr sz="1800" b="1">
                <a:solidFill>
                  <a:srgbClr val="111827"/>
                </a:solidFill>
                <a:latin typeface="Inter"/>
              </a:rPr>
              <a:t>Collect missing answers</a:t>
            </a:r>
          </a:p>
        </p:txBody>
      </p:sp>
      <p:sp>
        <p:nvSpPr>
          <p:cNvPr id="37" name="S07 Text 36 - Information requests; forms when supported."/>
          <p:cNvSpPr txBox="1"/>
          <p:nvPr/>
        </p:nvSpPr>
        <p:spPr>
          <a:xfrm>
            <a:off x="7306056" y="4489704"/>
            <a:ext cx="2066543" cy="640080"/>
          </a:xfrm>
          <a:prstGeom prst="rect">
            <a:avLst/>
          </a:prstGeom>
          <a:noFill/>
          <a:effectLst/>
        </p:spPr>
        <p:txBody>
          <a:bodyPr wrap="square" lIns="0" rIns="0" tIns="0" bIns="0" anchor="t">
            <a:noAutofit/>
          </a:bodyPr>
          <a:lstStyle/>
          <a:p>
            <a:pPr algn="ctr">
              <a:lnSpc>
                <a:spcPct val="110000"/>
              </a:lnSpc>
              <a:spcBef>
                <a:spcPts val="0"/>
              </a:spcBef>
              <a:spcAft>
                <a:spcPts val="0"/>
              </a:spcAft>
            </a:pPr>
            <a:r>
              <a:rPr sz="1270" b="0">
                <a:solidFill>
                  <a:srgbClr val="5F6B82"/>
                </a:solidFill>
                <a:latin typeface="Inter"/>
              </a:rPr>
              <a:t>Information requests;</a:t>
            </a:r>
          </a:p>
          <a:p>
            <a:pPr algn="ctr">
              <a:lnSpc>
                <a:spcPct val="110000"/>
              </a:lnSpc>
              <a:spcBef>
                <a:spcPts val="0"/>
              </a:spcBef>
              <a:spcAft>
                <a:spcPts val="0"/>
              </a:spcAft>
            </a:pPr>
            <a:r>
              <a:rPr sz="1270" b="0">
                <a:solidFill>
                  <a:srgbClr val="5F6B82"/>
                </a:solidFill>
                <a:latin typeface="Inter"/>
              </a:rPr>
              <a:t>forms when supported.</a:t>
            </a:r>
          </a:p>
        </p:txBody>
      </p:sp>
      <p:sp>
        <p:nvSpPr>
          <p:cNvPr id="38" name="Oval 37"/>
          <p:cNvSpPr/>
          <p:nvPr/>
        </p:nvSpPr>
        <p:spPr>
          <a:xfrm>
            <a:off x="10222992" y="2167128"/>
            <a:ext cx="713232" cy="713232"/>
          </a:xfrm>
          <a:prstGeom prst="ellipse">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9" name="Picture 38" descr="icon_route_FFFFFF.png"/>
          <p:cNvPicPr>
            <a:picLocks noChangeAspect="1"/>
          </p:cNvPicPr>
          <p:nvPr/>
        </p:nvPicPr>
        <p:blipFill>
          <a:blip r:embed="rId7"/>
          <a:stretch>
            <a:fillRect/>
          </a:stretch>
        </p:blipFill>
        <p:spPr>
          <a:xfrm>
            <a:off x="10394167" y="2338303"/>
            <a:ext cx="370880" cy="370880"/>
          </a:xfrm>
          <a:prstGeom prst="rect">
            <a:avLst/>
          </a:prstGeom>
          <a:effectLst/>
        </p:spPr>
      </p:pic>
      <p:sp>
        <p:nvSpPr>
          <p:cNvPr id="40" name="S07 Text 39 - 05  CONTINUE"/>
          <p:cNvSpPr txBox="1"/>
          <p:nvPr/>
        </p:nvSpPr>
        <p:spPr>
          <a:xfrm>
            <a:off x="9555480" y="3099816"/>
            <a:ext cx="2029968" cy="256032"/>
          </a:xfrm>
          <a:prstGeom prst="rect">
            <a:avLst/>
          </a:prstGeom>
          <a:noFill/>
          <a:effectLst/>
        </p:spPr>
        <p:txBody>
          <a:bodyPr wrap="square" lIns="0" rIns="0" tIns="0" bIns="0" anchor="t">
            <a:noAutofit/>
          </a:bodyPr>
          <a:lstStyle/>
          <a:p>
            <a:pPr algn="ctr">
              <a:lnSpc>
                <a:spcPct val="110000"/>
              </a:lnSpc>
              <a:spcBef>
                <a:spcPts val="0"/>
              </a:spcBef>
              <a:spcAft>
                <a:spcPts val="0"/>
              </a:spcAft>
            </a:pPr>
            <a:r>
              <a:rPr sz="1130" b="1">
                <a:solidFill>
                  <a:srgbClr val="19C4A7"/>
                </a:solidFill>
                <a:latin typeface="Inter"/>
              </a:rPr>
              <a:t>05  CONTINUE</a:t>
            </a:r>
          </a:p>
        </p:txBody>
      </p:sp>
      <p:sp>
        <p:nvSpPr>
          <p:cNvPr id="41" name="S07 Text 40 - Read state and next"/>
          <p:cNvSpPr txBox="1"/>
          <p:nvPr/>
        </p:nvSpPr>
        <p:spPr>
          <a:xfrm>
            <a:off x="9573767" y="3630168"/>
            <a:ext cx="1993392" cy="658368"/>
          </a:xfrm>
          <a:prstGeom prst="rect">
            <a:avLst/>
          </a:prstGeom>
          <a:noFill/>
          <a:effectLst/>
        </p:spPr>
        <p:txBody>
          <a:bodyPr wrap="square" lIns="0" rIns="0" tIns="0" bIns="0" anchor="t">
            <a:noAutofit/>
          </a:bodyPr>
          <a:lstStyle/>
          <a:p>
            <a:pPr algn="ctr">
              <a:lnSpc>
                <a:spcPct val="110000"/>
              </a:lnSpc>
              <a:spcBef>
                <a:spcPts val="0"/>
              </a:spcBef>
              <a:spcAft>
                <a:spcPts val="0"/>
              </a:spcAft>
            </a:pPr>
            <a:r>
              <a:rPr sz="1800" b="1">
                <a:solidFill>
                  <a:srgbClr val="111827"/>
                </a:solidFill>
                <a:latin typeface="Inter"/>
              </a:rPr>
              <a:t>Read state and next</a:t>
            </a:r>
          </a:p>
        </p:txBody>
      </p:sp>
      <p:sp>
        <p:nvSpPr>
          <p:cNvPr id="42" name="S07 Text 41 - Required steps, available choices, and handoffs."/>
          <p:cNvSpPr txBox="1"/>
          <p:nvPr/>
        </p:nvSpPr>
        <p:spPr>
          <a:xfrm>
            <a:off x="9537192" y="4489704"/>
            <a:ext cx="2066543" cy="640080"/>
          </a:xfrm>
          <a:prstGeom prst="rect">
            <a:avLst/>
          </a:prstGeom>
          <a:noFill/>
          <a:effectLst/>
        </p:spPr>
        <p:txBody>
          <a:bodyPr wrap="square" lIns="0" rIns="0" tIns="0" bIns="0" anchor="t">
            <a:noAutofit/>
          </a:bodyPr>
          <a:lstStyle/>
          <a:p>
            <a:pPr algn="ctr">
              <a:lnSpc>
                <a:spcPct val="110000"/>
              </a:lnSpc>
              <a:spcBef>
                <a:spcPts val="0"/>
              </a:spcBef>
              <a:spcAft>
                <a:spcPts val="0"/>
              </a:spcAft>
            </a:pPr>
            <a:r>
              <a:rPr sz="1270" b="0">
                <a:solidFill>
                  <a:srgbClr val="5F6B82"/>
                </a:solidFill>
                <a:latin typeface="Inter"/>
              </a:rPr>
              <a:t>Required steps, available</a:t>
            </a:r>
          </a:p>
          <a:p>
            <a:pPr algn="ctr">
              <a:lnSpc>
                <a:spcPct val="110000"/>
              </a:lnSpc>
              <a:spcBef>
                <a:spcPts val="0"/>
              </a:spcBef>
              <a:spcAft>
                <a:spcPts val="0"/>
              </a:spcAft>
            </a:pPr>
            <a:r>
              <a:rPr sz="1270" b="0">
                <a:solidFill>
                  <a:srgbClr val="5F6B82"/>
                </a:solidFill>
                <a:latin typeface="Inter"/>
              </a:rPr>
              <a:t>choices, and handoffs.</a:t>
            </a:r>
          </a:p>
        </p:txBody>
      </p:sp>
      <p:sp>
        <p:nvSpPr>
          <p:cNvPr id="43" name="Rounded Rectangle 42"/>
          <p:cNvSpPr/>
          <p:nvPr/>
        </p:nvSpPr>
        <p:spPr>
          <a:xfrm>
            <a:off x="621792" y="5504688"/>
            <a:ext cx="10945368" cy="548640"/>
          </a:xfrm>
          <a:prstGeom prst="roundRect">
            <a:avLst>
              <a:gd name="adj" fmla="val 4000"/>
            </a:avLst>
          </a:prstGeom>
          <a:solidFill>
            <a:srgbClr val="080C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S07 Text 43 - Human choices and business rules remain authoritative. "/>
          <p:cNvSpPr txBox="1"/>
          <p:nvPr/>
        </p:nvSpPr>
        <p:spPr>
          <a:xfrm>
            <a:off x="841248" y="5669280"/>
            <a:ext cx="10506456" cy="237744"/>
          </a:xfrm>
          <a:prstGeom prst="rect">
            <a:avLst/>
          </a:prstGeom>
          <a:noFill/>
          <a:effectLst/>
        </p:spPr>
        <p:txBody>
          <a:bodyPr wrap="square" lIns="0" rIns="0" tIns="0" bIns="0" anchor="t">
            <a:noAutofit/>
          </a:bodyPr>
          <a:lstStyle/>
          <a:p>
            <a:pPr algn="ctr">
              <a:lnSpc>
                <a:spcPct val="110000"/>
              </a:lnSpc>
              <a:spcBef>
                <a:spcPts val="0"/>
              </a:spcBef>
              <a:spcAft>
                <a:spcPts val="0"/>
              </a:spcAft>
            </a:pPr>
            <a:r>
              <a:rPr sz="1310" b="1">
                <a:solidFill>
                  <a:srgbClr val="FFFFFF"/>
                </a:solidFill>
                <a:latin typeface="Inter"/>
              </a:rPr>
              <a:t>Human choices and business rules remain authoritative. Tool guidance is not authorization.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C1E"/>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1513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0B203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08 Text 04 - AI-ASSISTED PRIORAUTH EXAMPLE"/>
          <p:cNvSpPr txBox="1"/>
          <p:nvPr/>
        </p:nvSpPr>
        <p:spPr>
          <a:xfrm>
            <a:off x="603504" y="393192"/>
            <a:ext cx="9966960"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B8C3DC"/>
                </a:solidFill>
                <a:latin typeface="Inter"/>
              </a:rPr>
              <a:t>AI-ASSISTED PRIORAUTH EXAMPLE</a:t>
            </a:r>
          </a:p>
        </p:txBody>
      </p:sp>
      <p:sp>
        <p:nvSpPr>
          <p:cNvPr id="6" name="S08 Text 05 - From a conversation to a real business action."/>
          <p:cNvSpPr txBox="1"/>
          <p:nvPr/>
        </p:nvSpPr>
        <p:spPr>
          <a:xfrm>
            <a:off x="603504" y="832104"/>
            <a:ext cx="10972800"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2900" b="1">
                <a:solidFill>
                  <a:srgbClr val="FFFFFF"/>
                </a:solidFill>
                <a:latin typeface="Inter"/>
              </a:rPr>
              <a:t>From a conversation to a real business action.</a:t>
            </a:r>
          </a:p>
        </p:txBody>
      </p:sp>
      <p:sp>
        <p:nvSpPr>
          <p:cNvPr id="7" name="S08 Text 06 - The user chooses and supplies facts. The agent navigate"/>
          <p:cNvSpPr txBox="1"/>
          <p:nvPr/>
        </p:nvSpPr>
        <p:spPr>
          <a:xfrm>
            <a:off x="603504" y="1472184"/>
            <a:ext cx="10936224" cy="448056"/>
          </a:xfrm>
          <a:prstGeom prst="rect">
            <a:avLst/>
          </a:prstGeom>
          <a:noFill/>
          <a:effectLst/>
        </p:spPr>
        <p:txBody>
          <a:bodyPr wrap="square" lIns="0" rIns="0" tIns="0" bIns="0" anchor="t">
            <a:noAutofit/>
          </a:bodyPr>
          <a:lstStyle/>
          <a:p>
            <a:pPr algn="l">
              <a:lnSpc>
                <a:spcPct val="110000"/>
              </a:lnSpc>
              <a:spcBef>
                <a:spcPts val="0"/>
              </a:spcBef>
              <a:spcAft>
                <a:spcPts val="0"/>
              </a:spcAft>
            </a:pPr>
            <a:r>
              <a:rPr sz="1420" b="0">
                <a:solidFill>
                  <a:srgbClr val="B8C3DC"/>
                </a:solidFill>
                <a:latin typeface="Inter"/>
              </a:rPr>
              <a:t>The user chooses and supplies facts. The agent navigates tools. The service checks the business meaning.</a:t>
            </a:r>
          </a:p>
        </p:txBody>
      </p:sp>
      <p:cxnSp>
        <p:nvCxnSpPr>
          <p:cNvPr id="8" name="Connector 7"/>
          <p:cNvCxnSpPr/>
          <p:nvPr/>
        </p:nvCxnSpPr>
        <p:spPr>
          <a:xfrm>
            <a:off x="603504" y="6492240"/>
            <a:ext cx="10981944" cy="0"/>
          </a:xfrm>
          <a:prstGeom prst="line">
            <a:avLst/>
          </a:prstGeom>
          <a:ln w="8255">
            <a:solidFill>
              <a:srgbClr val="29334F"/>
            </a:solidFill>
          </a:ln>
          <a:effectLst/>
        </p:spPr>
        <p:style>
          <a:lnRef idx="2">
            <a:schemeClr val="accent1"/>
          </a:lnRef>
          <a:fillRef idx="0">
            <a:schemeClr val="accent1"/>
          </a:fillRef>
          <a:effectRef idx="0">
            <a:schemeClr val="accent1"/>
          </a:effectRef>
          <a:fontRef idx="minor">
            <a:schemeClr val="tx1"/>
          </a:fontRef>
        </p:style>
      </p:cxnSp>
      <p:pic>
        <p:nvPicPr>
          <p:cNvPr id="9" name="Picture 8" descr="image-2-12.png"/>
          <p:cNvPicPr>
            <a:picLocks noChangeAspect="1"/>
          </p:cNvPicPr>
          <p:nvPr/>
        </p:nvPicPr>
        <p:blipFill>
          <a:blip r:embed="rId2"/>
          <a:stretch>
            <a:fillRect/>
          </a:stretch>
        </p:blipFill>
        <p:spPr>
          <a:xfrm>
            <a:off x="621792" y="6583680"/>
            <a:ext cx="164592" cy="190665"/>
          </a:xfrm>
          <a:prstGeom prst="rect">
            <a:avLst/>
          </a:prstGeom>
          <a:effectLst/>
        </p:spPr>
      </p:pic>
      <p:sp>
        <p:nvSpPr>
          <p:cNvPr id="10" name="S08 Text 09 - Kaleido  |  AI-native executive overview"/>
          <p:cNvSpPr txBox="1"/>
          <p:nvPr/>
        </p:nvSpPr>
        <p:spPr>
          <a:xfrm>
            <a:off x="877824" y="6574536"/>
            <a:ext cx="4572000" cy="173736"/>
          </a:xfrm>
          <a:prstGeom prst="rect">
            <a:avLst/>
          </a:prstGeom>
          <a:noFill/>
          <a:effectLst/>
        </p:spPr>
        <p:txBody>
          <a:bodyPr wrap="square" lIns="0" rIns="0" tIns="0" bIns="0" anchor="t">
            <a:noAutofit/>
          </a:bodyPr>
          <a:lstStyle/>
          <a:p>
            <a:pPr algn="l">
              <a:lnSpc>
                <a:spcPct val="110000"/>
              </a:lnSpc>
              <a:spcBef>
                <a:spcPts val="0"/>
              </a:spcBef>
              <a:spcAft>
                <a:spcPts val="0"/>
              </a:spcAft>
            </a:pPr>
            <a:r>
              <a:rPr sz="830" b="0">
                <a:solidFill>
                  <a:srgbClr val="B8C3DC"/>
                </a:solidFill>
                <a:latin typeface="Inter"/>
              </a:rPr>
              <a:t>Kaleido  |  AI-native executive overview</a:t>
            </a:r>
          </a:p>
        </p:txBody>
      </p:sp>
      <p:sp>
        <p:nvSpPr>
          <p:cNvPr id="11" name="S08 Text 10 - PRE-1.0 PROJECT PREVIEW"/>
          <p:cNvSpPr txBox="1"/>
          <p:nvPr/>
        </p:nvSpPr>
        <p:spPr>
          <a:xfrm>
            <a:off x="8723376" y="6574536"/>
            <a:ext cx="249631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00" b="0">
                <a:solidFill>
                  <a:srgbClr val="B8C3DC"/>
                </a:solidFill>
                <a:latin typeface="Inter"/>
              </a:rPr>
              <a:t>PRE-1.0 PROJECT PREVIEW</a:t>
            </a:r>
          </a:p>
        </p:txBody>
      </p:sp>
      <p:sp>
        <p:nvSpPr>
          <p:cNvPr id="12" name="S08 Text 11 - 08"/>
          <p:cNvSpPr txBox="1"/>
          <p:nvPr/>
        </p:nvSpPr>
        <p:spPr>
          <a:xfrm>
            <a:off x="11274552" y="6574536"/>
            <a:ext cx="30175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30" b="0">
                <a:solidFill>
                  <a:srgbClr val="B8C3DC"/>
                </a:solidFill>
                <a:latin typeface="Inter"/>
              </a:rPr>
              <a:t>08</a:t>
            </a:r>
          </a:p>
        </p:txBody>
      </p:sp>
      <p:sp>
        <p:nvSpPr>
          <p:cNvPr id="13" name="S08 Text 12 - Illustrative interaction based on the PriorAuth sample "/>
          <p:cNvSpPr txBox="1"/>
          <p:nvPr/>
        </p:nvSpPr>
        <p:spPr>
          <a:xfrm>
            <a:off x="621792" y="6263640"/>
            <a:ext cx="10881360" cy="164592"/>
          </a:xfrm>
          <a:prstGeom prst="rect">
            <a:avLst/>
          </a:prstGeom>
          <a:noFill/>
          <a:effectLst/>
        </p:spPr>
        <p:txBody>
          <a:bodyPr wrap="square" lIns="0" rIns="0" tIns="0" bIns="0" anchor="t">
            <a:noAutofit/>
          </a:bodyPr>
          <a:lstStyle/>
          <a:p>
            <a:pPr algn="l">
              <a:lnSpc>
                <a:spcPct val="110000"/>
              </a:lnSpc>
              <a:spcBef>
                <a:spcPts val="0"/>
              </a:spcBef>
              <a:spcAft>
                <a:spcPts val="0"/>
              </a:spcAft>
            </a:pPr>
            <a:r>
              <a:rPr sz="850" b="0">
                <a:solidFill>
                  <a:srgbClr val="B8C3DC"/>
                </a:solidFill>
                <a:latin typeface="Inter"/>
              </a:rPr>
              <a:t>Illustrative interaction based on the PriorAuth sample and MCP contracts; not a recording of a live agent run.</a:t>
            </a:r>
          </a:p>
        </p:txBody>
      </p:sp>
      <p:sp>
        <p:nvSpPr>
          <p:cNvPr id="14" name="Rounded Rectangle 13"/>
          <p:cNvSpPr/>
          <p:nvPr/>
        </p:nvSpPr>
        <p:spPr>
          <a:xfrm>
            <a:off x="640080" y="1984248"/>
            <a:ext cx="2825496" cy="265176"/>
          </a:xfrm>
          <a:prstGeom prst="roundRect">
            <a:avLst>
              <a:gd name="adj" fmla="val 14000"/>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S08 Text 14 - PERSON + AI INTERACTION"/>
          <p:cNvSpPr txBox="1"/>
          <p:nvPr/>
        </p:nvSpPr>
        <p:spPr>
          <a:xfrm>
            <a:off x="713231" y="1997964"/>
            <a:ext cx="2679191" cy="246887"/>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FFFFFF"/>
                </a:solidFill>
                <a:latin typeface="Inter"/>
              </a:rPr>
              <a:t>PERSON + AI INTERACTION</a:t>
            </a:r>
          </a:p>
        </p:txBody>
      </p:sp>
      <p:sp>
        <p:nvSpPr>
          <p:cNvPr id="16" name="Rounded Rectangle 15"/>
          <p:cNvSpPr/>
          <p:nvPr/>
        </p:nvSpPr>
        <p:spPr>
          <a:xfrm>
            <a:off x="6483096" y="1984248"/>
            <a:ext cx="2468880" cy="265176"/>
          </a:xfrm>
          <a:prstGeom prst="roundRect">
            <a:avLst>
              <a:gd name="adj" fmla="val 14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S08 Text 16 - BUSINESS CONTRACT"/>
          <p:cNvSpPr txBox="1"/>
          <p:nvPr/>
        </p:nvSpPr>
        <p:spPr>
          <a:xfrm>
            <a:off x="6556248" y="1997964"/>
            <a:ext cx="2322576" cy="246887"/>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19C4A7"/>
                </a:solidFill>
                <a:latin typeface="Inter"/>
              </a:rPr>
              <a:t>BUSINESS CONTRACT</a:t>
            </a:r>
          </a:p>
        </p:txBody>
      </p:sp>
      <p:sp>
        <p:nvSpPr>
          <p:cNvPr id="18" name="Rounded Rectangle 17"/>
          <p:cNvSpPr/>
          <p:nvPr/>
        </p:nvSpPr>
        <p:spPr>
          <a:xfrm>
            <a:off x="640080" y="2514600"/>
            <a:ext cx="5148072" cy="896112"/>
          </a:xfrm>
          <a:prstGeom prst="roundRect">
            <a:avLst>
              <a:gd name="adj" fmla="val 55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9" name="Picture 18" descr="icon_magnifying-glass_21B6D7.png"/>
          <p:cNvPicPr>
            <a:picLocks noChangeAspect="1"/>
          </p:cNvPicPr>
          <p:nvPr/>
        </p:nvPicPr>
        <p:blipFill>
          <a:blip r:embed="rId3"/>
          <a:stretch>
            <a:fillRect/>
          </a:stretch>
        </p:blipFill>
        <p:spPr>
          <a:xfrm>
            <a:off x="877824" y="2734056"/>
            <a:ext cx="393192" cy="393192"/>
          </a:xfrm>
          <a:prstGeom prst="rect">
            <a:avLst/>
          </a:prstGeom>
          <a:effectLst/>
        </p:spPr>
      </p:pic>
      <p:sp>
        <p:nvSpPr>
          <p:cNvPr id="20" name="S08 Text 19 - Find the right record"/>
          <p:cNvSpPr txBox="1"/>
          <p:nvPr/>
        </p:nvSpPr>
        <p:spPr>
          <a:xfrm>
            <a:off x="1517904" y="2633472"/>
            <a:ext cx="3986784" cy="283464"/>
          </a:xfrm>
          <a:prstGeom prst="rect">
            <a:avLst/>
          </a:prstGeom>
          <a:noFill/>
          <a:effectLst/>
        </p:spPr>
        <p:txBody>
          <a:bodyPr wrap="square" lIns="0" rIns="0" tIns="0" bIns="0" anchor="t">
            <a:noAutofit/>
          </a:bodyPr>
          <a:lstStyle/>
          <a:p>
            <a:pPr algn="l">
              <a:lnSpc>
                <a:spcPct val="110000"/>
              </a:lnSpc>
              <a:spcBef>
                <a:spcPts val="0"/>
              </a:spcBef>
              <a:spcAft>
                <a:spcPts val="0"/>
              </a:spcAft>
            </a:pPr>
            <a:r>
              <a:rPr sz="1610" b="1">
                <a:solidFill>
                  <a:srgbClr val="FFFFFF"/>
                </a:solidFill>
                <a:latin typeface="Inter"/>
              </a:rPr>
              <a:t>Find the right record</a:t>
            </a:r>
          </a:p>
        </p:txBody>
      </p:sp>
      <p:sp>
        <p:nvSpPr>
          <p:cNvPr id="21" name="S08 Text 20 - Search; show matching records. The user selects the int"/>
          <p:cNvSpPr txBox="1"/>
          <p:nvPr/>
        </p:nvSpPr>
        <p:spPr>
          <a:xfrm>
            <a:off x="1517904" y="2990088"/>
            <a:ext cx="3968496" cy="365760"/>
          </a:xfrm>
          <a:prstGeom prst="rect">
            <a:avLst/>
          </a:prstGeom>
          <a:noFill/>
          <a:effectLst/>
        </p:spPr>
        <p:txBody>
          <a:bodyPr wrap="square" lIns="0" rIns="0" tIns="0" bIns="0" anchor="t">
            <a:noAutofit/>
          </a:bodyPr>
          <a:lstStyle/>
          <a:p>
            <a:pPr algn="l">
              <a:lnSpc>
                <a:spcPct val="110000"/>
              </a:lnSpc>
              <a:spcBef>
                <a:spcPts val="0"/>
              </a:spcBef>
              <a:spcAft>
                <a:spcPts val="0"/>
              </a:spcAft>
            </a:pPr>
            <a:r>
              <a:rPr sz="1210" b="0">
                <a:solidFill>
                  <a:srgbClr val="B8C3DC"/>
                </a:solidFill>
                <a:latin typeface="Inter"/>
              </a:rPr>
              <a:t>Search; show matching records.</a:t>
            </a:r>
          </a:p>
          <a:p>
            <a:pPr algn="l">
              <a:lnSpc>
                <a:spcPct val="110000"/>
              </a:lnSpc>
              <a:spcBef>
                <a:spcPts val="0"/>
              </a:spcBef>
              <a:spcAft>
                <a:spcPts val="0"/>
              </a:spcAft>
            </a:pPr>
            <a:r>
              <a:rPr sz="1210" b="0">
                <a:solidFill>
                  <a:srgbClr val="B8C3DC"/>
                </a:solidFill>
                <a:latin typeface="Inter"/>
              </a:rPr>
              <a:t>The user selects the intended one.</a:t>
            </a:r>
          </a:p>
        </p:txBody>
      </p:sp>
      <p:cxnSp>
        <p:nvCxnSpPr>
          <p:cNvPr id="22" name="Connector 21"/>
          <p:cNvCxnSpPr/>
          <p:nvPr/>
        </p:nvCxnSpPr>
        <p:spPr>
          <a:xfrm>
            <a:off x="5925312" y="2962656"/>
            <a:ext cx="393192" cy="0"/>
          </a:xfrm>
          <a:prstGeom prst="line">
            <a:avLst/>
          </a:prstGeom>
          <a:ln w="24130">
            <a:solidFill>
              <a:srgbClr val="21B6D7"/>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3" name="Rounded Rectangle 22"/>
          <p:cNvSpPr/>
          <p:nvPr/>
        </p:nvSpPr>
        <p:spPr>
          <a:xfrm>
            <a:off x="6501384" y="2514600"/>
            <a:ext cx="5029200" cy="896112"/>
          </a:xfrm>
          <a:prstGeom prst="roundRect">
            <a:avLst>
              <a:gd name="adj" fmla="val 55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S08 Text 23 - Queryable + lookup metadata"/>
          <p:cNvSpPr txBox="1"/>
          <p:nvPr/>
        </p:nvSpPr>
        <p:spPr>
          <a:xfrm>
            <a:off x="6739128" y="2633472"/>
            <a:ext cx="4553712" cy="283464"/>
          </a:xfrm>
          <a:prstGeom prst="rect">
            <a:avLst/>
          </a:prstGeom>
          <a:noFill/>
          <a:effectLst/>
        </p:spPr>
        <p:txBody>
          <a:bodyPr wrap="square" lIns="0" rIns="0" tIns="0" bIns="0" anchor="t">
            <a:noAutofit/>
          </a:bodyPr>
          <a:lstStyle/>
          <a:p>
            <a:pPr algn="l">
              <a:lnSpc>
                <a:spcPct val="110000"/>
              </a:lnSpc>
              <a:spcBef>
                <a:spcPts val="0"/>
              </a:spcBef>
              <a:spcAft>
                <a:spcPts val="0"/>
              </a:spcAft>
            </a:pPr>
            <a:r>
              <a:rPr sz="1610" b="1">
                <a:solidFill>
                  <a:srgbClr val="21B6D7"/>
                </a:solidFill>
                <a:latin typeface="Inter"/>
              </a:rPr>
              <a:t>Queryable + lookup metadata</a:t>
            </a:r>
          </a:p>
        </p:txBody>
      </p:sp>
      <p:sp>
        <p:nvSpPr>
          <p:cNvPr id="25" name="S08 Text 24 - Related IDs come from one result. The step handler chec"/>
          <p:cNvSpPr txBox="1"/>
          <p:nvPr/>
        </p:nvSpPr>
        <p:spPr>
          <a:xfrm>
            <a:off x="6739128" y="2990088"/>
            <a:ext cx="4553712" cy="365760"/>
          </a:xfrm>
          <a:prstGeom prst="rect">
            <a:avLst/>
          </a:prstGeom>
          <a:noFill/>
          <a:effectLst/>
        </p:spPr>
        <p:txBody>
          <a:bodyPr wrap="square" lIns="0" rIns="0" tIns="0" bIns="0" anchor="t">
            <a:noAutofit/>
          </a:bodyPr>
          <a:lstStyle/>
          <a:p>
            <a:pPr algn="l">
              <a:lnSpc>
                <a:spcPct val="110000"/>
              </a:lnSpc>
              <a:spcBef>
                <a:spcPts val="0"/>
              </a:spcBef>
              <a:spcAft>
                <a:spcPts val="0"/>
              </a:spcAft>
            </a:pPr>
            <a:r>
              <a:rPr sz="1210" b="0">
                <a:solidFill>
                  <a:srgbClr val="B8C3DC"/>
                </a:solidFill>
                <a:latin typeface="Inter"/>
              </a:rPr>
              <a:t>Related IDs come from one result.</a:t>
            </a:r>
          </a:p>
          <a:p>
            <a:pPr algn="l">
              <a:lnSpc>
                <a:spcPct val="110000"/>
              </a:lnSpc>
              <a:spcBef>
                <a:spcPts val="0"/>
              </a:spcBef>
              <a:spcAft>
                <a:spcPts val="0"/>
              </a:spcAft>
            </a:pPr>
            <a:r>
              <a:rPr sz="1210" b="0">
                <a:solidFill>
                  <a:srgbClr val="B8C3DC"/>
                </a:solidFill>
                <a:latin typeface="Inter"/>
              </a:rPr>
              <a:t>The step handler checks the relationship.</a:t>
            </a:r>
          </a:p>
        </p:txBody>
      </p:sp>
      <p:sp>
        <p:nvSpPr>
          <p:cNvPr id="26" name="Rounded Rectangle 25"/>
          <p:cNvSpPr/>
          <p:nvPr/>
        </p:nvSpPr>
        <p:spPr>
          <a:xfrm>
            <a:off x="640080" y="3593591"/>
            <a:ext cx="5148072" cy="896112"/>
          </a:xfrm>
          <a:prstGeom prst="roundRect">
            <a:avLst>
              <a:gd name="adj" fmla="val 55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_list-check_8B5CF6.png"/>
          <p:cNvPicPr>
            <a:picLocks noChangeAspect="1"/>
          </p:cNvPicPr>
          <p:nvPr/>
        </p:nvPicPr>
        <p:blipFill>
          <a:blip r:embed="rId4"/>
          <a:stretch>
            <a:fillRect/>
          </a:stretch>
        </p:blipFill>
        <p:spPr>
          <a:xfrm>
            <a:off x="877824" y="3813048"/>
            <a:ext cx="393192" cy="393192"/>
          </a:xfrm>
          <a:prstGeom prst="rect">
            <a:avLst/>
          </a:prstGeom>
          <a:effectLst/>
        </p:spPr>
      </p:pic>
      <p:sp>
        <p:nvSpPr>
          <p:cNvPr id="28" name="S08 Text 27 - Collect the missing information"/>
          <p:cNvSpPr txBox="1"/>
          <p:nvPr/>
        </p:nvSpPr>
        <p:spPr>
          <a:xfrm>
            <a:off x="1517904" y="3712463"/>
            <a:ext cx="3986784" cy="283464"/>
          </a:xfrm>
          <a:prstGeom prst="rect">
            <a:avLst/>
          </a:prstGeom>
          <a:noFill/>
          <a:effectLst/>
        </p:spPr>
        <p:txBody>
          <a:bodyPr wrap="square" lIns="0" rIns="0" tIns="0" bIns="0" anchor="t">
            <a:noAutofit/>
          </a:bodyPr>
          <a:lstStyle/>
          <a:p>
            <a:pPr algn="l">
              <a:lnSpc>
                <a:spcPct val="110000"/>
              </a:lnSpc>
              <a:spcBef>
                <a:spcPts val="0"/>
              </a:spcBef>
              <a:spcAft>
                <a:spcPts val="0"/>
              </a:spcAft>
            </a:pPr>
            <a:r>
              <a:rPr sz="1610" b="1">
                <a:solidFill>
                  <a:srgbClr val="FFFFFF"/>
                </a:solidFill>
                <a:latin typeface="Inter"/>
              </a:rPr>
              <a:t>Collect the missing information</a:t>
            </a:r>
          </a:p>
        </p:txBody>
      </p:sp>
      <p:sp>
        <p:nvSpPr>
          <p:cNvPr id="29" name="S08 Text 28 - Ask the service’s questions. The user confirms or corre"/>
          <p:cNvSpPr txBox="1"/>
          <p:nvPr/>
        </p:nvSpPr>
        <p:spPr>
          <a:xfrm>
            <a:off x="1517904" y="4069079"/>
            <a:ext cx="3968496" cy="365760"/>
          </a:xfrm>
          <a:prstGeom prst="rect">
            <a:avLst/>
          </a:prstGeom>
          <a:noFill/>
          <a:effectLst/>
        </p:spPr>
        <p:txBody>
          <a:bodyPr wrap="square" lIns="0" rIns="0" tIns="0" bIns="0" anchor="t">
            <a:noAutofit/>
          </a:bodyPr>
          <a:lstStyle/>
          <a:p>
            <a:pPr algn="l">
              <a:lnSpc>
                <a:spcPct val="110000"/>
              </a:lnSpc>
              <a:spcBef>
                <a:spcPts val="0"/>
              </a:spcBef>
              <a:spcAft>
                <a:spcPts val="0"/>
              </a:spcAft>
            </a:pPr>
            <a:r>
              <a:rPr sz="1210" b="0">
                <a:solidFill>
                  <a:srgbClr val="B8C3DC"/>
                </a:solidFill>
                <a:latin typeface="Inter"/>
              </a:rPr>
              <a:t>Ask the service’s questions.</a:t>
            </a:r>
          </a:p>
          <a:p>
            <a:pPr algn="l">
              <a:lnSpc>
                <a:spcPct val="110000"/>
              </a:lnSpc>
              <a:spcBef>
                <a:spcPts val="0"/>
              </a:spcBef>
              <a:spcAft>
                <a:spcPts val="0"/>
              </a:spcAft>
            </a:pPr>
            <a:r>
              <a:rPr sz="1210" b="0">
                <a:solidFill>
                  <a:srgbClr val="B8C3DC"/>
                </a:solidFill>
                <a:latin typeface="Inter"/>
              </a:rPr>
              <a:t>The user confirms or corrects answers.</a:t>
            </a:r>
          </a:p>
        </p:txBody>
      </p:sp>
      <p:cxnSp>
        <p:nvCxnSpPr>
          <p:cNvPr id="30" name="Connector 29"/>
          <p:cNvCxnSpPr/>
          <p:nvPr/>
        </p:nvCxnSpPr>
        <p:spPr>
          <a:xfrm>
            <a:off x="5925312" y="4041648"/>
            <a:ext cx="393192" cy="0"/>
          </a:xfrm>
          <a:prstGeom prst="line">
            <a:avLst/>
          </a:prstGeom>
          <a:ln w="24130">
            <a:solidFill>
              <a:srgbClr val="8B5CF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1" name="Rounded Rectangle 30"/>
          <p:cNvSpPr/>
          <p:nvPr/>
        </p:nvSpPr>
        <p:spPr>
          <a:xfrm>
            <a:off x="6501384" y="3593591"/>
            <a:ext cx="5029200" cy="896112"/>
          </a:xfrm>
          <a:prstGeom prst="roundRect">
            <a:avLst>
              <a:gd name="adj" fmla="val 55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S08 Text 31 - Information request"/>
          <p:cNvSpPr txBox="1"/>
          <p:nvPr/>
        </p:nvSpPr>
        <p:spPr>
          <a:xfrm>
            <a:off x="6739128" y="3712463"/>
            <a:ext cx="4553712" cy="283464"/>
          </a:xfrm>
          <a:prstGeom prst="rect">
            <a:avLst/>
          </a:prstGeom>
          <a:noFill/>
          <a:effectLst/>
        </p:spPr>
        <p:txBody>
          <a:bodyPr wrap="square" lIns="0" rIns="0" tIns="0" bIns="0" anchor="t">
            <a:noAutofit/>
          </a:bodyPr>
          <a:lstStyle/>
          <a:p>
            <a:pPr algn="l">
              <a:lnSpc>
                <a:spcPct val="110000"/>
              </a:lnSpc>
              <a:spcBef>
                <a:spcPts val="0"/>
              </a:spcBef>
              <a:spcAft>
                <a:spcPts val="0"/>
              </a:spcAft>
            </a:pPr>
            <a:r>
              <a:rPr sz="1610" b="1">
                <a:solidFill>
                  <a:srgbClr val="8B5CF6"/>
                </a:solidFill>
                <a:latin typeface="Inter"/>
              </a:rPr>
              <a:t>Information request</a:t>
            </a:r>
          </a:p>
        </p:txBody>
      </p:sp>
      <p:sp>
        <p:nvSpPr>
          <p:cNvPr id="33" name="S08 Text 32 - Kaleido checks the answer structure. The business handl"/>
          <p:cNvSpPr txBox="1"/>
          <p:nvPr/>
        </p:nvSpPr>
        <p:spPr>
          <a:xfrm>
            <a:off x="6739128" y="4069079"/>
            <a:ext cx="4553712" cy="365760"/>
          </a:xfrm>
          <a:prstGeom prst="rect">
            <a:avLst/>
          </a:prstGeom>
          <a:noFill/>
          <a:effectLst/>
        </p:spPr>
        <p:txBody>
          <a:bodyPr wrap="square" lIns="0" rIns="0" tIns="0" bIns="0" anchor="t">
            <a:noAutofit/>
          </a:bodyPr>
          <a:lstStyle/>
          <a:p>
            <a:pPr algn="l">
              <a:lnSpc>
                <a:spcPct val="110000"/>
              </a:lnSpc>
              <a:spcBef>
                <a:spcPts val="0"/>
              </a:spcBef>
              <a:spcAft>
                <a:spcPts val="0"/>
              </a:spcAft>
            </a:pPr>
            <a:r>
              <a:rPr sz="1210" b="0">
                <a:solidFill>
                  <a:srgbClr val="B8C3DC"/>
                </a:solidFill>
                <a:latin typeface="Inter"/>
              </a:rPr>
              <a:t>Kaleido checks the answer structure.</a:t>
            </a:r>
          </a:p>
          <a:p>
            <a:pPr algn="l">
              <a:lnSpc>
                <a:spcPct val="110000"/>
              </a:lnSpc>
              <a:spcBef>
                <a:spcPts val="0"/>
              </a:spcBef>
              <a:spcAft>
                <a:spcPts val="0"/>
              </a:spcAft>
            </a:pPr>
            <a:r>
              <a:rPr sz="1210" b="0">
                <a:solidFill>
                  <a:srgbClr val="B8C3DC"/>
                </a:solidFill>
                <a:latin typeface="Inter"/>
              </a:rPr>
              <a:t>The business handler checks its meaning.</a:t>
            </a:r>
          </a:p>
        </p:txBody>
      </p:sp>
      <p:sp>
        <p:nvSpPr>
          <p:cNvPr id="34" name="Rounded Rectangle 33"/>
          <p:cNvSpPr/>
          <p:nvPr/>
        </p:nvSpPr>
        <p:spPr>
          <a:xfrm>
            <a:off x="640080" y="4672583"/>
            <a:ext cx="5148072" cy="896112"/>
          </a:xfrm>
          <a:prstGeom prst="roundRect">
            <a:avLst>
              <a:gd name="adj" fmla="val 55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5" name="Picture 34" descr="icon_paper-plane_19C4A7.png"/>
          <p:cNvPicPr>
            <a:picLocks noChangeAspect="1"/>
          </p:cNvPicPr>
          <p:nvPr/>
        </p:nvPicPr>
        <p:blipFill>
          <a:blip r:embed="rId5"/>
          <a:stretch>
            <a:fillRect/>
          </a:stretch>
        </p:blipFill>
        <p:spPr>
          <a:xfrm>
            <a:off x="877824" y="4892040"/>
            <a:ext cx="393192" cy="393192"/>
          </a:xfrm>
          <a:prstGeom prst="rect">
            <a:avLst/>
          </a:prstGeom>
          <a:effectLst/>
        </p:spPr>
      </p:pic>
      <p:sp>
        <p:nvSpPr>
          <p:cNvPr id="36" name="S08 Text 35 - Review before submission"/>
          <p:cNvSpPr txBox="1"/>
          <p:nvPr/>
        </p:nvSpPr>
        <p:spPr>
          <a:xfrm>
            <a:off x="1517904" y="4791455"/>
            <a:ext cx="3986784" cy="283464"/>
          </a:xfrm>
          <a:prstGeom prst="rect">
            <a:avLst/>
          </a:prstGeom>
          <a:noFill/>
          <a:effectLst/>
        </p:spPr>
        <p:txBody>
          <a:bodyPr wrap="square" lIns="0" rIns="0" tIns="0" bIns="0" anchor="t">
            <a:noAutofit/>
          </a:bodyPr>
          <a:lstStyle/>
          <a:p>
            <a:pPr algn="l">
              <a:lnSpc>
                <a:spcPct val="110000"/>
              </a:lnSpc>
              <a:spcBef>
                <a:spcPts val="0"/>
              </a:spcBef>
              <a:spcAft>
                <a:spcPts val="0"/>
              </a:spcAft>
            </a:pPr>
            <a:r>
              <a:rPr sz="1610" b="1">
                <a:solidFill>
                  <a:srgbClr val="FFFFFF"/>
                </a:solidFill>
                <a:latin typeface="Inter"/>
              </a:rPr>
              <a:t>Review before submission</a:t>
            </a:r>
          </a:p>
        </p:txBody>
      </p:sp>
      <p:sp>
        <p:nvSpPr>
          <p:cNvPr id="37" name="S08 Text 36 - Present the review and attestation. Continue only with "/>
          <p:cNvSpPr txBox="1"/>
          <p:nvPr/>
        </p:nvSpPr>
        <p:spPr>
          <a:xfrm>
            <a:off x="1517904" y="5148071"/>
            <a:ext cx="3968496" cy="365760"/>
          </a:xfrm>
          <a:prstGeom prst="rect">
            <a:avLst/>
          </a:prstGeom>
          <a:noFill/>
          <a:effectLst/>
        </p:spPr>
        <p:txBody>
          <a:bodyPr wrap="square" lIns="0" rIns="0" tIns="0" bIns="0" anchor="t">
            <a:noAutofit/>
          </a:bodyPr>
          <a:lstStyle/>
          <a:p>
            <a:pPr algn="l">
              <a:lnSpc>
                <a:spcPct val="110000"/>
              </a:lnSpc>
              <a:spcBef>
                <a:spcPts val="0"/>
              </a:spcBef>
              <a:spcAft>
                <a:spcPts val="0"/>
              </a:spcAft>
            </a:pPr>
            <a:r>
              <a:rPr sz="1210" b="0">
                <a:solidFill>
                  <a:srgbClr val="B8C3DC"/>
                </a:solidFill>
                <a:latin typeface="Inter"/>
              </a:rPr>
              <a:t>Present the review and attestation.</a:t>
            </a:r>
          </a:p>
          <a:p>
            <a:pPr algn="l">
              <a:lnSpc>
                <a:spcPct val="110000"/>
              </a:lnSpc>
              <a:spcBef>
                <a:spcPts val="0"/>
              </a:spcBef>
              <a:spcAft>
                <a:spcPts val="0"/>
              </a:spcAft>
            </a:pPr>
            <a:r>
              <a:rPr sz="1210" b="0">
                <a:solidFill>
                  <a:srgbClr val="B8C3DC"/>
                </a:solidFill>
                <a:latin typeface="Inter"/>
              </a:rPr>
              <a:t>Continue only with the supplied answer.</a:t>
            </a:r>
          </a:p>
        </p:txBody>
      </p:sp>
      <p:cxnSp>
        <p:nvCxnSpPr>
          <p:cNvPr id="38" name="Connector 37"/>
          <p:cNvCxnSpPr/>
          <p:nvPr/>
        </p:nvCxnSpPr>
        <p:spPr>
          <a:xfrm>
            <a:off x="5925312" y="5120640"/>
            <a:ext cx="393192" cy="0"/>
          </a:xfrm>
          <a:prstGeom prst="line">
            <a:avLst/>
          </a:prstGeom>
          <a:ln w="24130">
            <a:solidFill>
              <a:srgbClr val="19C4A7"/>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Rounded Rectangle 38"/>
          <p:cNvSpPr/>
          <p:nvPr/>
        </p:nvSpPr>
        <p:spPr>
          <a:xfrm>
            <a:off x="6501384" y="4672583"/>
            <a:ext cx="5029200" cy="896112"/>
          </a:xfrm>
          <a:prstGeom prst="roundRect">
            <a:avLst>
              <a:gd name="adj" fmla="val 55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S08 Text 39 - Submission step"/>
          <p:cNvSpPr txBox="1"/>
          <p:nvPr/>
        </p:nvSpPr>
        <p:spPr>
          <a:xfrm>
            <a:off x="6739128" y="4791455"/>
            <a:ext cx="4553712" cy="283464"/>
          </a:xfrm>
          <a:prstGeom prst="rect">
            <a:avLst/>
          </a:prstGeom>
          <a:noFill/>
          <a:effectLst/>
        </p:spPr>
        <p:txBody>
          <a:bodyPr wrap="square" lIns="0" rIns="0" tIns="0" bIns="0" anchor="t">
            <a:noAutofit/>
          </a:bodyPr>
          <a:lstStyle/>
          <a:p>
            <a:pPr algn="l">
              <a:lnSpc>
                <a:spcPct val="110000"/>
              </a:lnSpc>
              <a:spcBef>
                <a:spcPts val="0"/>
              </a:spcBef>
              <a:spcAft>
                <a:spcPts val="0"/>
              </a:spcAft>
            </a:pPr>
            <a:r>
              <a:rPr sz="1610" b="1">
                <a:solidFill>
                  <a:srgbClr val="19C4A7"/>
                </a:solidFill>
                <a:latin typeface="Inter"/>
              </a:rPr>
              <a:t>Submission step</a:t>
            </a:r>
          </a:p>
        </p:txBody>
      </p:sp>
      <p:sp>
        <p:nvSpPr>
          <p:cNvPr id="41" name="S08 Text 40 - The sample checks attestation. Submission is not an app"/>
          <p:cNvSpPr txBox="1"/>
          <p:nvPr/>
        </p:nvSpPr>
        <p:spPr>
          <a:xfrm>
            <a:off x="6739128" y="5148071"/>
            <a:ext cx="4553712" cy="365760"/>
          </a:xfrm>
          <a:prstGeom prst="rect">
            <a:avLst/>
          </a:prstGeom>
          <a:noFill/>
          <a:effectLst/>
        </p:spPr>
        <p:txBody>
          <a:bodyPr wrap="square" lIns="0" rIns="0" tIns="0" bIns="0" anchor="t">
            <a:noAutofit/>
          </a:bodyPr>
          <a:lstStyle/>
          <a:p>
            <a:pPr algn="l">
              <a:lnSpc>
                <a:spcPct val="110000"/>
              </a:lnSpc>
              <a:spcBef>
                <a:spcPts val="0"/>
              </a:spcBef>
              <a:spcAft>
                <a:spcPts val="0"/>
              </a:spcAft>
            </a:pPr>
            <a:r>
              <a:rPr sz="1210" b="0">
                <a:solidFill>
                  <a:srgbClr val="B8C3DC"/>
                </a:solidFill>
                <a:latin typeface="Inter"/>
              </a:rPr>
              <a:t>The sample checks attestation.</a:t>
            </a:r>
          </a:p>
          <a:p>
            <a:pPr algn="l">
              <a:lnSpc>
                <a:spcPct val="110000"/>
              </a:lnSpc>
              <a:spcBef>
                <a:spcPts val="0"/>
              </a:spcBef>
              <a:spcAft>
                <a:spcPts val="0"/>
              </a:spcAft>
            </a:pPr>
            <a:r>
              <a:rPr sz="1210" b="0">
                <a:solidFill>
                  <a:srgbClr val="B8C3DC"/>
                </a:solidFill>
                <a:latin typeface="Inter"/>
              </a:rPr>
              <a:t>Submission is not an approval decision.</a:t>
            </a:r>
          </a:p>
        </p:txBody>
      </p:sp>
      <p:sp>
        <p:nvSpPr>
          <p:cNvPr id="42" name="Rounded Rectangle 41"/>
          <p:cNvSpPr/>
          <p:nvPr/>
        </p:nvSpPr>
        <p:spPr>
          <a:xfrm>
            <a:off x="603504" y="5916168"/>
            <a:ext cx="10972800" cy="347472"/>
          </a:xfrm>
          <a:prstGeom prst="roundRect">
            <a:avLst>
              <a:gd name="adj" fmla="val 7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S08 Text 42 - The interaction changes. The business action and its va"/>
          <p:cNvSpPr txBox="1"/>
          <p:nvPr/>
        </p:nvSpPr>
        <p:spPr>
          <a:xfrm>
            <a:off x="786384" y="5984748"/>
            <a:ext cx="10607040" cy="228600"/>
          </a:xfrm>
          <a:prstGeom prst="rect">
            <a:avLst/>
          </a:prstGeom>
          <a:noFill/>
          <a:effectLst/>
        </p:spPr>
        <p:txBody>
          <a:bodyPr wrap="square" lIns="0" rIns="0" tIns="0" bIns="0" anchor="t">
            <a:noAutofit/>
          </a:bodyPr>
          <a:lstStyle/>
          <a:p>
            <a:pPr algn="ctr">
              <a:lnSpc>
                <a:spcPct val="110000"/>
              </a:lnSpc>
              <a:spcBef>
                <a:spcPts val="0"/>
              </a:spcBef>
              <a:spcAft>
                <a:spcPts val="0"/>
              </a:spcAft>
            </a:pPr>
            <a:r>
              <a:rPr sz="1270" b="1">
                <a:solidFill>
                  <a:srgbClr val="FFFFFF"/>
                </a:solidFill>
                <a:latin typeface="Inter"/>
              </a:rPr>
              <a:t>The interaction changes. The business action and its validation do not.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F"/>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F0ED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EAF7F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09 Text 04 - CONTINUITY ACROSS CONSUMERS"/>
          <p:cNvSpPr txBox="1"/>
          <p:nvPr/>
        </p:nvSpPr>
        <p:spPr>
          <a:xfrm>
            <a:off x="603504" y="393192"/>
            <a:ext cx="9966960"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6257FA"/>
                </a:solidFill>
                <a:latin typeface="Inter"/>
              </a:rPr>
              <a:t>CONTINUITY ACROSS CONSUMERS</a:t>
            </a:r>
          </a:p>
        </p:txBody>
      </p:sp>
      <p:sp>
        <p:nvSpPr>
          <p:cNvPr id="6" name="S09 Text 05 - The process should outlive the conversation."/>
          <p:cNvSpPr txBox="1"/>
          <p:nvPr/>
        </p:nvSpPr>
        <p:spPr>
          <a:xfrm>
            <a:off x="603504" y="832104"/>
            <a:ext cx="10972800"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2900" b="1">
                <a:solidFill>
                  <a:srgbClr val="111827"/>
                </a:solidFill>
                <a:latin typeface="Inter"/>
              </a:rPr>
              <a:t>The process should outlive the conversation.</a:t>
            </a:r>
          </a:p>
        </p:txBody>
      </p:sp>
      <p:sp>
        <p:nvSpPr>
          <p:cNvPr id="7" name="S09 Text 06 - A conversation is an interface. The process has its own"/>
          <p:cNvSpPr txBox="1"/>
          <p:nvPr/>
        </p:nvSpPr>
        <p:spPr>
          <a:xfrm>
            <a:off x="603504" y="1472184"/>
            <a:ext cx="10936224" cy="448056"/>
          </a:xfrm>
          <a:prstGeom prst="rect">
            <a:avLst/>
          </a:prstGeom>
          <a:noFill/>
          <a:effectLst/>
        </p:spPr>
        <p:txBody>
          <a:bodyPr wrap="square" lIns="0" rIns="0" tIns="0" bIns="0" anchor="t">
            <a:noAutofit/>
          </a:bodyPr>
          <a:lstStyle/>
          <a:p>
            <a:pPr algn="l">
              <a:lnSpc>
                <a:spcPct val="110000"/>
              </a:lnSpc>
              <a:spcBef>
                <a:spcPts val="0"/>
              </a:spcBef>
              <a:spcAft>
                <a:spcPts val="0"/>
              </a:spcAft>
            </a:pPr>
            <a:r>
              <a:rPr sz="1420" b="0">
                <a:solidFill>
                  <a:srgbClr val="5F6B82"/>
                </a:solidFill>
                <a:latin typeface="Inter"/>
              </a:rPr>
              <a:t>A conversation is an interface. The process has its own identity, recorded state, and continuation contract.</a:t>
            </a:r>
          </a:p>
        </p:txBody>
      </p:sp>
      <p:cxnSp>
        <p:nvCxnSpPr>
          <p:cNvPr id="8" name="Connector 7"/>
          <p:cNvCxnSpPr/>
          <p:nvPr/>
        </p:nvCxnSpPr>
        <p:spPr>
          <a:xfrm>
            <a:off x="603504" y="6492240"/>
            <a:ext cx="10981944" cy="0"/>
          </a:xfrm>
          <a:prstGeom prst="line">
            <a:avLst/>
          </a:prstGeom>
          <a:ln w="8255">
            <a:solidFill>
              <a:srgbClr val="DDE3EF"/>
            </a:solidFill>
          </a:ln>
          <a:effectLst/>
        </p:spPr>
        <p:style>
          <a:lnRef idx="2">
            <a:schemeClr val="accent1"/>
          </a:lnRef>
          <a:fillRef idx="0">
            <a:schemeClr val="accent1"/>
          </a:fillRef>
          <a:effectRef idx="0">
            <a:schemeClr val="accent1"/>
          </a:effectRef>
          <a:fontRef idx="minor">
            <a:schemeClr val="tx1"/>
          </a:fontRef>
        </p:style>
      </p:cxnSp>
      <p:pic>
        <p:nvPicPr>
          <p:cNvPr id="9" name="Picture 8" descr="image-4-11.png"/>
          <p:cNvPicPr>
            <a:picLocks noChangeAspect="1"/>
          </p:cNvPicPr>
          <p:nvPr/>
        </p:nvPicPr>
        <p:blipFill>
          <a:blip r:embed="rId2"/>
          <a:stretch>
            <a:fillRect/>
          </a:stretch>
        </p:blipFill>
        <p:spPr>
          <a:xfrm>
            <a:off x="621792" y="6583680"/>
            <a:ext cx="164592" cy="164592"/>
          </a:xfrm>
          <a:prstGeom prst="rect">
            <a:avLst/>
          </a:prstGeom>
          <a:effectLst/>
        </p:spPr>
      </p:pic>
      <p:sp>
        <p:nvSpPr>
          <p:cNvPr id="10" name="S09 Text 09 - Kaleido  |  AI-native executive overview"/>
          <p:cNvSpPr txBox="1"/>
          <p:nvPr/>
        </p:nvSpPr>
        <p:spPr>
          <a:xfrm>
            <a:off x="877824" y="6574536"/>
            <a:ext cx="4572000" cy="173736"/>
          </a:xfrm>
          <a:prstGeom prst="rect">
            <a:avLst/>
          </a:prstGeom>
          <a:noFill/>
          <a:effectLst/>
        </p:spPr>
        <p:txBody>
          <a:bodyPr wrap="square" lIns="0" rIns="0" tIns="0" bIns="0" anchor="t">
            <a:noAutofit/>
          </a:bodyPr>
          <a:lstStyle/>
          <a:p>
            <a:pPr algn="l">
              <a:lnSpc>
                <a:spcPct val="110000"/>
              </a:lnSpc>
              <a:spcBef>
                <a:spcPts val="0"/>
              </a:spcBef>
              <a:spcAft>
                <a:spcPts val="0"/>
              </a:spcAft>
            </a:pPr>
            <a:r>
              <a:rPr sz="830" b="0">
                <a:solidFill>
                  <a:srgbClr val="5F6B82"/>
                </a:solidFill>
                <a:latin typeface="Inter"/>
              </a:rPr>
              <a:t>Kaleido  |  AI-native executive overview</a:t>
            </a:r>
          </a:p>
        </p:txBody>
      </p:sp>
      <p:sp>
        <p:nvSpPr>
          <p:cNvPr id="11" name="S09 Text 10 - PRE-1.0 PROJECT PREVIEW"/>
          <p:cNvSpPr txBox="1"/>
          <p:nvPr/>
        </p:nvSpPr>
        <p:spPr>
          <a:xfrm>
            <a:off x="8723376" y="6574536"/>
            <a:ext cx="249631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00" b="0">
                <a:solidFill>
                  <a:srgbClr val="5F6B82"/>
                </a:solidFill>
                <a:latin typeface="Inter"/>
              </a:rPr>
              <a:t>PRE-1.0 PROJECT PREVIEW</a:t>
            </a:r>
          </a:p>
        </p:txBody>
      </p:sp>
      <p:sp>
        <p:nvSpPr>
          <p:cNvPr id="12" name="S09 Text 11 - 09"/>
          <p:cNvSpPr txBox="1"/>
          <p:nvPr/>
        </p:nvSpPr>
        <p:spPr>
          <a:xfrm>
            <a:off x="11274552" y="6574536"/>
            <a:ext cx="30175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30" b="0">
                <a:solidFill>
                  <a:srgbClr val="5F6B82"/>
                </a:solidFill>
                <a:latin typeface="Inter"/>
              </a:rPr>
              <a:t>09</a:t>
            </a:r>
          </a:p>
        </p:txBody>
      </p:sp>
      <p:sp>
        <p:nvSpPr>
          <p:cNvPr id="13" name="S09 Text 12 - Supported architectural pattern, not proof of a live ha"/>
          <p:cNvSpPr txBox="1"/>
          <p:nvPr/>
        </p:nvSpPr>
        <p:spPr>
          <a:xfrm>
            <a:off x="621792" y="6263640"/>
            <a:ext cx="10881360" cy="164592"/>
          </a:xfrm>
          <a:prstGeom prst="rect">
            <a:avLst/>
          </a:prstGeom>
          <a:noFill/>
          <a:effectLst/>
        </p:spPr>
        <p:txBody>
          <a:bodyPr wrap="square" lIns="0" rIns="0" tIns="0" bIns="0" anchor="t">
            <a:noAutofit/>
          </a:bodyPr>
          <a:lstStyle/>
          <a:p>
            <a:pPr algn="l">
              <a:lnSpc>
                <a:spcPct val="110000"/>
              </a:lnSpc>
              <a:spcBef>
                <a:spcPts val="0"/>
              </a:spcBef>
              <a:spcAft>
                <a:spcPts val="0"/>
              </a:spcAft>
            </a:pPr>
            <a:r>
              <a:rPr sz="850" b="0">
                <a:solidFill>
                  <a:srgbClr val="5F6B82"/>
                </a:solidFill>
                <a:latin typeface="Inter"/>
              </a:rPr>
              <a:t>Supported architectural pattern, not proof of a live handoff. Durable storage, identity, and access control are deployment responsibilities.</a:t>
            </a:r>
          </a:p>
        </p:txBody>
      </p:sp>
      <p:sp>
        <p:nvSpPr>
          <p:cNvPr id="14" name="Oval 13"/>
          <p:cNvSpPr/>
          <p:nvPr/>
        </p:nvSpPr>
        <p:spPr>
          <a:xfrm>
            <a:off x="1645920" y="2194560"/>
            <a:ext cx="777240" cy="777240"/>
          </a:xfrm>
          <a:prstGeom prst="ellipse">
            <a:avLst/>
          </a:prstGeom>
          <a:solidFill>
            <a:srgbClr val="B64F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_robot_FFFFFF.png"/>
          <p:cNvPicPr>
            <a:picLocks noChangeAspect="1"/>
          </p:cNvPicPr>
          <p:nvPr/>
        </p:nvPicPr>
        <p:blipFill>
          <a:blip r:embed="rId3"/>
          <a:stretch>
            <a:fillRect/>
          </a:stretch>
        </p:blipFill>
        <p:spPr>
          <a:xfrm>
            <a:off x="1832457" y="2381097"/>
            <a:ext cx="404164" cy="404164"/>
          </a:xfrm>
          <a:prstGeom prst="rect">
            <a:avLst/>
          </a:prstGeom>
          <a:effectLst/>
        </p:spPr>
      </p:pic>
      <p:sp>
        <p:nvSpPr>
          <p:cNvPr id="16" name="S09 Text 15 - AI-assisted start"/>
          <p:cNvSpPr txBox="1"/>
          <p:nvPr/>
        </p:nvSpPr>
        <p:spPr>
          <a:xfrm>
            <a:off x="1014984" y="3218688"/>
            <a:ext cx="2048256" cy="484632"/>
          </a:xfrm>
          <a:prstGeom prst="rect">
            <a:avLst/>
          </a:prstGeom>
          <a:noFill/>
          <a:effectLst/>
        </p:spPr>
        <p:txBody>
          <a:bodyPr wrap="square" lIns="0" rIns="0" tIns="0" bIns="0" anchor="t">
            <a:noAutofit/>
          </a:bodyPr>
          <a:lstStyle/>
          <a:p>
            <a:pPr algn="ctr">
              <a:lnSpc>
                <a:spcPct val="110000"/>
              </a:lnSpc>
              <a:spcBef>
                <a:spcPts val="0"/>
              </a:spcBef>
              <a:spcAft>
                <a:spcPts val="0"/>
              </a:spcAft>
            </a:pPr>
            <a:r>
              <a:rPr sz="1720" b="1">
                <a:solidFill>
                  <a:srgbClr val="111827"/>
                </a:solidFill>
                <a:latin typeface="Inter"/>
              </a:rPr>
              <a:t>AI-assisted start</a:t>
            </a:r>
          </a:p>
        </p:txBody>
      </p:sp>
      <p:cxnSp>
        <p:nvCxnSpPr>
          <p:cNvPr id="17" name="Connector 16"/>
          <p:cNvCxnSpPr/>
          <p:nvPr/>
        </p:nvCxnSpPr>
        <p:spPr>
          <a:xfrm>
            <a:off x="2039112" y="3785615"/>
            <a:ext cx="0" cy="557785"/>
          </a:xfrm>
          <a:prstGeom prst="line">
            <a:avLst/>
          </a:prstGeom>
          <a:ln w="22860">
            <a:solidFill>
              <a:srgbClr val="B64FD9"/>
            </a:solidFill>
          </a:ln>
          <a:effectLst/>
        </p:spPr>
        <p:style>
          <a:lnRef idx="2">
            <a:schemeClr val="accent1"/>
          </a:lnRef>
          <a:fillRef idx="0">
            <a:schemeClr val="accent1"/>
          </a:fillRef>
          <a:effectRef idx="0">
            <a:schemeClr val="accent1"/>
          </a:effectRef>
          <a:fontRef idx="minor">
            <a:schemeClr val="tx1"/>
          </a:fontRef>
        </p:style>
      </p:cxnSp>
      <p:sp>
        <p:nvSpPr>
          <p:cNvPr id="18" name="Oval 17"/>
          <p:cNvSpPr/>
          <p:nvPr/>
        </p:nvSpPr>
        <p:spPr>
          <a:xfrm>
            <a:off x="5550408" y="2194560"/>
            <a:ext cx="777240" cy="777240"/>
          </a:xfrm>
          <a:prstGeom prst="ellipse">
            <a:avLst/>
          </a:prstGeom>
          <a:solidFill>
            <a:srgbClr val="3182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9" name="Picture 18" descr="icon_laptop-code_FFFFFF.png"/>
          <p:cNvPicPr>
            <a:picLocks noChangeAspect="1"/>
          </p:cNvPicPr>
          <p:nvPr/>
        </p:nvPicPr>
        <p:blipFill>
          <a:blip r:embed="rId4"/>
          <a:stretch>
            <a:fillRect/>
          </a:stretch>
        </p:blipFill>
        <p:spPr>
          <a:xfrm>
            <a:off x="5736945" y="2381097"/>
            <a:ext cx="404164" cy="404164"/>
          </a:xfrm>
          <a:prstGeom prst="rect">
            <a:avLst/>
          </a:prstGeom>
          <a:effectLst/>
        </p:spPr>
      </p:pic>
      <p:sp>
        <p:nvSpPr>
          <p:cNvPr id="20" name="S09 Text 19 - Web continuation"/>
          <p:cNvSpPr txBox="1"/>
          <p:nvPr/>
        </p:nvSpPr>
        <p:spPr>
          <a:xfrm>
            <a:off x="4919472" y="3218688"/>
            <a:ext cx="2048256" cy="484632"/>
          </a:xfrm>
          <a:prstGeom prst="rect">
            <a:avLst/>
          </a:prstGeom>
          <a:noFill/>
          <a:effectLst/>
        </p:spPr>
        <p:txBody>
          <a:bodyPr wrap="square" lIns="0" rIns="0" tIns="0" bIns="0" anchor="t">
            <a:noAutofit/>
          </a:bodyPr>
          <a:lstStyle/>
          <a:p>
            <a:pPr algn="ctr">
              <a:lnSpc>
                <a:spcPct val="110000"/>
              </a:lnSpc>
              <a:spcBef>
                <a:spcPts val="0"/>
              </a:spcBef>
              <a:spcAft>
                <a:spcPts val="0"/>
              </a:spcAft>
            </a:pPr>
            <a:r>
              <a:rPr sz="1720" b="1">
                <a:solidFill>
                  <a:srgbClr val="111827"/>
                </a:solidFill>
                <a:latin typeface="Inter"/>
              </a:rPr>
              <a:t>Web continuation</a:t>
            </a:r>
          </a:p>
        </p:txBody>
      </p:sp>
      <p:cxnSp>
        <p:nvCxnSpPr>
          <p:cNvPr id="21" name="Connector 20"/>
          <p:cNvCxnSpPr/>
          <p:nvPr/>
        </p:nvCxnSpPr>
        <p:spPr>
          <a:xfrm>
            <a:off x="5943600" y="3785615"/>
            <a:ext cx="0" cy="557785"/>
          </a:xfrm>
          <a:prstGeom prst="line">
            <a:avLst/>
          </a:prstGeom>
          <a:ln w="22860">
            <a:solidFill>
              <a:srgbClr val="3182F6"/>
            </a:solidFill>
          </a:ln>
          <a:effectLst/>
        </p:spPr>
        <p:style>
          <a:lnRef idx="2">
            <a:schemeClr val="accent1"/>
          </a:lnRef>
          <a:fillRef idx="0">
            <a:schemeClr val="accent1"/>
          </a:fillRef>
          <a:effectRef idx="0">
            <a:schemeClr val="accent1"/>
          </a:effectRef>
          <a:fontRef idx="minor">
            <a:schemeClr val="tx1"/>
          </a:fontRef>
        </p:style>
      </p:cxnSp>
      <p:sp>
        <p:nvSpPr>
          <p:cNvPr id="22" name="Oval 21"/>
          <p:cNvSpPr/>
          <p:nvPr/>
        </p:nvSpPr>
        <p:spPr>
          <a:xfrm>
            <a:off x="9454896" y="2194560"/>
            <a:ext cx="777240" cy="777240"/>
          </a:xfrm>
          <a:prstGeom prst="ellipse">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icon_headset_FFFFFF.png"/>
          <p:cNvPicPr>
            <a:picLocks noChangeAspect="1"/>
          </p:cNvPicPr>
          <p:nvPr/>
        </p:nvPicPr>
        <p:blipFill>
          <a:blip r:embed="rId5"/>
          <a:stretch>
            <a:fillRect/>
          </a:stretch>
        </p:blipFill>
        <p:spPr>
          <a:xfrm>
            <a:off x="9641433" y="2381097"/>
            <a:ext cx="404164" cy="404164"/>
          </a:xfrm>
          <a:prstGeom prst="rect">
            <a:avLst/>
          </a:prstGeom>
          <a:effectLst/>
        </p:spPr>
      </p:pic>
      <p:sp>
        <p:nvSpPr>
          <p:cNvPr id="24" name="S09 Text 23 - Human assistance"/>
          <p:cNvSpPr txBox="1"/>
          <p:nvPr/>
        </p:nvSpPr>
        <p:spPr>
          <a:xfrm>
            <a:off x="8823960" y="3218688"/>
            <a:ext cx="2048256" cy="484632"/>
          </a:xfrm>
          <a:prstGeom prst="rect">
            <a:avLst/>
          </a:prstGeom>
          <a:noFill/>
          <a:effectLst/>
        </p:spPr>
        <p:txBody>
          <a:bodyPr wrap="square" lIns="0" rIns="0" tIns="0" bIns="0" anchor="t">
            <a:noAutofit/>
          </a:bodyPr>
          <a:lstStyle/>
          <a:p>
            <a:pPr algn="ctr">
              <a:lnSpc>
                <a:spcPct val="110000"/>
              </a:lnSpc>
              <a:spcBef>
                <a:spcPts val="0"/>
              </a:spcBef>
              <a:spcAft>
                <a:spcPts val="0"/>
              </a:spcAft>
            </a:pPr>
            <a:r>
              <a:rPr sz="1720" b="1">
                <a:solidFill>
                  <a:srgbClr val="111827"/>
                </a:solidFill>
                <a:latin typeface="Inter"/>
              </a:rPr>
              <a:t>Human assistance</a:t>
            </a:r>
          </a:p>
        </p:txBody>
      </p:sp>
      <p:cxnSp>
        <p:nvCxnSpPr>
          <p:cNvPr id="25" name="Connector 24"/>
          <p:cNvCxnSpPr/>
          <p:nvPr/>
        </p:nvCxnSpPr>
        <p:spPr>
          <a:xfrm>
            <a:off x="9848088" y="3785615"/>
            <a:ext cx="0" cy="557785"/>
          </a:xfrm>
          <a:prstGeom prst="line">
            <a:avLst/>
          </a:prstGeom>
          <a:ln w="22860">
            <a:solidFill>
              <a:srgbClr val="21B6D7"/>
            </a:solidFill>
          </a:ln>
          <a:effectLst/>
        </p:spPr>
        <p:style>
          <a:lnRef idx="2">
            <a:schemeClr val="accent1"/>
          </a:lnRef>
          <a:fillRef idx="0">
            <a:schemeClr val="accent1"/>
          </a:fillRef>
          <a:effectRef idx="0">
            <a:schemeClr val="accent1"/>
          </a:effectRef>
          <a:fontRef idx="minor">
            <a:schemeClr val="tx1"/>
          </a:fontRef>
        </p:style>
      </p:cxnSp>
      <p:sp>
        <p:nvSpPr>
          <p:cNvPr id="26" name="Rounded Rectangle 25"/>
          <p:cNvSpPr/>
          <p:nvPr/>
        </p:nvSpPr>
        <p:spPr>
          <a:xfrm>
            <a:off x="832104" y="4343400"/>
            <a:ext cx="10515600" cy="923544"/>
          </a:xfrm>
          <a:prstGeom prst="roundRect">
            <a:avLst>
              <a:gd name="adj" fmla="val 4000"/>
            </a:avLst>
          </a:prstGeom>
          <a:solidFill>
            <a:srgbClr val="080C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mage-4-11.png"/>
          <p:cNvPicPr>
            <a:picLocks noChangeAspect="1"/>
          </p:cNvPicPr>
          <p:nvPr/>
        </p:nvPicPr>
        <p:blipFill>
          <a:blip r:embed="rId2"/>
          <a:stretch>
            <a:fillRect/>
          </a:stretch>
        </p:blipFill>
        <p:spPr>
          <a:xfrm>
            <a:off x="1060704" y="4480560"/>
            <a:ext cx="521207" cy="521207"/>
          </a:xfrm>
          <a:prstGeom prst="rect">
            <a:avLst/>
          </a:prstGeom>
          <a:effectLst/>
        </p:spPr>
      </p:pic>
      <p:sp>
        <p:nvSpPr>
          <p:cNvPr id="28" name="S09 Text 27 - ONE PROCESS ID"/>
          <p:cNvSpPr txBox="1"/>
          <p:nvPr/>
        </p:nvSpPr>
        <p:spPr>
          <a:xfrm>
            <a:off x="1856231" y="4507992"/>
            <a:ext cx="2926080" cy="265176"/>
          </a:xfrm>
          <a:prstGeom prst="rect">
            <a:avLst/>
          </a:prstGeom>
          <a:noFill/>
          <a:effectLst/>
        </p:spPr>
        <p:txBody>
          <a:bodyPr wrap="square" lIns="0" rIns="0" tIns="0" bIns="0" anchor="t">
            <a:noAutofit/>
          </a:bodyPr>
          <a:lstStyle/>
          <a:p>
            <a:pPr algn="l">
              <a:lnSpc>
                <a:spcPct val="110000"/>
              </a:lnSpc>
              <a:spcBef>
                <a:spcPts val="0"/>
              </a:spcBef>
              <a:spcAft>
                <a:spcPts val="0"/>
              </a:spcAft>
            </a:pPr>
            <a:r>
              <a:rPr sz="1600" b="1">
                <a:solidFill>
                  <a:srgbClr val="FFFFFF"/>
                </a:solidFill>
                <a:latin typeface="Inter"/>
              </a:rPr>
              <a:t>ONE PROCESS ID</a:t>
            </a:r>
          </a:p>
        </p:txBody>
      </p:sp>
      <p:sp>
        <p:nvSpPr>
          <p:cNvPr id="29" name="S09 Text 28 - Recorded state   +   pending questions   +   next allow"/>
          <p:cNvSpPr txBox="1"/>
          <p:nvPr/>
        </p:nvSpPr>
        <p:spPr>
          <a:xfrm>
            <a:off x="1856231" y="4901184"/>
            <a:ext cx="9061704" cy="219456"/>
          </a:xfrm>
          <a:prstGeom prst="rect">
            <a:avLst/>
          </a:prstGeom>
          <a:noFill/>
          <a:effectLst/>
        </p:spPr>
        <p:txBody>
          <a:bodyPr wrap="square" lIns="0" rIns="0" tIns="0" bIns="0" anchor="t">
            <a:noAutofit/>
          </a:bodyPr>
          <a:lstStyle/>
          <a:p>
            <a:pPr algn="l">
              <a:lnSpc>
                <a:spcPct val="110000"/>
              </a:lnSpc>
              <a:spcBef>
                <a:spcPts val="0"/>
              </a:spcBef>
              <a:spcAft>
                <a:spcPts val="0"/>
              </a:spcAft>
            </a:pPr>
            <a:r>
              <a:rPr sz="1370" b="0">
                <a:solidFill>
                  <a:srgbClr val="B8C3DC"/>
                </a:solidFill>
                <a:latin typeface="Inter"/>
              </a:rPr>
              <a:t>Recorded state   +   pending questions   +   next allowed steps</a:t>
            </a:r>
          </a:p>
        </p:txBody>
      </p:sp>
      <p:cxnSp>
        <p:nvCxnSpPr>
          <p:cNvPr id="30" name="Connector 29"/>
          <p:cNvCxnSpPr/>
          <p:nvPr/>
        </p:nvCxnSpPr>
        <p:spPr>
          <a:xfrm>
            <a:off x="2039112" y="4197096"/>
            <a:ext cx="7808976" cy="0"/>
          </a:xfrm>
          <a:prstGeom prst="line">
            <a:avLst/>
          </a:prstGeom>
          <a:ln w="13970">
            <a:solidFill>
              <a:srgbClr val="DDE3EF"/>
            </a:solidFill>
          </a:ln>
          <a:effectLst/>
        </p:spPr>
        <p:style>
          <a:lnRef idx="2">
            <a:schemeClr val="accent1"/>
          </a:lnRef>
          <a:fillRef idx="0">
            <a:schemeClr val="accent1"/>
          </a:fillRef>
          <a:effectRef idx="0">
            <a:schemeClr val="accent1"/>
          </a:effectRef>
          <a:fontRef idx="minor">
            <a:schemeClr val="tx1"/>
          </a:fontRef>
        </p:style>
      </p:cxnSp>
      <p:sp>
        <p:nvSpPr>
          <p:cNvPr id="31" name="S09 Text 30 - The next consumer reloads the process state—not just th"/>
          <p:cNvSpPr txBox="1"/>
          <p:nvPr/>
        </p:nvSpPr>
        <p:spPr>
          <a:xfrm>
            <a:off x="923544" y="5632704"/>
            <a:ext cx="10332720" cy="411480"/>
          </a:xfrm>
          <a:prstGeom prst="rect">
            <a:avLst/>
          </a:prstGeom>
          <a:noFill/>
          <a:effectLst/>
        </p:spPr>
        <p:txBody>
          <a:bodyPr wrap="square" lIns="0" rIns="0" tIns="0" bIns="0" anchor="t">
            <a:noAutofit/>
          </a:bodyPr>
          <a:lstStyle/>
          <a:p>
            <a:pPr algn="ctr">
              <a:lnSpc>
                <a:spcPct val="110000"/>
              </a:lnSpc>
              <a:spcBef>
                <a:spcPts val="0"/>
              </a:spcBef>
              <a:spcAft>
                <a:spcPts val="0"/>
              </a:spcAft>
            </a:pPr>
            <a:r>
              <a:rPr sz="1810" b="1">
                <a:solidFill>
                  <a:srgbClr val="111827"/>
                </a:solidFill>
                <a:latin typeface="Inter"/>
              </a:rPr>
              <a:t>The next consumer reloads the process state—not just the previous chat history.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C1E"/>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1513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0B203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10 Text 04 - ADOPTION PATHS"/>
          <p:cNvSpPr txBox="1"/>
          <p:nvPr/>
        </p:nvSpPr>
        <p:spPr>
          <a:xfrm>
            <a:off x="603504" y="393192"/>
            <a:ext cx="9966960"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B8C3DC"/>
                </a:solidFill>
                <a:latin typeface="Inter"/>
              </a:rPr>
              <a:t>ADOPTION PATHS</a:t>
            </a:r>
          </a:p>
        </p:txBody>
      </p:sp>
      <p:sp>
        <p:nvSpPr>
          <p:cNvPr id="6" name="S10 Text 05 - AI strengthens the platforms already in place."/>
          <p:cNvSpPr txBox="1"/>
          <p:nvPr/>
        </p:nvSpPr>
        <p:spPr>
          <a:xfrm>
            <a:off x="603504" y="832104"/>
            <a:ext cx="10972800"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2900" b="1">
                <a:solidFill>
                  <a:srgbClr val="FFFFFF"/>
                </a:solidFill>
                <a:latin typeface="Inter"/>
              </a:rPr>
              <a:t>AI strengthens the platforms already in place.</a:t>
            </a:r>
          </a:p>
        </p:txBody>
      </p:sp>
      <p:sp>
        <p:nvSpPr>
          <p:cNvPr id="7" name="S10 Text 06 - Keep orchestration, channels, and standards at their bo"/>
          <p:cNvSpPr txBox="1"/>
          <p:nvPr/>
        </p:nvSpPr>
        <p:spPr>
          <a:xfrm>
            <a:off x="603504" y="1472184"/>
            <a:ext cx="10936224" cy="448056"/>
          </a:xfrm>
          <a:prstGeom prst="rect">
            <a:avLst/>
          </a:prstGeom>
          <a:noFill/>
          <a:effectLst/>
        </p:spPr>
        <p:txBody>
          <a:bodyPr wrap="square" lIns="0" rIns="0" tIns="0" bIns="0" anchor="t">
            <a:noAutofit/>
          </a:bodyPr>
          <a:lstStyle/>
          <a:p>
            <a:pPr algn="l">
              <a:lnSpc>
                <a:spcPct val="110000"/>
              </a:lnSpc>
              <a:spcBef>
                <a:spcPts val="0"/>
              </a:spcBef>
              <a:spcAft>
                <a:spcPts val="0"/>
              </a:spcAft>
            </a:pPr>
            <a:r>
              <a:rPr sz="1420" b="0">
                <a:solidFill>
                  <a:srgbClr val="B8C3DC"/>
                </a:solidFill>
                <a:latin typeface="Inter"/>
              </a:rPr>
              <a:t>Keep orchestration, channels, and standards at their boundaries. Reuse the business capabilities underneath.</a:t>
            </a:r>
          </a:p>
        </p:txBody>
      </p:sp>
      <p:cxnSp>
        <p:nvCxnSpPr>
          <p:cNvPr id="8" name="Connector 7"/>
          <p:cNvCxnSpPr/>
          <p:nvPr/>
        </p:nvCxnSpPr>
        <p:spPr>
          <a:xfrm>
            <a:off x="603504" y="6492240"/>
            <a:ext cx="10981944" cy="0"/>
          </a:xfrm>
          <a:prstGeom prst="line">
            <a:avLst/>
          </a:prstGeom>
          <a:ln w="8255">
            <a:solidFill>
              <a:srgbClr val="29334F"/>
            </a:solidFill>
          </a:ln>
          <a:effectLst/>
        </p:spPr>
        <p:style>
          <a:lnRef idx="2">
            <a:schemeClr val="accent1"/>
          </a:lnRef>
          <a:fillRef idx="0">
            <a:schemeClr val="accent1"/>
          </a:fillRef>
          <a:effectRef idx="0">
            <a:schemeClr val="accent1"/>
          </a:effectRef>
          <a:fontRef idx="minor">
            <a:schemeClr val="tx1"/>
          </a:fontRef>
        </p:style>
      </p:cxnSp>
      <p:pic>
        <p:nvPicPr>
          <p:cNvPr id="9" name="Picture 8" descr="image-2-12.png"/>
          <p:cNvPicPr>
            <a:picLocks noChangeAspect="1"/>
          </p:cNvPicPr>
          <p:nvPr/>
        </p:nvPicPr>
        <p:blipFill>
          <a:blip r:embed="rId2"/>
          <a:stretch>
            <a:fillRect/>
          </a:stretch>
        </p:blipFill>
        <p:spPr>
          <a:xfrm>
            <a:off x="621792" y="6583680"/>
            <a:ext cx="164592" cy="190665"/>
          </a:xfrm>
          <a:prstGeom prst="rect">
            <a:avLst/>
          </a:prstGeom>
          <a:effectLst/>
        </p:spPr>
      </p:pic>
      <p:sp>
        <p:nvSpPr>
          <p:cNvPr id="10" name="S10 Text 09 - Kaleido  |  AI-native executive overview"/>
          <p:cNvSpPr txBox="1"/>
          <p:nvPr/>
        </p:nvSpPr>
        <p:spPr>
          <a:xfrm>
            <a:off x="877824" y="6574536"/>
            <a:ext cx="4572000" cy="173736"/>
          </a:xfrm>
          <a:prstGeom prst="rect">
            <a:avLst/>
          </a:prstGeom>
          <a:noFill/>
          <a:effectLst/>
        </p:spPr>
        <p:txBody>
          <a:bodyPr wrap="square" lIns="0" rIns="0" tIns="0" bIns="0" anchor="t">
            <a:noAutofit/>
          </a:bodyPr>
          <a:lstStyle/>
          <a:p>
            <a:pPr algn="l">
              <a:lnSpc>
                <a:spcPct val="110000"/>
              </a:lnSpc>
              <a:spcBef>
                <a:spcPts val="0"/>
              </a:spcBef>
              <a:spcAft>
                <a:spcPts val="0"/>
              </a:spcAft>
            </a:pPr>
            <a:r>
              <a:rPr sz="830" b="0">
                <a:solidFill>
                  <a:srgbClr val="B8C3DC"/>
                </a:solidFill>
                <a:latin typeface="Inter"/>
              </a:rPr>
              <a:t>Kaleido  |  AI-native executive overview</a:t>
            </a:r>
          </a:p>
        </p:txBody>
      </p:sp>
      <p:sp>
        <p:nvSpPr>
          <p:cNvPr id="11" name="S10 Text 10 - PRE-1.0 PROJECT PREVIEW"/>
          <p:cNvSpPr txBox="1"/>
          <p:nvPr/>
        </p:nvSpPr>
        <p:spPr>
          <a:xfrm>
            <a:off x="8723376" y="6574536"/>
            <a:ext cx="249631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00" b="0">
                <a:solidFill>
                  <a:srgbClr val="B8C3DC"/>
                </a:solidFill>
                <a:latin typeface="Inter"/>
              </a:rPr>
              <a:t>PRE-1.0 PROJECT PREVIEW</a:t>
            </a:r>
          </a:p>
        </p:txBody>
      </p:sp>
      <p:sp>
        <p:nvSpPr>
          <p:cNvPr id="12" name="S10 Text 11 - 10"/>
          <p:cNvSpPr txBox="1"/>
          <p:nvPr/>
        </p:nvSpPr>
        <p:spPr>
          <a:xfrm>
            <a:off x="11274552" y="6574536"/>
            <a:ext cx="30175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30" b="0">
                <a:solidFill>
                  <a:srgbClr val="B8C3DC"/>
                </a:solidFill>
                <a:latin typeface="Inter"/>
              </a:rPr>
              <a:t>10</a:t>
            </a:r>
          </a:p>
        </p:txBody>
      </p:sp>
      <p:sp>
        <p:nvSpPr>
          <p:cNvPr id="13" name="S10 Text 12 - Examples of intended integration fit from the original "/>
          <p:cNvSpPr txBox="1"/>
          <p:nvPr/>
        </p:nvSpPr>
        <p:spPr>
          <a:xfrm>
            <a:off x="621792" y="6263640"/>
            <a:ext cx="10881360" cy="164592"/>
          </a:xfrm>
          <a:prstGeom prst="rect">
            <a:avLst/>
          </a:prstGeom>
          <a:noFill/>
          <a:effectLst/>
        </p:spPr>
        <p:txBody>
          <a:bodyPr wrap="square" lIns="0" rIns="0" tIns="0" bIns="0" anchor="t">
            <a:noAutofit/>
          </a:bodyPr>
          <a:lstStyle/>
          <a:p>
            <a:pPr algn="l">
              <a:lnSpc>
                <a:spcPct val="110000"/>
              </a:lnSpc>
              <a:spcBef>
                <a:spcPts val="0"/>
              </a:spcBef>
              <a:spcAft>
                <a:spcPts val="0"/>
              </a:spcAft>
            </a:pPr>
            <a:r>
              <a:rPr sz="850" b="0">
                <a:solidFill>
                  <a:srgbClr val="B8C3DC"/>
                </a:solidFill>
                <a:latin typeface="Inter"/>
              </a:rPr>
              <a:t>Examples of intended integration fit from the original deck; no native Pega connector or Da Vinci conformance claim.</a:t>
            </a:r>
          </a:p>
        </p:txBody>
      </p:sp>
      <p:sp>
        <p:nvSpPr>
          <p:cNvPr id="14" name="Rounded Rectangle 13"/>
          <p:cNvSpPr/>
          <p:nvPr/>
        </p:nvSpPr>
        <p:spPr>
          <a:xfrm>
            <a:off x="630936" y="2039112"/>
            <a:ext cx="3456432" cy="3374136"/>
          </a:xfrm>
          <a:prstGeom prst="roundRect">
            <a:avLst>
              <a:gd name="adj" fmla="val 45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30936" y="2039112"/>
            <a:ext cx="3456432" cy="54864"/>
          </a:xfrm>
          <a:prstGeom prst="rect">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p:cNvSpPr/>
          <p:nvPr/>
        </p:nvSpPr>
        <p:spPr>
          <a:xfrm>
            <a:off x="859536" y="2313432"/>
            <a:ext cx="621792" cy="621792"/>
          </a:xfrm>
          <a:prstGeom prst="ellipse">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icon_sitemap_FFFFFF.png"/>
          <p:cNvPicPr>
            <a:picLocks noChangeAspect="1"/>
          </p:cNvPicPr>
          <p:nvPr/>
        </p:nvPicPr>
        <p:blipFill>
          <a:blip r:embed="rId3"/>
          <a:stretch>
            <a:fillRect/>
          </a:stretch>
        </p:blipFill>
        <p:spPr>
          <a:xfrm>
            <a:off x="1008766" y="2462662"/>
            <a:ext cx="323331" cy="323331"/>
          </a:xfrm>
          <a:prstGeom prst="rect">
            <a:avLst/>
          </a:prstGeom>
          <a:effectLst/>
        </p:spPr>
      </p:pic>
      <p:sp>
        <p:nvSpPr>
          <p:cNvPr id="18" name="S10 Text 17 - Workflow &amp; case"/>
          <p:cNvSpPr txBox="1"/>
          <p:nvPr/>
        </p:nvSpPr>
        <p:spPr>
          <a:xfrm>
            <a:off x="868680" y="3154680"/>
            <a:ext cx="2980944" cy="347472"/>
          </a:xfrm>
          <a:prstGeom prst="rect">
            <a:avLst/>
          </a:prstGeom>
          <a:noFill/>
          <a:effectLst/>
        </p:spPr>
        <p:txBody>
          <a:bodyPr wrap="square" lIns="0" rIns="0" tIns="0" bIns="0" anchor="t">
            <a:noAutofit/>
          </a:bodyPr>
          <a:lstStyle/>
          <a:p>
            <a:pPr algn="l">
              <a:lnSpc>
                <a:spcPct val="110000"/>
              </a:lnSpc>
              <a:spcBef>
                <a:spcPts val="0"/>
              </a:spcBef>
              <a:spcAft>
                <a:spcPts val="0"/>
              </a:spcAft>
            </a:pPr>
            <a:r>
              <a:rPr sz="2000" b="1">
                <a:solidFill>
                  <a:srgbClr val="FFFFFF"/>
                </a:solidFill>
                <a:latin typeface="Inter"/>
              </a:rPr>
              <a:t>Workflow &amp; case</a:t>
            </a:r>
          </a:p>
        </p:txBody>
      </p:sp>
      <p:sp>
        <p:nvSpPr>
          <p:cNvPr id="19" name="S10 Text 18 - Pega and similar platforms"/>
          <p:cNvSpPr txBox="1"/>
          <p:nvPr/>
        </p:nvSpPr>
        <p:spPr>
          <a:xfrm>
            <a:off x="868680" y="3675887"/>
            <a:ext cx="2980944" cy="256032"/>
          </a:xfrm>
          <a:prstGeom prst="rect">
            <a:avLst/>
          </a:prstGeom>
          <a:noFill/>
          <a:effectLst/>
        </p:spPr>
        <p:txBody>
          <a:bodyPr wrap="square" lIns="0" rIns="0" tIns="0" bIns="0" anchor="t">
            <a:noAutofit/>
          </a:bodyPr>
          <a:lstStyle/>
          <a:p>
            <a:pPr algn="l">
              <a:lnSpc>
                <a:spcPct val="110000"/>
              </a:lnSpc>
              <a:spcBef>
                <a:spcPts val="0"/>
              </a:spcBef>
              <a:spcAft>
                <a:spcPts val="0"/>
              </a:spcAft>
            </a:pPr>
            <a:r>
              <a:rPr sz="1240" b="1">
                <a:solidFill>
                  <a:srgbClr val="8B5CF6"/>
                </a:solidFill>
                <a:latin typeface="Inter"/>
              </a:rPr>
              <a:t>Pega and similar platforms</a:t>
            </a:r>
          </a:p>
        </p:txBody>
      </p:sp>
      <p:sp>
        <p:nvSpPr>
          <p:cNvPr id="20" name="S10 Text 19 - Keep assignments, SLAs, and human work in the workflow "/>
          <p:cNvSpPr txBox="1"/>
          <p:nvPr/>
        </p:nvSpPr>
        <p:spPr>
          <a:xfrm>
            <a:off x="868680" y="4160520"/>
            <a:ext cx="2953512" cy="886968"/>
          </a:xfrm>
          <a:prstGeom prst="rect">
            <a:avLst/>
          </a:prstGeom>
          <a:noFill/>
          <a:effectLst/>
        </p:spPr>
        <p:txBody>
          <a:bodyPr wrap="square" lIns="0" rIns="0" tIns="0" bIns="0" anchor="t">
            <a:noAutofit/>
          </a:bodyPr>
          <a:lstStyle/>
          <a:p>
            <a:pPr algn="l">
              <a:lnSpc>
                <a:spcPct val="110000"/>
              </a:lnSpc>
              <a:spcBef>
                <a:spcPts val="0"/>
              </a:spcBef>
              <a:spcAft>
                <a:spcPts val="0"/>
              </a:spcAft>
            </a:pPr>
            <a:r>
              <a:rPr sz="1420" b="0">
                <a:solidFill>
                  <a:srgbClr val="B8C3DC"/>
                </a:solidFill>
                <a:latin typeface="Inter"/>
              </a:rPr>
              <a:t>Keep assignments, SLAs, and human work in the workflow platform. Call shared information and actions.</a:t>
            </a:r>
          </a:p>
        </p:txBody>
      </p:sp>
      <p:sp>
        <p:nvSpPr>
          <p:cNvPr id="21" name="S10 Text 20 - Coordinate work; reuse capabilities."/>
          <p:cNvSpPr txBox="1"/>
          <p:nvPr/>
        </p:nvSpPr>
        <p:spPr>
          <a:xfrm>
            <a:off x="868680" y="5138928"/>
            <a:ext cx="2935224" cy="219456"/>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8B5CF6"/>
                </a:solidFill>
                <a:latin typeface="Inter"/>
              </a:rPr>
              <a:t>Coordinate work; reuse capabilities.</a:t>
            </a:r>
          </a:p>
        </p:txBody>
      </p:sp>
      <p:sp>
        <p:nvSpPr>
          <p:cNvPr id="22" name="Rounded Rectangle 21"/>
          <p:cNvSpPr/>
          <p:nvPr/>
        </p:nvSpPr>
        <p:spPr>
          <a:xfrm>
            <a:off x="4370832" y="2039112"/>
            <a:ext cx="3456432" cy="3374136"/>
          </a:xfrm>
          <a:prstGeom prst="roundRect">
            <a:avLst>
              <a:gd name="adj" fmla="val 45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4370832" y="2039112"/>
            <a:ext cx="3456432" cy="54864"/>
          </a:xfrm>
          <a:prstGeom prst="rect">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Oval 23"/>
          <p:cNvSpPr/>
          <p:nvPr/>
        </p:nvSpPr>
        <p:spPr>
          <a:xfrm>
            <a:off x="4599432" y="2313432"/>
            <a:ext cx="621792" cy="621792"/>
          </a:xfrm>
          <a:prstGeom prst="ellipse">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icon_headset_FFFFFF.png"/>
          <p:cNvPicPr>
            <a:picLocks noChangeAspect="1"/>
          </p:cNvPicPr>
          <p:nvPr/>
        </p:nvPicPr>
        <p:blipFill>
          <a:blip r:embed="rId4"/>
          <a:stretch>
            <a:fillRect/>
          </a:stretch>
        </p:blipFill>
        <p:spPr>
          <a:xfrm>
            <a:off x="4748662" y="2462662"/>
            <a:ext cx="323331" cy="323331"/>
          </a:xfrm>
          <a:prstGeom prst="rect">
            <a:avLst/>
          </a:prstGeom>
          <a:effectLst/>
        </p:spPr>
      </p:pic>
      <p:sp>
        <p:nvSpPr>
          <p:cNvPr id="26" name="S10 Text 25 - Voice &amp; assisted"/>
          <p:cNvSpPr txBox="1"/>
          <p:nvPr/>
        </p:nvSpPr>
        <p:spPr>
          <a:xfrm>
            <a:off x="4608576" y="3154680"/>
            <a:ext cx="2980944" cy="347472"/>
          </a:xfrm>
          <a:prstGeom prst="rect">
            <a:avLst/>
          </a:prstGeom>
          <a:noFill/>
          <a:effectLst/>
        </p:spPr>
        <p:txBody>
          <a:bodyPr wrap="square" lIns="0" rIns="0" tIns="0" bIns="0" anchor="t">
            <a:noAutofit/>
          </a:bodyPr>
          <a:lstStyle/>
          <a:p>
            <a:pPr algn="l">
              <a:lnSpc>
                <a:spcPct val="110000"/>
              </a:lnSpc>
              <a:spcBef>
                <a:spcPts val="0"/>
              </a:spcBef>
              <a:spcAft>
                <a:spcPts val="0"/>
              </a:spcAft>
            </a:pPr>
            <a:r>
              <a:rPr sz="2000" b="1">
                <a:solidFill>
                  <a:srgbClr val="FFFFFF"/>
                </a:solidFill>
                <a:latin typeface="Inter"/>
              </a:rPr>
              <a:t>Voice &amp; assisted</a:t>
            </a:r>
          </a:p>
        </p:txBody>
      </p:sp>
      <p:sp>
        <p:nvSpPr>
          <p:cNvPr id="27" name="S10 Text 26 - IVR and contact center"/>
          <p:cNvSpPr txBox="1"/>
          <p:nvPr/>
        </p:nvSpPr>
        <p:spPr>
          <a:xfrm>
            <a:off x="4608576" y="3675887"/>
            <a:ext cx="2980944" cy="256032"/>
          </a:xfrm>
          <a:prstGeom prst="rect">
            <a:avLst/>
          </a:prstGeom>
          <a:noFill/>
          <a:effectLst/>
        </p:spPr>
        <p:txBody>
          <a:bodyPr wrap="square" lIns="0" rIns="0" tIns="0" bIns="0" anchor="t">
            <a:noAutofit/>
          </a:bodyPr>
          <a:lstStyle/>
          <a:p>
            <a:pPr algn="l">
              <a:lnSpc>
                <a:spcPct val="110000"/>
              </a:lnSpc>
              <a:spcBef>
                <a:spcPts val="0"/>
              </a:spcBef>
              <a:spcAft>
                <a:spcPts val="0"/>
              </a:spcAft>
            </a:pPr>
            <a:r>
              <a:rPr sz="1240" b="1">
                <a:solidFill>
                  <a:srgbClr val="21B6D7"/>
                </a:solidFill>
                <a:latin typeface="Inter"/>
              </a:rPr>
              <a:t>IVR and contact center</a:t>
            </a:r>
          </a:p>
        </p:txBody>
      </p:sp>
      <p:sp>
        <p:nvSpPr>
          <p:cNvPr id="28" name="S10 Text 27 - Use the same inputs, validation, and process identity a"/>
          <p:cNvSpPr txBox="1"/>
          <p:nvPr/>
        </p:nvSpPr>
        <p:spPr>
          <a:xfrm>
            <a:off x="4608576" y="4160520"/>
            <a:ext cx="2953512" cy="886968"/>
          </a:xfrm>
          <a:prstGeom prst="rect">
            <a:avLst/>
          </a:prstGeom>
          <a:noFill/>
          <a:effectLst/>
        </p:spPr>
        <p:txBody>
          <a:bodyPr wrap="square" lIns="0" rIns="0" tIns="0" bIns="0" anchor="t">
            <a:noAutofit/>
          </a:bodyPr>
          <a:lstStyle/>
          <a:p>
            <a:pPr algn="l">
              <a:lnSpc>
                <a:spcPct val="110000"/>
              </a:lnSpc>
              <a:spcBef>
                <a:spcPts val="0"/>
              </a:spcBef>
              <a:spcAft>
                <a:spcPts val="0"/>
              </a:spcAft>
            </a:pPr>
            <a:r>
              <a:rPr sz="1420" b="0">
                <a:solidFill>
                  <a:srgbClr val="B8C3DC"/>
                </a:solidFill>
                <a:latin typeface="Inter"/>
              </a:rPr>
              <a:t>Use the same inputs, validation, and process identity across self-service and assisted interactions.</a:t>
            </a:r>
          </a:p>
        </p:txBody>
      </p:sp>
      <p:sp>
        <p:nvSpPr>
          <p:cNvPr id="29" name="S10 Text 28 - Change channels; retain the model."/>
          <p:cNvSpPr txBox="1"/>
          <p:nvPr/>
        </p:nvSpPr>
        <p:spPr>
          <a:xfrm>
            <a:off x="4608576" y="5138928"/>
            <a:ext cx="2935224" cy="219456"/>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21B6D7"/>
                </a:solidFill>
                <a:latin typeface="Inter"/>
              </a:rPr>
              <a:t>Change channels; retain the model.</a:t>
            </a:r>
          </a:p>
        </p:txBody>
      </p:sp>
      <p:sp>
        <p:nvSpPr>
          <p:cNvPr id="30" name="Rounded Rectangle 29"/>
          <p:cNvSpPr/>
          <p:nvPr/>
        </p:nvSpPr>
        <p:spPr>
          <a:xfrm>
            <a:off x="8110727" y="2039112"/>
            <a:ext cx="3456432" cy="3374136"/>
          </a:xfrm>
          <a:prstGeom prst="roundRect">
            <a:avLst>
              <a:gd name="adj" fmla="val 45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8110727" y="2039112"/>
            <a:ext cx="3456432" cy="54864"/>
          </a:xfrm>
          <a:prstGeom prst="rect">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Oval 31"/>
          <p:cNvSpPr/>
          <p:nvPr/>
        </p:nvSpPr>
        <p:spPr>
          <a:xfrm>
            <a:off x="8339327" y="2313432"/>
            <a:ext cx="621792" cy="621792"/>
          </a:xfrm>
          <a:prstGeom prst="ellipse">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3" name="Picture 32" descr="icon_file-contract_FFFFFF.png"/>
          <p:cNvPicPr>
            <a:picLocks noChangeAspect="1"/>
          </p:cNvPicPr>
          <p:nvPr/>
        </p:nvPicPr>
        <p:blipFill>
          <a:blip r:embed="rId5"/>
          <a:stretch>
            <a:fillRect/>
          </a:stretch>
        </p:blipFill>
        <p:spPr>
          <a:xfrm>
            <a:off x="8488558" y="2462662"/>
            <a:ext cx="323331" cy="323331"/>
          </a:xfrm>
          <a:prstGeom prst="rect">
            <a:avLst/>
          </a:prstGeom>
          <a:effectLst/>
        </p:spPr>
      </p:pic>
      <p:sp>
        <p:nvSpPr>
          <p:cNvPr id="34" name="S10 Text 33 - Standards &amp; partners"/>
          <p:cNvSpPr txBox="1"/>
          <p:nvPr/>
        </p:nvSpPr>
        <p:spPr>
          <a:xfrm>
            <a:off x="8348471" y="3154680"/>
            <a:ext cx="2980944" cy="347472"/>
          </a:xfrm>
          <a:prstGeom prst="rect">
            <a:avLst/>
          </a:prstGeom>
          <a:noFill/>
          <a:effectLst/>
        </p:spPr>
        <p:txBody>
          <a:bodyPr wrap="square" lIns="0" rIns="0" tIns="0" bIns="0" anchor="t">
            <a:noAutofit/>
          </a:bodyPr>
          <a:lstStyle/>
          <a:p>
            <a:pPr algn="l">
              <a:lnSpc>
                <a:spcPct val="110000"/>
              </a:lnSpc>
              <a:spcBef>
                <a:spcPts val="0"/>
              </a:spcBef>
              <a:spcAft>
                <a:spcPts val="0"/>
              </a:spcAft>
            </a:pPr>
            <a:r>
              <a:rPr sz="2000" b="1">
                <a:solidFill>
                  <a:srgbClr val="FFFFFF"/>
                </a:solidFill>
                <a:latin typeface="Inter"/>
              </a:rPr>
              <a:t>Standards &amp; partners</a:t>
            </a:r>
          </a:p>
        </p:txBody>
      </p:sp>
      <p:sp>
        <p:nvSpPr>
          <p:cNvPr id="35" name="S10 Text 34 - Da Vinci and other boundaries"/>
          <p:cNvSpPr txBox="1"/>
          <p:nvPr/>
        </p:nvSpPr>
        <p:spPr>
          <a:xfrm>
            <a:off x="8348471" y="3675887"/>
            <a:ext cx="2980944" cy="256032"/>
          </a:xfrm>
          <a:prstGeom prst="rect">
            <a:avLst/>
          </a:prstGeom>
          <a:noFill/>
          <a:effectLst/>
        </p:spPr>
        <p:txBody>
          <a:bodyPr wrap="square" lIns="0" rIns="0" tIns="0" bIns="0" anchor="t">
            <a:noAutofit/>
          </a:bodyPr>
          <a:lstStyle/>
          <a:p>
            <a:pPr algn="l">
              <a:lnSpc>
                <a:spcPct val="110000"/>
              </a:lnSpc>
              <a:spcBef>
                <a:spcPts val="0"/>
              </a:spcBef>
              <a:spcAft>
                <a:spcPts val="0"/>
              </a:spcAft>
            </a:pPr>
            <a:r>
              <a:rPr sz="1240" b="1">
                <a:solidFill>
                  <a:srgbClr val="19C4A7"/>
                </a:solidFill>
                <a:latin typeface="Inter"/>
              </a:rPr>
              <a:t>Da Vinci and other boundaries</a:t>
            </a:r>
          </a:p>
        </p:txBody>
      </p:sp>
      <p:sp>
        <p:nvSpPr>
          <p:cNvPr id="36" name="S10 Text 35 - Map external exchange into stable internal information "/>
          <p:cNvSpPr txBox="1"/>
          <p:nvPr/>
        </p:nvSpPr>
        <p:spPr>
          <a:xfrm>
            <a:off x="8348471" y="4160520"/>
            <a:ext cx="2953512" cy="886968"/>
          </a:xfrm>
          <a:prstGeom prst="rect">
            <a:avLst/>
          </a:prstGeom>
          <a:noFill/>
          <a:effectLst/>
        </p:spPr>
        <p:txBody>
          <a:bodyPr wrap="square" lIns="0" rIns="0" tIns="0" bIns="0" anchor="t">
            <a:noAutofit/>
          </a:bodyPr>
          <a:lstStyle/>
          <a:p>
            <a:pPr algn="l">
              <a:lnSpc>
                <a:spcPct val="110000"/>
              </a:lnSpc>
              <a:spcBef>
                <a:spcPts val="0"/>
              </a:spcBef>
              <a:spcAft>
                <a:spcPts val="0"/>
              </a:spcAft>
            </a:pPr>
            <a:r>
              <a:rPr sz="1420" b="0">
                <a:solidFill>
                  <a:srgbClr val="B8C3DC"/>
                </a:solidFill>
                <a:latin typeface="Inter"/>
              </a:rPr>
              <a:t>Map external exchange into stable internal information and action contracts rather than duplicating them.</a:t>
            </a:r>
          </a:p>
        </p:txBody>
      </p:sp>
      <p:sp>
        <p:nvSpPr>
          <p:cNvPr id="37" name="S10 Text 36 - Adapt the boundary; share the business."/>
          <p:cNvSpPr txBox="1"/>
          <p:nvPr/>
        </p:nvSpPr>
        <p:spPr>
          <a:xfrm>
            <a:off x="8348471" y="5138928"/>
            <a:ext cx="2935224" cy="219456"/>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19C4A7"/>
                </a:solidFill>
                <a:latin typeface="Inter"/>
              </a:rPr>
              <a:t>Adapt the boundary; share the business.</a:t>
            </a:r>
          </a:p>
        </p:txBody>
      </p:sp>
      <p:sp>
        <p:nvSpPr>
          <p:cNvPr id="38" name="Rounded Rectangle 37"/>
          <p:cNvSpPr/>
          <p:nvPr/>
        </p:nvSpPr>
        <p:spPr>
          <a:xfrm>
            <a:off x="603504" y="5733288"/>
            <a:ext cx="10972800" cy="393192"/>
          </a:xfrm>
          <a:prstGeom prst="roundRect">
            <a:avLst>
              <a:gd name="adj" fmla="val 7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S10 Text 38 - AI is a first-class consumer of that same foundation—no"/>
          <p:cNvSpPr txBox="1"/>
          <p:nvPr/>
        </p:nvSpPr>
        <p:spPr>
          <a:xfrm>
            <a:off x="786384" y="5801868"/>
            <a:ext cx="10607040" cy="274320"/>
          </a:xfrm>
          <a:prstGeom prst="rect">
            <a:avLst/>
          </a:prstGeom>
          <a:noFill/>
          <a:effectLst/>
        </p:spPr>
        <p:txBody>
          <a:bodyPr wrap="square" lIns="0" rIns="0" tIns="0" bIns="0" anchor="t">
            <a:noAutofit/>
          </a:bodyPr>
          <a:lstStyle/>
          <a:p>
            <a:pPr algn="ctr">
              <a:lnSpc>
                <a:spcPct val="110000"/>
              </a:lnSpc>
              <a:spcBef>
                <a:spcPts val="0"/>
              </a:spcBef>
              <a:spcAft>
                <a:spcPts val="0"/>
              </a:spcAft>
            </a:pPr>
            <a:r>
              <a:rPr sz="1270" b="1">
                <a:solidFill>
                  <a:srgbClr val="FFFFFF"/>
                </a:solidFill>
                <a:latin typeface="Inter"/>
              </a:rPr>
              <a:t>AI is a first-class consumer of that same foundation—not a reason to rebuild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F"/>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F0ED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EAF7F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11 Text 04 - AUTHORITY AND RELEASE POSTURE"/>
          <p:cNvSpPr txBox="1"/>
          <p:nvPr/>
        </p:nvSpPr>
        <p:spPr>
          <a:xfrm>
            <a:off x="603504" y="393192"/>
            <a:ext cx="9966960"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6257FA"/>
                </a:solidFill>
                <a:latin typeface="Inter"/>
              </a:rPr>
              <a:t>AUTHORITY AND RELEASE POSTURE</a:t>
            </a:r>
          </a:p>
        </p:txBody>
      </p:sp>
      <p:sp>
        <p:nvSpPr>
          <p:cNvPr id="6" name="S11 Text 05 - AI-native does not mean unbounded."/>
          <p:cNvSpPr txBox="1"/>
          <p:nvPr/>
        </p:nvSpPr>
        <p:spPr>
          <a:xfrm>
            <a:off x="603504" y="832104"/>
            <a:ext cx="10972800"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2900" b="1">
                <a:solidFill>
                  <a:srgbClr val="111827"/>
                </a:solidFill>
                <a:latin typeface="Inter"/>
              </a:rPr>
              <a:t>AI-native does not mean unbounded.</a:t>
            </a:r>
          </a:p>
        </p:txBody>
      </p:sp>
      <p:sp>
        <p:nvSpPr>
          <p:cNvPr id="7" name="S11 Text 06 - Use the model for interaction. Keep authorization, busi"/>
          <p:cNvSpPr txBox="1"/>
          <p:nvPr/>
        </p:nvSpPr>
        <p:spPr>
          <a:xfrm>
            <a:off x="603504" y="1472184"/>
            <a:ext cx="10936224" cy="448056"/>
          </a:xfrm>
          <a:prstGeom prst="rect">
            <a:avLst/>
          </a:prstGeom>
          <a:noFill/>
          <a:effectLst/>
        </p:spPr>
        <p:txBody>
          <a:bodyPr wrap="square" lIns="0" rIns="0" tIns="0" bIns="0" anchor="t">
            <a:noAutofit/>
          </a:bodyPr>
          <a:lstStyle/>
          <a:p>
            <a:pPr algn="l">
              <a:lnSpc>
                <a:spcPct val="110000"/>
              </a:lnSpc>
              <a:spcBef>
                <a:spcPts val="0"/>
              </a:spcBef>
              <a:spcAft>
                <a:spcPts val="0"/>
              </a:spcAft>
            </a:pPr>
            <a:r>
              <a:rPr sz="1420" b="0">
                <a:solidFill>
                  <a:srgbClr val="5F6B82"/>
                </a:solidFill>
                <a:latin typeface="Inter"/>
              </a:rPr>
              <a:t>Use the model for interaction. Keep authorization, business meaning, and execution guarantees explicit.</a:t>
            </a:r>
          </a:p>
        </p:txBody>
      </p:sp>
      <p:cxnSp>
        <p:nvCxnSpPr>
          <p:cNvPr id="8" name="Connector 7"/>
          <p:cNvCxnSpPr/>
          <p:nvPr/>
        </p:nvCxnSpPr>
        <p:spPr>
          <a:xfrm>
            <a:off x="603504" y="6492240"/>
            <a:ext cx="10981944" cy="0"/>
          </a:xfrm>
          <a:prstGeom prst="line">
            <a:avLst/>
          </a:prstGeom>
          <a:ln w="8255">
            <a:solidFill>
              <a:srgbClr val="DDE3EF"/>
            </a:solidFill>
          </a:ln>
          <a:effectLst/>
        </p:spPr>
        <p:style>
          <a:lnRef idx="2">
            <a:schemeClr val="accent1"/>
          </a:lnRef>
          <a:fillRef idx="0">
            <a:schemeClr val="accent1"/>
          </a:fillRef>
          <a:effectRef idx="0">
            <a:schemeClr val="accent1"/>
          </a:effectRef>
          <a:fontRef idx="minor">
            <a:schemeClr val="tx1"/>
          </a:fontRef>
        </p:style>
      </p:cxnSp>
      <p:pic>
        <p:nvPicPr>
          <p:cNvPr id="9" name="Picture 8" descr="image-4-11.png"/>
          <p:cNvPicPr>
            <a:picLocks noChangeAspect="1"/>
          </p:cNvPicPr>
          <p:nvPr/>
        </p:nvPicPr>
        <p:blipFill>
          <a:blip r:embed="rId2"/>
          <a:stretch>
            <a:fillRect/>
          </a:stretch>
        </p:blipFill>
        <p:spPr>
          <a:xfrm>
            <a:off x="621792" y="6583680"/>
            <a:ext cx="164592" cy="164592"/>
          </a:xfrm>
          <a:prstGeom prst="rect">
            <a:avLst/>
          </a:prstGeom>
          <a:effectLst/>
        </p:spPr>
      </p:pic>
      <p:sp>
        <p:nvSpPr>
          <p:cNvPr id="10" name="S11 Text 09 - Kaleido  |  AI-native executive overview"/>
          <p:cNvSpPr txBox="1"/>
          <p:nvPr/>
        </p:nvSpPr>
        <p:spPr>
          <a:xfrm>
            <a:off x="877824" y="6574536"/>
            <a:ext cx="4572000" cy="173736"/>
          </a:xfrm>
          <a:prstGeom prst="rect">
            <a:avLst/>
          </a:prstGeom>
          <a:noFill/>
          <a:effectLst/>
        </p:spPr>
        <p:txBody>
          <a:bodyPr wrap="square" lIns="0" rIns="0" tIns="0" bIns="0" anchor="t">
            <a:noAutofit/>
          </a:bodyPr>
          <a:lstStyle/>
          <a:p>
            <a:pPr algn="l">
              <a:lnSpc>
                <a:spcPct val="110000"/>
              </a:lnSpc>
              <a:spcBef>
                <a:spcPts val="0"/>
              </a:spcBef>
              <a:spcAft>
                <a:spcPts val="0"/>
              </a:spcAft>
            </a:pPr>
            <a:r>
              <a:rPr sz="830" b="0">
                <a:solidFill>
                  <a:srgbClr val="5F6B82"/>
                </a:solidFill>
                <a:latin typeface="Inter"/>
              </a:rPr>
              <a:t>Kaleido  |  AI-native executive overview</a:t>
            </a:r>
          </a:p>
        </p:txBody>
      </p:sp>
      <p:sp>
        <p:nvSpPr>
          <p:cNvPr id="11" name="S11 Text 10 - PRE-1.0 PROJECT PREVIEW"/>
          <p:cNvSpPr txBox="1"/>
          <p:nvPr/>
        </p:nvSpPr>
        <p:spPr>
          <a:xfrm>
            <a:off x="8723376" y="6574536"/>
            <a:ext cx="249631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00" b="0">
                <a:solidFill>
                  <a:srgbClr val="5F6B82"/>
                </a:solidFill>
                <a:latin typeface="Inter"/>
              </a:rPr>
              <a:t>PRE-1.0 PROJECT PREVIEW</a:t>
            </a:r>
          </a:p>
        </p:txBody>
      </p:sp>
      <p:sp>
        <p:nvSpPr>
          <p:cNvPr id="12" name="S11 Text 11 - 11"/>
          <p:cNvSpPr txBox="1"/>
          <p:nvPr/>
        </p:nvSpPr>
        <p:spPr>
          <a:xfrm>
            <a:off x="11274552" y="6574536"/>
            <a:ext cx="30175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30" b="0">
                <a:solidFill>
                  <a:srgbClr val="5F6B82"/>
                </a:solidFill>
                <a:latin typeface="Inter"/>
              </a:rPr>
              <a:t>11</a:t>
            </a:r>
          </a:p>
        </p:txBody>
      </p:sp>
      <p:sp>
        <p:nvSpPr>
          <p:cNvPr id="13" name="S11 Text 12 - Preview scope: MCP credential delegation, retry/complet"/>
          <p:cNvSpPr txBox="1"/>
          <p:nvPr/>
        </p:nvSpPr>
        <p:spPr>
          <a:xfrm>
            <a:off x="621792" y="6263640"/>
            <a:ext cx="10881360" cy="164592"/>
          </a:xfrm>
          <a:prstGeom prst="rect">
            <a:avLst/>
          </a:prstGeom>
          <a:noFill/>
          <a:effectLst/>
        </p:spPr>
        <p:txBody>
          <a:bodyPr wrap="square" lIns="0" rIns="0" tIns="0" bIns="0" anchor="t">
            <a:noAutofit/>
          </a:bodyPr>
          <a:lstStyle/>
          <a:p>
            <a:pPr algn="l">
              <a:lnSpc>
                <a:spcPct val="110000"/>
              </a:lnSpc>
              <a:spcBef>
                <a:spcPts val="0"/>
              </a:spcBef>
              <a:spcAft>
                <a:spcPts val="0"/>
              </a:spcAft>
            </a:pPr>
            <a:r>
              <a:rPr sz="850" b="0">
                <a:solidFill>
                  <a:srgbClr val="5F6B82"/>
                </a:solidFill>
                <a:latin typeface="Inter"/>
              </a:rPr>
              <a:t>Preview scope: MCP credential delegation, retry/completion behavior, and real-client consent flows still require validation.</a:t>
            </a:r>
          </a:p>
        </p:txBody>
      </p:sp>
      <p:sp>
        <p:nvSpPr>
          <p:cNvPr id="14" name="Rounded Rectangle 13"/>
          <p:cNvSpPr/>
          <p:nvPr/>
        </p:nvSpPr>
        <p:spPr>
          <a:xfrm>
            <a:off x="621792" y="2066543"/>
            <a:ext cx="5321808" cy="3383280"/>
          </a:xfrm>
          <a:prstGeom prst="roundRect">
            <a:avLst>
              <a:gd name="adj" fmla="val 4500"/>
            </a:avLst>
          </a:prstGeom>
          <a:solidFill>
            <a:srgbClr val="080C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905256" y="2340864"/>
            <a:ext cx="3044952" cy="265176"/>
          </a:xfrm>
          <a:prstGeom prst="roundRect">
            <a:avLst>
              <a:gd name="adj" fmla="val 14000"/>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S11 Text 15 - IMPLEMENTED MECHANISMS"/>
          <p:cNvSpPr txBox="1"/>
          <p:nvPr/>
        </p:nvSpPr>
        <p:spPr>
          <a:xfrm>
            <a:off x="978408" y="2354580"/>
            <a:ext cx="2898648" cy="246887"/>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FFFFFF"/>
                </a:solidFill>
                <a:latin typeface="Inter"/>
              </a:rPr>
              <a:t>IMPLEMENTED MECHANISMS</a:t>
            </a:r>
          </a:p>
        </p:txBody>
      </p:sp>
      <p:pic>
        <p:nvPicPr>
          <p:cNvPr id="17" name="Picture 16" descr="icon_compass_8B5CF6.png"/>
          <p:cNvPicPr>
            <a:picLocks noChangeAspect="1"/>
          </p:cNvPicPr>
          <p:nvPr/>
        </p:nvPicPr>
        <p:blipFill>
          <a:blip r:embed="rId3"/>
          <a:stretch>
            <a:fillRect/>
          </a:stretch>
        </p:blipFill>
        <p:spPr>
          <a:xfrm>
            <a:off x="914400" y="2898648"/>
            <a:ext cx="347472" cy="347472"/>
          </a:xfrm>
          <a:prstGeom prst="rect">
            <a:avLst/>
          </a:prstGeom>
          <a:effectLst/>
        </p:spPr>
      </p:pic>
      <p:sp>
        <p:nvSpPr>
          <p:cNvPr id="18" name="S11 Text 17 - Discoverable contracts"/>
          <p:cNvSpPr txBox="1"/>
          <p:nvPr/>
        </p:nvSpPr>
        <p:spPr>
          <a:xfrm>
            <a:off x="1481328" y="2880360"/>
            <a:ext cx="4096512" cy="274320"/>
          </a:xfrm>
          <a:prstGeom prst="rect">
            <a:avLst/>
          </a:prstGeom>
          <a:noFill/>
          <a:effectLst/>
        </p:spPr>
        <p:txBody>
          <a:bodyPr wrap="square" lIns="0" rIns="0" tIns="0" bIns="0" anchor="t">
            <a:noAutofit/>
          </a:bodyPr>
          <a:lstStyle/>
          <a:p>
            <a:pPr algn="l">
              <a:lnSpc>
                <a:spcPct val="110000"/>
              </a:lnSpc>
              <a:spcBef>
                <a:spcPts val="0"/>
              </a:spcBef>
              <a:spcAft>
                <a:spcPts val="0"/>
              </a:spcAft>
            </a:pPr>
            <a:r>
              <a:rPr sz="1650" b="1">
                <a:solidFill>
                  <a:srgbClr val="FFFFFF"/>
                </a:solidFill>
                <a:latin typeface="Inter"/>
              </a:rPr>
              <a:t>Discoverable contracts</a:t>
            </a:r>
          </a:p>
        </p:txBody>
      </p:sp>
      <p:sp>
        <p:nvSpPr>
          <p:cNvPr id="19" name="S11 Text 18 - Tool schemas and caller-filtered catalog."/>
          <p:cNvSpPr txBox="1"/>
          <p:nvPr/>
        </p:nvSpPr>
        <p:spPr>
          <a:xfrm>
            <a:off x="1481328" y="3255264"/>
            <a:ext cx="4014215" cy="301752"/>
          </a:xfrm>
          <a:prstGeom prst="rect">
            <a:avLst/>
          </a:prstGeom>
          <a:noFill/>
          <a:effectLst/>
        </p:spPr>
        <p:txBody>
          <a:bodyPr wrap="square" lIns="0" rIns="0" tIns="0" bIns="0" anchor="t">
            <a:noAutofit/>
          </a:bodyPr>
          <a:lstStyle/>
          <a:p>
            <a:pPr algn="l">
              <a:lnSpc>
                <a:spcPct val="110000"/>
              </a:lnSpc>
              <a:spcBef>
                <a:spcPts val="0"/>
              </a:spcBef>
              <a:spcAft>
                <a:spcPts val="0"/>
              </a:spcAft>
            </a:pPr>
            <a:r>
              <a:rPr sz="1270" b="0">
                <a:solidFill>
                  <a:srgbClr val="B8C3DC"/>
                </a:solidFill>
                <a:latin typeface="Inter"/>
              </a:rPr>
              <a:t>Tool schemas and caller-filtered catalog.</a:t>
            </a:r>
          </a:p>
        </p:txBody>
      </p:sp>
      <p:pic>
        <p:nvPicPr>
          <p:cNvPr id="20" name="Picture 19" descr="icon_diagram-project_19C4A7.png"/>
          <p:cNvPicPr>
            <a:picLocks noChangeAspect="1"/>
          </p:cNvPicPr>
          <p:nvPr/>
        </p:nvPicPr>
        <p:blipFill>
          <a:blip r:embed="rId4"/>
          <a:stretch>
            <a:fillRect/>
          </a:stretch>
        </p:blipFill>
        <p:spPr>
          <a:xfrm>
            <a:off x="914400" y="3675887"/>
            <a:ext cx="347472" cy="347472"/>
          </a:xfrm>
          <a:prstGeom prst="rect">
            <a:avLst/>
          </a:prstGeom>
          <a:effectLst/>
        </p:spPr>
      </p:pic>
      <p:sp>
        <p:nvSpPr>
          <p:cNvPr id="21" name="S11 Text 20 - Process constraints"/>
          <p:cNvSpPr txBox="1"/>
          <p:nvPr/>
        </p:nvSpPr>
        <p:spPr>
          <a:xfrm>
            <a:off x="1481328" y="3657600"/>
            <a:ext cx="4096512" cy="274320"/>
          </a:xfrm>
          <a:prstGeom prst="rect">
            <a:avLst/>
          </a:prstGeom>
          <a:noFill/>
          <a:effectLst/>
        </p:spPr>
        <p:txBody>
          <a:bodyPr wrap="square" lIns="0" rIns="0" tIns="0" bIns="0" anchor="t">
            <a:noAutofit/>
          </a:bodyPr>
          <a:lstStyle/>
          <a:p>
            <a:pPr algn="l">
              <a:lnSpc>
                <a:spcPct val="110000"/>
              </a:lnSpc>
              <a:spcBef>
                <a:spcPts val="0"/>
              </a:spcBef>
              <a:spcAft>
                <a:spcPts val="0"/>
              </a:spcAft>
            </a:pPr>
            <a:r>
              <a:rPr sz="1650" b="1">
                <a:solidFill>
                  <a:srgbClr val="FFFFFF"/>
                </a:solidFill>
                <a:latin typeface="Inter"/>
              </a:rPr>
              <a:t>Process constraints</a:t>
            </a:r>
          </a:p>
        </p:txBody>
      </p:sp>
      <p:sp>
        <p:nvSpPr>
          <p:cNvPr id="22" name="S11 Text 21 - Input structure, step rules, and state."/>
          <p:cNvSpPr txBox="1"/>
          <p:nvPr/>
        </p:nvSpPr>
        <p:spPr>
          <a:xfrm>
            <a:off x="1481328" y="4032504"/>
            <a:ext cx="4014215" cy="301752"/>
          </a:xfrm>
          <a:prstGeom prst="rect">
            <a:avLst/>
          </a:prstGeom>
          <a:noFill/>
          <a:effectLst/>
        </p:spPr>
        <p:txBody>
          <a:bodyPr wrap="square" lIns="0" rIns="0" tIns="0" bIns="0" anchor="t">
            <a:noAutofit/>
          </a:bodyPr>
          <a:lstStyle/>
          <a:p>
            <a:pPr algn="l">
              <a:lnSpc>
                <a:spcPct val="110000"/>
              </a:lnSpc>
              <a:spcBef>
                <a:spcPts val="0"/>
              </a:spcBef>
              <a:spcAft>
                <a:spcPts val="0"/>
              </a:spcAft>
            </a:pPr>
            <a:r>
              <a:rPr sz="1270" b="0">
                <a:solidFill>
                  <a:srgbClr val="B8C3DC"/>
                </a:solidFill>
                <a:latin typeface="Inter"/>
              </a:rPr>
              <a:t>Input structure, step rules, and state.</a:t>
            </a:r>
          </a:p>
        </p:txBody>
      </p:sp>
      <p:pic>
        <p:nvPicPr>
          <p:cNvPr id="23" name="Picture 22" descr="icon_route_21B6D7.png"/>
          <p:cNvPicPr>
            <a:picLocks noChangeAspect="1"/>
          </p:cNvPicPr>
          <p:nvPr/>
        </p:nvPicPr>
        <p:blipFill>
          <a:blip r:embed="rId5"/>
          <a:stretch>
            <a:fillRect/>
          </a:stretch>
        </p:blipFill>
        <p:spPr>
          <a:xfrm>
            <a:off x="914400" y="4453127"/>
            <a:ext cx="347472" cy="347472"/>
          </a:xfrm>
          <a:prstGeom prst="rect">
            <a:avLst/>
          </a:prstGeom>
          <a:effectLst/>
        </p:spPr>
      </p:pic>
      <p:sp>
        <p:nvSpPr>
          <p:cNvPr id="24" name="S11 Text 23 - Guided interaction"/>
          <p:cNvSpPr txBox="1"/>
          <p:nvPr/>
        </p:nvSpPr>
        <p:spPr>
          <a:xfrm>
            <a:off x="1481328" y="4434840"/>
            <a:ext cx="4096512" cy="274320"/>
          </a:xfrm>
          <a:prstGeom prst="rect">
            <a:avLst/>
          </a:prstGeom>
          <a:noFill/>
          <a:effectLst/>
        </p:spPr>
        <p:txBody>
          <a:bodyPr wrap="square" lIns="0" rIns="0" tIns="0" bIns="0" anchor="t">
            <a:noAutofit/>
          </a:bodyPr>
          <a:lstStyle/>
          <a:p>
            <a:pPr algn="l">
              <a:lnSpc>
                <a:spcPct val="110000"/>
              </a:lnSpc>
              <a:spcBef>
                <a:spcPts val="0"/>
              </a:spcBef>
              <a:spcAft>
                <a:spcPts val="0"/>
              </a:spcAft>
            </a:pPr>
            <a:r>
              <a:rPr sz="1650" b="1">
                <a:solidFill>
                  <a:srgbClr val="FFFFFF"/>
                </a:solidFill>
                <a:latin typeface="Inter"/>
              </a:rPr>
              <a:t>Guided interaction</a:t>
            </a:r>
          </a:p>
        </p:txBody>
      </p:sp>
      <p:sp>
        <p:nvSpPr>
          <p:cNvPr id="25" name="S11 Text 24 - Lookups, information requests, and next steps."/>
          <p:cNvSpPr txBox="1"/>
          <p:nvPr/>
        </p:nvSpPr>
        <p:spPr>
          <a:xfrm>
            <a:off x="1481328" y="4809744"/>
            <a:ext cx="4014215" cy="301752"/>
          </a:xfrm>
          <a:prstGeom prst="rect">
            <a:avLst/>
          </a:prstGeom>
          <a:noFill/>
          <a:effectLst/>
        </p:spPr>
        <p:txBody>
          <a:bodyPr wrap="square" lIns="0" rIns="0" tIns="0" bIns="0" anchor="t">
            <a:noAutofit/>
          </a:bodyPr>
          <a:lstStyle/>
          <a:p>
            <a:pPr algn="l">
              <a:lnSpc>
                <a:spcPct val="110000"/>
              </a:lnSpc>
              <a:spcBef>
                <a:spcPts val="0"/>
              </a:spcBef>
              <a:spcAft>
                <a:spcPts val="0"/>
              </a:spcAft>
            </a:pPr>
            <a:r>
              <a:rPr sz="1270" b="0">
                <a:solidFill>
                  <a:srgbClr val="B8C3DC"/>
                </a:solidFill>
                <a:latin typeface="Inter"/>
              </a:rPr>
              <a:t>Lookups, information requests, and next steps.</a:t>
            </a:r>
          </a:p>
        </p:txBody>
      </p:sp>
      <p:sp>
        <p:nvSpPr>
          <p:cNvPr id="26" name="Rounded Rectangle 25"/>
          <p:cNvSpPr/>
          <p:nvPr/>
        </p:nvSpPr>
        <p:spPr>
          <a:xfrm>
            <a:off x="6181344" y="2066543"/>
            <a:ext cx="5394960" cy="3383280"/>
          </a:xfrm>
          <a:prstGeom prst="roundRect">
            <a:avLst>
              <a:gd name="adj" fmla="val 4500"/>
            </a:avLst>
          </a:prstGeom>
          <a:solidFill>
            <a:srgbClr val="FFFFFF"/>
          </a:solidFill>
          <a:ln w="12700">
            <a:solidFill>
              <a:srgbClr val="DDE3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ounded Rectangle 26"/>
          <p:cNvSpPr/>
          <p:nvPr/>
        </p:nvSpPr>
        <p:spPr>
          <a:xfrm>
            <a:off x="6437376" y="2340864"/>
            <a:ext cx="4325112" cy="265176"/>
          </a:xfrm>
          <a:prstGeom prst="roundRect">
            <a:avLst>
              <a:gd name="adj" fmla="val 14000"/>
            </a:avLst>
          </a:prstGeom>
          <a:solidFill>
            <a:srgbClr val="EFEC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S11 Text 27 - HOST + BUSINESS RESPONSIBILITIES"/>
          <p:cNvSpPr txBox="1"/>
          <p:nvPr/>
        </p:nvSpPr>
        <p:spPr>
          <a:xfrm>
            <a:off x="6510528" y="2354580"/>
            <a:ext cx="4178808" cy="246887"/>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6257FA"/>
                </a:solidFill>
                <a:latin typeface="Inter"/>
              </a:rPr>
              <a:t>HOST + BUSINESS RESPONSIBILITIES</a:t>
            </a:r>
          </a:p>
        </p:txBody>
      </p:sp>
      <p:sp>
        <p:nvSpPr>
          <p:cNvPr id="29" name="S11 Text 28 - Who may act"/>
          <p:cNvSpPr txBox="1"/>
          <p:nvPr/>
        </p:nvSpPr>
        <p:spPr>
          <a:xfrm>
            <a:off x="6464808" y="2880360"/>
            <a:ext cx="4773168" cy="283464"/>
          </a:xfrm>
          <a:prstGeom prst="rect">
            <a:avLst/>
          </a:prstGeom>
          <a:noFill/>
          <a:effectLst/>
        </p:spPr>
        <p:txBody>
          <a:bodyPr wrap="square" lIns="0" rIns="0" tIns="0" bIns="0" anchor="t">
            <a:noAutofit/>
          </a:bodyPr>
          <a:lstStyle/>
          <a:p>
            <a:pPr algn="l">
              <a:lnSpc>
                <a:spcPct val="110000"/>
              </a:lnSpc>
              <a:spcBef>
                <a:spcPts val="0"/>
              </a:spcBef>
              <a:spcAft>
                <a:spcPts val="0"/>
              </a:spcAft>
            </a:pPr>
            <a:r>
              <a:rPr sz="1650" b="1">
                <a:solidFill>
                  <a:srgbClr val="111827"/>
                </a:solidFill>
                <a:latin typeface="Inter"/>
              </a:rPr>
              <a:t>Who may act</a:t>
            </a:r>
          </a:p>
        </p:txBody>
      </p:sp>
      <p:sp>
        <p:nvSpPr>
          <p:cNvPr id="30" name="S11 Text 29 - Identity, destination credentials, case access."/>
          <p:cNvSpPr txBox="1"/>
          <p:nvPr/>
        </p:nvSpPr>
        <p:spPr>
          <a:xfrm>
            <a:off x="6464808" y="3255264"/>
            <a:ext cx="4773168" cy="310896"/>
          </a:xfrm>
          <a:prstGeom prst="rect">
            <a:avLst/>
          </a:prstGeom>
          <a:noFill/>
          <a:effectLst/>
        </p:spPr>
        <p:txBody>
          <a:bodyPr wrap="square" lIns="0" rIns="0" tIns="0" bIns="0" anchor="t">
            <a:noAutofit/>
          </a:bodyPr>
          <a:lstStyle/>
          <a:p>
            <a:pPr algn="l">
              <a:lnSpc>
                <a:spcPct val="110000"/>
              </a:lnSpc>
              <a:spcBef>
                <a:spcPts val="0"/>
              </a:spcBef>
              <a:spcAft>
                <a:spcPts val="0"/>
              </a:spcAft>
            </a:pPr>
            <a:r>
              <a:rPr sz="1270" b="0">
                <a:solidFill>
                  <a:srgbClr val="5F6B82"/>
                </a:solidFill>
                <a:latin typeface="Inter"/>
              </a:rPr>
              <a:t>Identity, destination credentials, case access.</a:t>
            </a:r>
          </a:p>
        </p:txBody>
      </p:sp>
      <p:sp>
        <p:nvSpPr>
          <p:cNvPr id="31" name="S11 Text 30 - What the action means"/>
          <p:cNvSpPr txBox="1"/>
          <p:nvPr/>
        </p:nvSpPr>
        <p:spPr>
          <a:xfrm>
            <a:off x="6464808" y="3657600"/>
            <a:ext cx="4773168" cy="283464"/>
          </a:xfrm>
          <a:prstGeom prst="rect">
            <a:avLst/>
          </a:prstGeom>
          <a:noFill/>
          <a:effectLst/>
        </p:spPr>
        <p:txBody>
          <a:bodyPr wrap="square" lIns="0" rIns="0" tIns="0" bIns="0" anchor="t">
            <a:noAutofit/>
          </a:bodyPr>
          <a:lstStyle/>
          <a:p>
            <a:pPr algn="l">
              <a:lnSpc>
                <a:spcPct val="110000"/>
              </a:lnSpc>
              <a:spcBef>
                <a:spcPts val="0"/>
              </a:spcBef>
              <a:spcAft>
                <a:spcPts val="0"/>
              </a:spcAft>
            </a:pPr>
            <a:r>
              <a:rPr sz="1650" b="1">
                <a:solidFill>
                  <a:srgbClr val="111827"/>
                </a:solidFill>
                <a:latin typeface="Inter"/>
              </a:rPr>
              <a:t>What the action means</a:t>
            </a:r>
          </a:p>
        </p:txBody>
      </p:sp>
      <p:sp>
        <p:nvSpPr>
          <p:cNvPr id="32" name="S11 Text 31 - Domain validation and any required approvals."/>
          <p:cNvSpPr txBox="1"/>
          <p:nvPr/>
        </p:nvSpPr>
        <p:spPr>
          <a:xfrm>
            <a:off x="6464808" y="4032504"/>
            <a:ext cx="4773168" cy="310896"/>
          </a:xfrm>
          <a:prstGeom prst="rect">
            <a:avLst/>
          </a:prstGeom>
          <a:noFill/>
          <a:effectLst/>
        </p:spPr>
        <p:txBody>
          <a:bodyPr wrap="square" lIns="0" rIns="0" tIns="0" bIns="0" anchor="t">
            <a:noAutofit/>
          </a:bodyPr>
          <a:lstStyle/>
          <a:p>
            <a:pPr algn="l">
              <a:lnSpc>
                <a:spcPct val="110000"/>
              </a:lnSpc>
              <a:spcBef>
                <a:spcPts val="0"/>
              </a:spcBef>
              <a:spcAft>
                <a:spcPts val="0"/>
              </a:spcAft>
            </a:pPr>
            <a:r>
              <a:rPr sz="1270" b="0">
                <a:solidFill>
                  <a:srgbClr val="5F6B82"/>
                </a:solidFill>
                <a:latin typeface="Inter"/>
              </a:rPr>
              <a:t>Domain validation and any required approvals.</a:t>
            </a:r>
          </a:p>
        </p:txBody>
      </p:sp>
      <p:sp>
        <p:nvSpPr>
          <p:cNvPr id="33" name="S11 Text 32 - What is safe to promise"/>
          <p:cNvSpPr txBox="1"/>
          <p:nvPr/>
        </p:nvSpPr>
        <p:spPr>
          <a:xfrm>
            <a:off x="6464808" y="4434840"/>
            <a:ext cx="4773168" cy="283464"/>
          </a:xfrm>
          <a:prstGeom prst="rect">
            <a:avLst/>
          </a:prstGeom>
          <a:noFill/>
          <a:effectLst/>
        </p:spPr>
        <p:txBody>
          <a:bodyPr wrap="square" lIns="0" rIns="0" tIns="0" bIns="0" anchor="t">
            <a:noAutofit/>
          </a:bodyPr>
          <a:lstStyle/>
          <a:p>
            <a:pPr algn="l">
              <a:lnSpc>
                <a:spcPct val="110000"/>
              </a:lnSpc>
              <a:spcBef>
                <a:spcPts val="0"/>
              </a:spcBef>
              <a:spcAft>
                <a:spcPts val="0"/>
              </a:spcAft>
            </a:pPr>
            <a:r>
              <a:rPr sz="1650" b="1">
                <a:solidFill>
                  <a:srgbClr val="111827"/>
                </a:solidFill>
                <a:latin typeface="Inter"/>
              </a:rPr>
              <a:t>What is safe to promise</a:t>
            </a:r>
          </a:p>
        </p:txBody>
      </p:sp>
      <p:sp>
        <p:nvSpPr>
          <p:cNvPr id="34" name="S11 Text 33 - Retry, completion, privacy, and consent tests."/>
          <p:cNvSpPr txBox="1"/>
          <p:nvPr/>
        </p:nvSpPr>
        <p:spPr>
          <a:xfrm>
            <a:off x="6464808" y="4809744"/>
            <a:ext cx="4773168" cy="310896"/>
          </a:xfrm>
          <a:prstGeom prst="rect">
            <a:avLst/>
          </a:prstGeom>
          <a:noFill/>
          <a:effectLst/>
        </p:spPr>
        <p:txBody>
          <a:bodyPr wrap="square" lIns="0" rIns="0" tIns="0" bIns="0" anchor="t">
            <a:noAutofit/>
          </a:bodyPr>
          <a:lstStyle/>
          <a:p>
            <a:pPr algn="l">
              <a:lnSpc>
                <a:spcPct val="110000"/>
              </a:lnSpc>
              <a:spcBef>
                <a:spcPts val="0"/>
              </a:spcBef>
              <a:spcAft>
                <a:spcPts val="0"/>
              </a:spcAft>
            </a:pPr>
            <a:r>
              <a:rPr sz="1270" b="0">
                <a:solidFill>
                  <a:srgbClr val="5F6B82"/>
                </a:solidFill>
                <a:latin typeface="Inter"/>
              </a:rPr>
              <a:t>Retry, completion, privacy, and consent tests.</a:t>
            </a:r>
          </a:p>
        </p:txBody>
      </p:sp>
      <p:sp>
        <p:nvSpPr>
          <p:cNvPr id="35" name="Rounded Rectangle 34"/>
          <p:cNvSpPr/>
          <p:nvPr/>
        </p:nvSpPr>
        <p:spPr>
          <a:xfrm>
            <a:off x="621792" y="5715000"/>
            <a:ext cx="10954512" cy="420624"/>
          </a:xfrm>
          <a:prstGeom prst="roundRect">
            <a:avLst>
              <a:gd name="adj" fmla="val 4500"/>
            </a:avLst>
          </a:prstGeom>
          <a:solidFill>
            <a:srgbClr val="EFEC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S11 Text 35 - A prompt or tool hint is guidance—not proof of permissi"/>
          <p:cNvSpPr txBox="1"/>
          <p:nvPr/>
        </p:nvSpPr>
        <p:spPr>
          <a:xfrm>
            <a:off x="850392" y="5824728"/>
            <a:ext cx="10497312" cy="237744"/>
          </a:xfrm>
          <a:prstGeom prst="rect">
            <a:avLst/>
          </a:prstGeom>
          <a:noFill/>
          <a:effectLst/>
        </p:spPr>
        <p:txBody>
          <a:bodyPr wrap="square" lIns="0" rIns="0" tIns="0" bIns="0" anchor="t">
            <a:noAutofit/>
          </a:bodyPr>
          <a:lstStyle/>
          <a:p>
            <a:pPr algn="ctr">
              <a:lnSpc>
                <a:spcPct val="110000"/>
              </a:lnSpc>
              <a:spcBef>
                <a:spcPts val="0"/>
              </a:spcBef>
              <a:spcAft>
                <a:spcPts val="0"/>
              </a:spcAft>
            </a:pPr>
            <a:r>
              <a:rPr sz="1300" b="1">
                <a:solidFill>
                  <a:srgbClr val="6257FA"/>
                </a:solidFill>
                <a:latin typeface="Inter"/>
              </a:rPr>
              <a:t>A prompt or tool hint is guidance—not proof of permission, consent, or exactly-once execution.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C1E"/>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1513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0B203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12 Text 04 - EXECUTIVE TAKEAWAY"/>
          <p:cNvSpPr txBox="1"/>
          <p:nvPr/>
        </p:nvSpPr>
        <p:spPr>
          <a:xfrm>
            <a:off x="603504" y="393192"/>
            <a:ext cx="9966960"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B8C3DC"/>
                </a:solidFill>
                <a:latin typeface="Inter"/>
              </a:rPr>
              <a:t>EXECUTIVE TAKEAWAY</a:t>
            </a:r>
          </a:p>
        </p:txBody>
      </p:sp>
      <p:sp>
        <p:nvSpPr>
          <p:cNvPr id="6" name="S12 Text 05 - Make the business understandable. Make it usable by AI."/>
          <p:cNvSpPr txBox="1"/>
          <p:nvPr/>
        </p:nvSpPr>
        <p:spPr>
          <a:xfrm>
            <a:off x="603504" y="832104"/>
            <a:ext cx="10972800" cy="1042415"/>
          </a:xfrm>
          <a:prstGeom prst="rect">
            <a:avLst/>
          </a:prstGeom>
          <a:noFill/>
          <a:effectLst/>
        </p:spPr>
        <p:txBody>
          <a:bodyPr wrap="square" lIns="0" rIns="0" tIns="0" bIns="0" anchor="t">
            <a:noAutofit/>
          </a:bodyPr>
          <a:lstStyle/>
          <a:p>
            <a:pPr algn="l">
              <a:lnSpc>
                <a:spcPct val="110000"/>
              </a:lnSpc>
              <a:spcBef>
                <a:spcPts val="0"/>
              </a:spcBef>
              <a:spcAft>
                <a:spcPts val="0"/>
              </a:spcAft>
            </a:pPr>
            <a:r>
              <a:rPr sz="3100" b="1">
                <a:solidFill>
                  <a:srgbClr val="FFFFFF"/>
                </a:solidFill>
                <a:latin typeface="Inter"/>
              </a:rPr>
              <a:t>Make the business understandable.</a:t>
            </a:r>
          </a:p>
          <a:p>
            <a:pPr algn="l">
              <a:lnSpc>
                <a:spcPct val="110000"/>
              </a:lnSpc>
              <a:spcBef>
                <a:spcPts val="0"/>
              </a:spcBef>
              <a:spcAft>
                <a:spcPts val="0"/>
              </a:spcAft>
            </a:pPr>
            <a:r>
              <a:rPr sz="3100" b="1">
                <a:solidFill>
                  <a:srgbClr val="FFFFFF"/>
                </a:solidFill>
                <a:latin typeface="Inter"/>
              </a:rPr>
              <a:t>Make it usable by AI.</a:t>
            </a:r>
          </a:p>
        </p:txBody>
      </p:sp>
      <p:cxnSp>
        <p:nvCxnSpPr>
          <p:cNvPr id="7" name="Connector 6"/>
          <p:cNvCxnSpPr/>
          <p:nvPr/>
        </p:nvCxnSpPr>
        <p:spPr>
          <a:xfrm>
            <a:off x="603504" y="6492240"/>
            <a:ext cx="10981944" cy="0"/>
          </a:xfrm>
          <a:prstGeom prst="line">
            <a:avLst/>
          </a:prstGeom>
          <a:ln w="8255">
            <a:solidFill>
              <a:srgbClr val="29334F"/>
            </a:solidFill>
          </a:ln>
          <a:effectLst/>
        </p:spPr>
        <p:style>
          <a:lnRef idx="2">
            <a:schemeClr val="accent1"/>
          </a:lnRef>
          <a:fillRef idx="0">
            <a:schemeClr val="accent1"/>
          </a:fillRef>
          <a:effectRef idx="0">
            <a:schemeClr val="accent1"/>
          </a:effectRef>
          <a:fontRef idx="minor">
            <a:schemeClr val="tx1"/>
          </a:fontRef>
        </p:style>
      </p:cxnSp>
      <p:pic>
        <p:nvPicPr>
          <p:cNvPr id="8" name="Picture 7" descr="image-2-12.png"/>
          <p:cNvPicPr>
            <a:picLocks noChangeAspect="1"/>
          </p:cNvPicPr>
          <p:nvPr/>
        </p:nvPicPr>
        <p:blipFill>
          <a:blip r:embed="rId2"/>
          <a:stretch>
            <a:fillRect/>
          </a:stretch>
        </p:blipFill>
        <p:spPr>
          <a:xfrm>
            <a:off x="621792" y="6583680"/>
            <a:ext cx="164592" cy="190665"/>
          </a:xfrm>
          <a:prstGeom prst="rect">
            <a:avLst/>
          </a:prstGeom>
          <a:effectLst/>
        </p:spPr>
      </p:pic>
      <p:sp>
        <p:nvSpPr>
          <p:cNvPr id="9" name="S12 Text 08 - Kaleido  |  AI-native executive overview"/>
          <p:cNvSpPr txBox="1"/>
          <p:nvPr/>
        </p:nvSpPr>
        <p:spPr>
          <a:xfrm>
            <a:off x="877824" y="6574536"/>
            <a:ext cx="4572000" cy="173736"/>
          </a:xfrm>
          <a:prstGeom prst="rect">
            <a:avLst/>
          </a:prstGeom>
          <a:noFill/>
          <a:effectLst/>
        </p:spPr>
        <p:txBody>
          <a:bodyPr wrap="square" lIns="0" rIns="0" tIns="0" bIns="0" anchor="t">
            <a:noAutofit/>
          </a:bodyPr>
          <a:lstStyle/>
          <a:p>
            <a:pPr algn="l">
              <a:lnSpc>
                <a:spcPct val="110000"/>
              </a:lnSpc>
              <a:spcBef>
                <a:spcPts val="0"/>
              </a:spcBef>
              <a:spcAft>
                <a:spcPts val="0"/>
              </a:spcAft>
            </a:pPr>
            <a:r>
              <a:rPr sz="830" b="0">
                <a:solidFill>
                  <a:srgbClr val="B8C3DC"/>
                </a:solidFill>
                <a:latin typeface="Inter"/>
              </a:rPr>
              <a:t>Kaleido  |  AI-native executive overview</a:t>
            </a:r>
          </a:p>
        </p:txBody>
      </p:sp>
      <p:sp>
        <p:nvSpPr>
          <p:cNvPr id="10" name="S12 Text 09 - PRE-1.0 PROJECT PREVIEW"/>
          <p:cNvSpPr txBox="1"/>
          <p:nvPr/>
        </p:nvSpPr>
        <p:spPr>
          <a:xfrm>
            <a:off x="8723376" y="6574536"/>
            <a:ext cx="249631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00" b="0">
                <a:solidFill>
                  <a:srgbClr val="B8C3DC"/>
                </a:solidFill>
                <a:latin typeface="Inter"/>
              </a:rPr>
              <a:t>PRE-1.0 PROJECT PREVIEW</a:t>
            </a:r>
          </a:p>
        </p:txBody>
      </p:sp>
      <p:sp>
        <p:nvSpPr>
          <p:cNvPr id="11" name="S12 Text 10 - 12"/>
          <p:cNvSpPr txBox="1"/>
          <p:nvPr/>
        </p:nvSpPr>
        <p:spPr>
          <a:xfrm>
            <a:off x="11274552" y="6574536"/>
            <a:ext cx="30175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30" b="0">
                <a:solidFill>
                  <a:srgbClr val="B8C3DC"/>
                </a:solidFill>
                <a:latin typeface="Inter"/>
              </a:rPr>
              <a:t>12</a:t>
            </a:r>
          </a:p>
        </p:txBody>
      </p:sp>
      <p:pic>
        <p:nvPicPr>
          <p:cNvPr id="12" name="Picture 11" descr="image-4-11.png"/>
          <p:cNvPicPr>
            <a:picLocks noChangeAspect="1"/>
          </p:cNvPicPr>
          <p:nvPr/>
        </p:nvPicPr>
        <p:blipFill>
          <a:blip r:embed="rId3"/>
          <a:stretch>
            <a:fillRect/>
          </a:stretch>
        </p:blipFill>
        <p:spPr>
          <a:xfrm>
            <a:off x="9528048" y="2194560"/>
            <a:ext cx="1691640" cy="1691640"/>
          </a:xfrm>
          <a:prstGeom prst="rect">
            <a:avLst/>
          </a:prstGeom>
          <a:effectLst/>
        </p:spPr>
      </p:pic>
      <p:sp>
        <p:nvSpPr>
          <p:cNvPr id="13" name="Rounded Rectangle 12"/>
          <p:cNvSpPr/>
          <p:nvPr/>
        </p:nvSpPr>
        <p:spPr>
          <a:xfrm>
            <a:off x="640080" y="2322576"/>
            <a:ext cx="7991856" cy="1234440"/>
          </a:xfrm>
          <a:prstGeom prst="roundRect">
            <a:avLst>
              <a:gd name="adj" fmla="val 35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640080" y="2322576"/>
            <a:ext cx="59436" cy="1234440"/>
          </a:xfrm>
          <a:prstGeom prst="rect">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S12 Text 14 - Kaleido makes the step concept tangible— and exposes th"/>
          <p:cNvSpPr txBox="1"/>
          <p:nvPr/>
        </p:nvSpPr>
        <p:spPr>
          <a:xfrm>
            <a:off x="914400" y="2569464"/>
            <a:ext cx="7306056" cy="795528"/>
          </a:xfrm>
          <a:prstGeom prst="rect">
            <a:avLst/>
          </a:prstGeom>
          <a:noFill/>
          <a:effectLst/>
        </p:spPr>
        <p:txBody>
          <a:bodyPr wrap="square" lIns="0" rIns="0" tIns="0" bIns="0" anchor="t">
            <a:noAutofit/>
          </a:bodyPr>
          <a:lstStyle/>
          <a:p>
            <a:pPr algn="l">
              <a:lnSpc>
                <a:spcPct val="110000"/>
              </a:lnSpc>
              <a:spcBef>
                <a:spcPts val="0"/>
              </a:spcBef>
              <a:spcAft>
                <a:spcPts val="0"/>
              </a:spcAft>
            </a:pPr>
            <a:r>
              <a:rPr sz="2010" b="1">
                <a:solidFill>
                  <a:srgbClr val="FFFFFF"/>
                </a:solidFill>
                <a:latin typeface="Inter"/>
              </a:rPr>
              <a:t>Kaleido makes the step concept tangible—</a:t>
            </a:r>
          </a:p>
          <a:p>
            <a:pPr algn="l">
              <a:lnSpc>
                <a:spcPct val="110000"/>
              </a:lnSpc>
              <a:spcBef>
                <a:spcPts val="0"/>
              </a:spcBef>
              <a:spcAft>
                <a:spcPts val="0"/>
              </a:spcAft>
            </a:pPr>
            <a:r>
              <a:rPr sz="2010" b="1">
                <a:solidFill>
                  <a:srgbClr val="FFFFFF"/>
                </a:solidFill>
                <a:latin typeface="Inter"/>
              </a:rPr>
              <a:t>and exposes the same business model to AI,</a:t>
            </a:r>
          </a:p>
          <a:p>
            <a:pPr algn="l">
              <a:lnSpc>
                <a:spcPct val="110000"/>
              </a:lnSpc>
              <a:spcBef>
                <a:spcPts val="0"/>
              </a:spcBef>
              <a:spcAft>
                <a:spcPts val="0"/>
              </a:spcAft>
            </a:pPr>
            <a:r>
              <a:rPr sz="2010" b="1">
                <a:solidFill>
                  <a:srgbClr val="FFFFFF"/>
                </a:solidFill>
                <a:latin typeface="Inter"/>
              </a:rPr>
              <a:t>applications, and people.</a:t>
            </a:r>
          </a:p>
        </p:txBody>
      </p:sp>
      <p:sp>
        <p:nvSpPr>
          <p:cNvPr id="16" name="S12 Text 15 - 01"/>
          <p:cNvSpPr txBox="1"/>
          <p:nvPr/>
        </p:nvSpPr>
        <p:spPr>
          <a:xfrm>
            <a:off x="640080" y="4123944"/>
            <a:ext cx="475488" cy="429768"/>
          </a:xfrm>
          <a:prstGeom prst="rect">
            <a:avLst/>
          </a:prstGeom>
          <a:noFill/>
          <a:effectLst/>
        </p:spPr>
        <p:txBody>
          <a:bodyPr wrap="square" lIns="0" rIns="0" tIns="0" bIns="0" anchor="t">
            <a:noAutofit/>
          </a:bodyPr>
          <a:lstStyle/>
          <a:p>
            <a:pPr algn="l">
              <a:lnSpc>
                <a:spcPct val="110000"/>
              </a:lnSpc>
              <a:spcBef>
                <a:spcPts val="0"/>
              </a:spcBef>
              <a:spcAft>
                <a:spcPts val="0"/>
              </a:spcAft>
            </a:pPr>
            <a:r>
              <a:rPr sz="2500" b="1">
                <a:solidFill>
                  <a:srgbClr val="8B5CF6"/>
                </a:solidFill>
                <a:latin typeface="Inter"/>
              </a:rPr>
              <a:t>01</a:t>
            </a:r>
          </a:p>
        </p:txBody>
      </p:sp>
      <p:sp>
        <p:nvSpPr>
          <p:cNvPr id="17" name="S12 Text 16 - Make the idea visible"/>
          <p:cNvSpPr txBox="1"/>
          <p:nvPr/>
        </p:nvSpPr>
        <p:spPr>
          <a:xfrm>
            <a:off x="640080" y="4681728"/>
            <a:ext cx="3383280" cy="320040"/>
          </a:xfrm>
          <a:prstGeom prst="rect">
            <a:avLst/>
          </a:prstGeom>
          <a:noFill/>
          <a:effectLst/>
        </p:spPr>
        <p:txBody>
          <a:bodyPr wrap="square" lIns="0" rIns="0" tIns="0" bIns="0" anchor="t">
            <a:noAutofit/>
          </a:bodyPr>
          <a:lstStyle/>
          <a:p>
            <a:pPr algn="l">
              <a:lnSpc>
                <a:spcPct val="110000"/>
              </a:lnSpc>
              <a:spcBef>
                <a:spcPts val="0"/>
              </a:spcBef>
              <a:spcAft>
                <a:spcPts val="0"/>
              </a:spcAft>
            </a:pPr>
            <a:r>
              <a:rPr sz="1730" b="1">
                <a:solidFill>
                  <a:srgbClr val="FFFFFF"/>
                </a:solidFill>
                <a:latin typeface="Inter"/>
              </a:rPr>
              <a:t>Make the idea visible</a:t>
            </a:r>
          </a:p>
        </p:txBody>
      </p:sp>
      <p:sp>
        <p:nvSpPr>
          <p:cNvPr id="18" name="S12 Text 17 - Reusable steps with explicit inputs, outcomes, and ways"/>
          <p:cNvSpPr txBox="1"/>
          <p:nvPr/>
        </p:nvSpPr>
        <p:spPr>
          <a:xfrm>
            <a:off x="640080" y="5202936"/>
            <a:ext cx="3364992" cy="612648"/>
          </a:xfrm>
          <a:prstGeom prst="rect">
            <a:avLst/>
          </a:prstGeom>
          <a:noFill/>
          <a:effectLst/>
        </p:spPr>
        <p:txBody>
          <a:bodyPr wrap="square" lIns="0" rIns="0" tIns="0" bIns="0" anchor="t">
            <a:noAutofit/>
          </a:bodyPr>
          <a:lstStyle/>
          <a:p>
            <a:pPr algn="l">
              <a:lnSpc>
                <a:spcPct val="110000"/>
              </a:lnSpc>
              <a:spcBef>
                <a:spcPts val="0"/>
              </a:spcBef>
              <a:spcAft>
                <a:spcPts val="0"/>
              </a:spcAft>
            </a:pPr>
            <a:r>
              <a:rPr sz="1330" b="0">
                <a:solidFill>
                  <a:srgbClr val="B8C3DC"/>
                </a:solidFill>
                <a:latin typeface="Inter"/>
              </a:rPr>
              <a:t>Reusable steps with explicit inputs,</a:t>
            </a:r>
          </a:p>
          <a:p>
            <a:pPr algn="l">
              <a:lnSpc>
                <a:spcPct val="110000"/>
              </a:lnSpc>
              <a:spcBef>
                <a:spcPts val="0"/>
              </a:spcBef>
              <a:spcAft>
                <a:spcPts val="0"/>
              </a:spcAft>
            </a:pPr>
            <a:r>
              <a:rPr sz="1330" b="0">
                <a:solidFill>
                  <a:srgbClr val="B8C3DC"/>
                </a:solidFill>
                <a:latin typeface="Inter"/>
              </a:rPr>
              <a:t>outcomes, and ways to continue.</a:t>
            </a:r>
          </a:p>
        </p:txBody>
      </p:sp>
      <p:sp>
        <p:nvSpPr>
          <p:cNvPr id="19" name="S12 Text 18 - 02"/>
          <p:cNvSpPr txBox="1"/>
          <p:nvPr/>
        </p:nvSpPr>
        <p:spPr>
          <a:xfrm>
            <a:off x="4379976" y="4123944"/>
            <a:ext cx="475488" cy="429768"/>
          </a:xfrm>
          <a:prstGeom prst="rect">
            <a:avLst/>
          </a:prstGeom>
          <a:noFill/>
          <a:effectLst/>
        </p:spPr>
        <p:txBody>
          <a:bodyPr wrap="square" lIns="0" rIns="0" tIns="0" bIns="0" anchor="t">
            <a:noAutofit/>
          </a:bodyPr>
          <a:lstStyle/>
          <a:p>
            <a:pPr algn="l">
              <a:lnSpc>
                <a:spcPct val="110000"/>
              </a:lnSpc>
              <a:spcBef>
                <a:spcPts val="0"/>
              </a:spcBef>
              <a:spcAft>
                <a:spcPts val="0"/>
              </a:spcAft>
            </a:pPr>
            <a:r>
              <a:rPr sz="2500" b="1">
                <a:solidFill>
                  <a:srgbClr val="B64FD9"/>
                </a:solidFill>
                <a:latin typeface="Inter"/>
              </a:rPr>
              <a:t>02</a:t>
            </a:r>
          </a:p>
        </p:txBody>
      </p:sp>
      <p:sp>
        <p:nvSpPr>
          <p:cNvPr id="20" name="S12 Text 19 - Make AI a first-class user"/>
          <p:cNvSpPr txBox="1"/>
          <p:nvPr/>
        </p:nvSpPr>
        <p:spPr>
          <a:xfrm>
            <a:off x="4379976" y="4681728"/>
            <a:ext cx="3383280" cy="320040"/>
          </a:xfrm>
          <a:prstGeom prst="rect">
            <a:avLst/>
          </a:prstGeom>
          <a:noFill/>
          <a:effectLst/>
        </p:spPr>
        <p:txBody>
          <a:bodyPr wrap="square" lIns="0" rIns="0" tIns="0" bIns="0" anchor="t">
            <a:noAutofit/>
          </a:bodyPr>
          <a:lstStyle/>
          <a:p>
            <a:pPr algn="l">
              <a:lnSpc>
                <a:spcPct val="110000"/>
              </a:lnSpc>
              <a:spcBef>
                <a:spcPts val="0"/>
              </a:spcBef>
              <a:spcAft>
                <a:spcPts val="0"/>
              </a:spcAft>
            </a:pPr>
            <a:r>
              <a:rPr sz="1730" b="1">
                <a:solidFill>
                  <a:srgbClr val="FFFFFF"/>
                </a:solidFill>
                <a:latin typeface="Inter"/>
              </a:rPr>
              <a:t>Make AI a first-class user</a:t>
            </a:r>
          </a:p>
        </p:txBody>
      </p:sp>
      <p:sp>
        <p:nvSpPr>
          <p:cNvPr id="21" name="S12 Text 20 - An implemented MCP interface over the shared capability"/>
          <p:cNvSpPr txBox="1"/>
          <p:nvPr/>
        </p:nvSpPr>
        <p:spPr>
          <a:xfrm>
            <a:off x="4379976" y="5202936"/>
            <a:ext cx="3364992" cy="612648"/>
          </a:xfrm>
          <a:prstGeom prst="rect">
            <a:avLst/>
          </a:prstGeom>
          <a:noFill/>
          <a:effectLst/>
        </p:spPr>
        <p:txBody>
          <a:bodyPr wrap="square" lIns="0" rIns="0" tIns="0" bIns="0" anchor="t">
            <a:noAutofit/>
          </a:bodyPr>
          <a:lstStyle/>
          <a:p>
            <a:pPr algn="l">
              <a:lnSpc>
                <a:spcPct val="110000"/>
              </a:lnSpc>
              <a:spcBef>
                <a:spcPts val="0"/>
              </a:spcBef>
              <a:spcAft>
                <a:spcPts val="0"/>
              </a:spcAft>
            </a:pPr>
            <a:r>
              <a:rPr sz="1330" b="0">
                <a:solidFill>
                  <a:srgbClr val="B8C3DC"/>
                </a:solidFill>
                <a:latin typeface="Inter"/>
              </a:rPr>
              <a:t>An implemented MCP interface over</a:t>
            </a:r>
          </a:p>
          <a:p>
            <a:pPr algn="l">
              <a:lnSpc>
                <a:spcPct val="110000"/>
              </a:lnSpc>
              <a:spcBef>
                <a:spcPts val="0"/>
              </a:spcBef>
              <a:spcAft>
                <a:spcPts val="0"/>
              </a:spcAft>
            </a:pPr>
            <a:r>
              <a:rPr sz="1330" b="0">
                <a:solidFill>
                  <a:srgbClr val="B8C3DC"/>
                </a:solidFill>
                <a:latin typeface="Inter"/>
              </a:rPr>
              <a:t>the shared capability contract.</a:t>
            </a:r>
          </a:p>
        </p:txBody>
      </p:sp>
      <p:sp>
        <p:nvSpPr>
          <p:cNvPr id="22" name="S12 Text 21 - 03"/>
          <p:cNvSpPr txBox="1"/>
          <p:nvPr/>
        </p:nvSpPr>
        <p:spPr>
          <a:xfrm>
            <a:off x="8119872" y="4123944"/>
            <a:ext cx="475488" cy="429768"/>
          </a:xfrm>
          <a:prstGeom prst="rect">
            <a:avLst/>
          </a:prstGeom>
          <a:noFill/>
          <a:effectLst/>
        </p:spPr>
        <p:txBody>
          <a:bodyPr wrap="square" lIns="0" rIns="0" tIns="0" bIns="0" anchor="t">
            <a:noAutofit/>
          </a:bodyPr>
          <a:lstStyle/>
          <a:p>
            <a:pPr algn="l">
              <a:lnSpc>
                <a:spcPct val="110000"/>
              </a:lnSpc>
              <a:spcBef>
                <a:spcPts val="0"/>
              </a:spcBef>
              <a:spcAft>
                <a:spcPts val="0"/>
              </a:spcAft>
            </a:pPr>
            <a:r>
              <a:rPr sz="2500" b="1">
                <a:solidFill>
                  <a:srgbClr val="19C4A7"/>
                </a:solidFill>
                <a:latin typeface="Inter"/>
              </a:rPr>
              <a:t>03</a:t>
            </a:r>
          </a:p>
        </p:txBody>
      </p:sp>
      <p:sp>
        <p:nvSpPr>
          <p:cNvPr id="23" name="S12 Text 22 - Keep the business in charge"/>
          <p:cNvSpPr txBox="1"/>
          <p:nvPr/>
        </p:nvSpPr>
        <p:spPr>
          <a:xfrm>
            <a:off x="8119872" y="4681728"/>
            <a:ext cx="3383280" cy="320040"/>
          </a:xfrm>
          <a:prstGeom prst="rect">
            <a:avLst/>
          </a:prstGeom>
          <a:noFill/>
          <a:effectLst/>
        </p:spPr>
        <p:txBody>
          <a:bodyPr wrap="square" lIns="0" rIns="0" tIns="0" bIns="0" anchor="t">
            <a:noAutofit/>
          </a:bodyPr>
          <a:lstStyle/>
          <a:p>
            <a:pPr algn="l">
              <a:lnSpc>
                <a:spcPct val="110000"/>
              </a:lnSpc>
              <a:spcBef>
                <a:spcPts val="0"/>
              </a:spcBef>
              <a:spcAft>
                <a:spcPts val="0"/>
              </a:spcAft>
            </a:pPr>
            <a:r>
              <a:rPr sz="1730" b="1">
                <a:solidFill>
                  <a:srgbClr val="FFFFFF"/>
                </a:solidFill>
                <a:latin typeface="Inter"/>
              </a:rPr>
              <a:t>Keep the business in charge</a:t>
            </a:r>
          </a:p>
        </p:txBody>
      </p:sp>
      <p:sp>
        <p:nvSpPr>
          <p:cNvPr id="24" name="S12 Text 23 - Domain logic and authority stay with the business and i"/>
          <p:cNvSpPr txBox="1"/>
          <p:nvPr/>
        </p:nvSpPr>
        <p:spPr>
          <a:xfrm>
            <a:off x="8119872" y="5202936"/>
            <a:ext cx="3364992" cy="612648"/>
          </a:xfrm>
          <a:prstGeom prst="rect">
            <a:avLst/>
          </a:prstGeom>
          <a:noFill/>
          <a:effectLst/>
        </p:spPr>
        <p:txBody>
          <a:bodyPr wrap="square" lIns="0" rIns="0" tIns="0" bIns="0" anchor="t">
            <a:noAutofit/>
          </a:bodyPr>
          <a:lstStyle/>
          <a:p>
            <a:pPr algn="l">
              <a:lnSpc>
                <a:spcPct val="110000"/>
              </a:lnSpc>
              <a:spcBef>
                <a:spcPts val="0"/>
              </a:spcBef>
              <a:spcAft>
                <a:spcPts val="0"/>
              </a:spcAft>
            </a:pPr>
            <a:r>
              <a:rPr sz="1330" b="0">
                <a:solidFill>
                  <a:srgbClr val="B8C3DC"/>
                </a:solidFill>
                <a:latin typeface="Inter"/>
              </a:rPr>
              <a:t>Domain logic and authority stay</a:t>
            </a:r>
          </a:p>
          <a:p>
            <a:pPr algn="l">
              <a:lnSpc>
                <a:spcPct val="110000"/>
              </a:lnSpc>
              <a:spcBef>
                <a:spcPts val="0"/>
              </a:spcBef>
              <a:spcAft>
                <a:spcPts val="0"/>
              </a:spcAft>
            </a:pPr>
            <a:r>
              <a:rPr sz="1330" b="0">
                <a:solidFill>
                  <a:srgbClr val="B8C3DC"/>
                </a:solidFill>
                <a:latin typeface="Inter"/>
              </a:rPr>
              <a:t>with the business and its host.</a:t>
            </a:r>
          </a:p>
        </p:txBody>
      </p:sp>
      <p:sp>
        <p:nvSpPr>
          <p:cNvPr id="25" name="S12 Text 24 - Define once. Discover. Act. Continue."/>
          <p:cNvSpPr txBox="1"/>
          <p:nvPr/>
        </p:nvSpPr>
        <p:spPr>
          <a:xfrm>
            <a:off x="676656" y="6053328"/>
            <a:ext cx="10698480" cy="320040"/>
          </a:xfrm>
          <a:prstGeom prst="rect">
            <a:avLst/>
          </a:prstGeom>
          <a:noFill/>
          <a:effectLst/>
        </p:spPr>
        <p:txBody>
          <a:bodyPr wrap="square" lIns="0" rIns="0" tIns="0" bIns="0" anchor="t">
            <a:noAutofit/>
          </a:bodyPr>
          <a:lstStyle/>
          <a:p>
            <a:pPr algn="l">
              <a:lnSpc>
                <a:spcPct val="110000"/>
              </a:lnSpc>
              <a:spcBef>
                <a:spcPts val="0"/>
              </a:spcBef>
              <a:spcAft>
                <a:spcPts val="0"/>
              </a:spcAft>
            </a:pPr>
            <a:r>
              <a:rPr sz="2080" b="1">
                <a:solidFill>
                  <a:srgbClr val="FFFFFF"/>
                </a:solidFill>
                <a:latin typeface="Inter"/>
              </a:rPr>
              <a:t>Define once. Discover. Act. Continue.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Kaleido - Executive Overview: AI-Native Business Capabilities</dc:title>
  <dc:subject>Why Kaleido began, the step concept, and AI-native use through MCP</dc:subject>
  <dc:creator>Andrew Ross</dc:creator>
  <cp:keywords>Kaleido, AI, MCP, steps, Queryable, Process, Registry, executive overview, preview</cp:keywords>
  <dc:description>Updated from Kaleido_Executive_Overview_v2(1).pptx. Source notes accompany every slide. Preview positioning is not a release certification.</dc:description>
  <cp:lastModifiedBy>Steve Canny</cp:lastModifiedBy>
  <cp:revision>1</cp:revision>
  <dcterms:created xsi:type="dcterms:W3CDTF">2013-01-27T09:14:16Z</dcterms:created>
  <dcterms:modified xsi:type="dcterms:W3CDTF">2013-01-27T09:15:58Z</dcterms:modified>
  <cp:category/>
</cp:coreProperties>
</file>